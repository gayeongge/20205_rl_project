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2000"/>
  <p:notesSz cx="6858000" cy="12192000"/>
  <p:embeddedFontLst>
    <p:embeddedFont>
      <p:font typeface="Noto Sans KR"/>
      <p:regular r:id="rId55"/>
      <p:bold r:id="rId56"/>
    </p:embeddedFont>
    <p:embeddedFont>
      <p:font typeface="Fira Code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3346D1-35D2-41AD-ADBB-92703AF26ED0}">
  <a:tblStyle styleId="{2F3346D1-35D2-41AD-ADBB-92703AF26E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NotoSansKR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FiraCode-regular.fntdata"/><Relationship Id="rId12" Type="http://schemas.openxmlformats.org/officeDocument/2006/relationships/slide" Target="slides/slide7.xml"/><Relationship Id="rId56" Type="http://schemas.openxmlformats.org/officeDocument/2006/relationships/font" Target="fonts/NotoSansKR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FiraCode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5c3025e7a_0_4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a5c3025e7a_0_4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5c3025e7a_0_4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5c3025e7a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a5c3025e7a_0_2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a5c3025e7a_0_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5c3025e7a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a5c3025e7a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a5c3025e7a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5c3025e7a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a5c3025e7a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a5c3025e7a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5c3025e7a_0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a5c3025e7a_0_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a5c3025e7a_0_2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5c3025e7a_0_5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a5c3025e7a_0_5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a5c3025e7a_0_5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5c3025e7a_0_7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a5c3025e7a_0_7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a5c3025e7a_0_7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5c3025e7a_0_3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a5c3025e7a_0_3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a5c3025e7a_0_3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5c3025e7a_0_7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a5c3025e7a_0_7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a5c3025e7a_0_7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a5c3025e7a_0_7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g3a5c3025e7a_0_7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a5c3025e7a_0_7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5c3025e7a_0_7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a5c3025e7a_0_7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3a5c3025e7a_0_7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a5c3025e7a_0_8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a5c3025e7a_0_8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a5c3025e7a_0_8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5c3025e7a_0_3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a5c3025e7a_0_3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a5c3025e7a_0_3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a5c3025e7a_0_8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g3a5c3025e7a_0_8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a5c3025e7a_0_8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a5c3025e7a_0_9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g3a5c3025e7a_0_9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a5c3025e7a_0_9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a5c3025e7a_0_4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7" name="Google Shape;757;g3a5c3025e7a_0_4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a5c3025e7a_0_4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ae34ca0ef8_0_2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ae34ca0ef8_0_2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g3ae34ca0ef8_0_2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ae34ca0ef8_0_3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ae34ca0ef8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g3ae34ca0ef8_0_3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ae34ca0ef8_0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3ae34ca0ef8_0_3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g3ae34ca0ef8_0_3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1" name="Google Shape;101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ae34ca0ef8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ae34ca0ef8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g3ae34ca0ef8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ae34ca0ef8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3ae34ca0ef8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g3ae34ca0ef8_0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ae34ca0ef8_0_2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3ae34ca0ef8_0_2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g3ae34ca0ef8_0_2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ae34ca0ef8_0_2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3ae34ca0ef8_0_2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g3ae34ca0ef8_0_2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ae34ca0ef8_0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ae34ca0ef8_0_2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g3ae34ca0ef8_0_2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9" name="Google Shape;114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8" name="Google Shape;118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ae34ca0ef8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g3ae34ca0ef8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g3ae34ca0ef8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0" name="Google Shape;126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7" name="Google Shape;129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5" name="Google Shape;133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3a5c3025e7a_0_10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3" name="Google Shape;1373;g3a5c3025e7a_0_10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g3a5c3025e7a_0_10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3ae34ca0ef8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9" name="Google Shape;1419;g3ae34ca0ef8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g3ae34ca0ef8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3" name="Google Shape;144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3" name="Google Shape;152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6" name="Google Shape;156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4" name="Google Shape;160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1" Type="http://schemas.openxmlformats.org/officeDocument/2006/relationships/image" Target="../media/image39.png"/><Relationship Id="rId10" Type="http://schemas.openxmlformats.org/officeDocument/2006/relationships/image" Target="../media/image4.png"/><Relationship Id="rId9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8.png"/><Relationship Id="rId4" Type="http://schemas.openxmlformats.org/officeDocument/2006/relationships/image" Target="../media/image15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5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Relationship Id="rId7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Relationship Id="rId5" Type="http://schemas.openxmlformats.org/officeDocument/2006/relationships/image" Target="../media/image37.png"/><Relationship Id="rId6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Relationship Id="rId10" Type="http://schemas.openxmlformats.org/officeDocument/2006/relationships/image" Target="../media/image92.png"/><Relationship Id="rId9" Type="http://schemas.openxmlformats.org/officeDocument/2006/relationships/image" Target="../media/image43.png"/><Relationship Id="rId5" Type="http://schemas.openxmlformats.org/officeDocument/2006/relationships/image" Target="../media/image40.png"/><Relationship Id="rId6" Type="http://schemas.openxmlformats.org/officeDocument/2006/relationships/image" Target="../media/image48.png"/><Relationship Id="rId7" Type="http://schemas.openxmlformats.org/officeDocument/2006/relationships/image" Target="../media/image38.png"/><Relationship Id="rId8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Relationship Id="rId4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Relationship Id="rId6" Type="http://schemas.openxmlformats.org/officeDocument/2006/relationships/image" Target="../media/image60.png"/><Relationship Id="rId7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7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65.png"/><Relationship Id="rId5" Type="http://schemas.openxmlformats.org/officeDocument/2006/relationships/image" Target="../media/image26.png"/><Relationship Id="rId6" Type="http://schemas.openxmlformats.org/officeDocument/2006/relationships/image" Target="../media/image71.png"/><Relationship Id="rId7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1.png"/><Relationship Id="rId4" Type="http://schemas.openxmlformats.org/officeDocument/2006/relationships/image" Target="../media/image83.png"/><Relationship Id="rId5" Type="http://schemas.openxmlformats.org/officeDocument/2006/relationships/image" Target="../media/image8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6.png"/><Relationship Id="rId4" Type="http://schemas.openxmlformats.org/officeDocument/2006/relationships/image" Target="../media/image80.png"/><Relationship Id="rId5" Type="http://schemas.openxmlformats.org/officeDocument/2006/relationships/image" Target="../media/image84.png"/><Relationship Id="rId6" Type="http://schemas.openxmlformats.org/officeDocument/2006/relationships/image" Target="../media/image7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5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5.png"/><Relationship Id="rId4" Type="http://schemas.openxmlformats.org/officeDocument/2006/relationships/image" Target="../media/image8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7.png"/><Relationship Id="rId4" Type="http://schemas.openxmlformats.org/officeDocument/2006/relationships/image" Target="../media/image91.png"/><Relationship Id="rId5" Type="http://schemas.openxmlformats.org/officeDocument/2006/relationships/image" Target="../media/image99.png"/><Relationship Id="rId6" Type="http://schemas.openxmlformats.org/officeDocument/2006/relationships/image" Target="../media/image9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4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98.png"/><Relationship Id="rId7" Type="http://schemas.openxmlformats.org/officeDocument/2006/relationships/image" Target="../media/image8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3.png"/><Relationship Id="rId4" Type="http://schemas.openxmlformats.org/officeDocument/2006/relationships/image" Target="../media/image96.png"/><Relationship Id="rId5" Type="http://schemas.openxmlformats.org/officeDocument/2006/relationships/image" Target="../media/image103.png"/><Relationship Id="rId6" Type="http://schemas.openxmlformats.org/officeDocument/2006/relationships/image" Target="../media/image9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2.png"/><Relationship Id="rId4" Type="http://schemas.openxmlformats.org/officeDocument/2006/relationships/image" Target="../media/image93.png"/><Relationship Id="rId5" Type="http://schemas.openxmlformats.org/officeDocument/2006/relationships/image" Target="../media/image96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7.png"/><Relationship Id="rId4" Type="http://schemas.openxmlformats.org/officeDocument/2006/relationships/image" Target="../media/image110.png"/><Relationship Id="rId5" Type="http://schemas.openxmlformats.org/officeDocument/2006/relationships/image" Target="../media/image106.png"/><Relationship Id="rId6" Type="http://schemas.openxmlformats.org/officeDocument/2006/relationships/image" Target="../media/image10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09.png"/><Relationship Id="rId6" Type="http://schemas.openxmlformats.org/officeDocument/2006/relationships/image" Target="../media/image11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09.png"/><Relationship Id="rId6" Type="http://schemas.openxmlformats.org/officeDocument/2006/relationships/image" Target="../media/image111.png"/><Relationship Id="rId7" Type="http://schemas.openxmlformats.org/officeDocument/2006/relationships/image" Target="../media/image11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3.png"/><Relationship Id="rId4" Type="http://schemas.openxmlformats.org/officeDocument/2006/relationships/image" Target="../media/image96.png"/><Relationship Id="rId5" Type="http://schemas.openxmlformats.org/officeDocument/2006/relationships/image" Target="../media/image13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7.png"/><Relationship Id="rId4" Type="http://schemas.openxmlformats.org/officeDocument/2006/relationships/image" Target="../media/image115.png"/><Relationship Id="rId10" Type="http://schemas.openxmlformats.org/officeDocument/2006/relationships/image" Target="../media/image134.png"/><Relationship Id="rId9" Type="http://schemas.openxmlformats.org/officeDocument/2006/relationships/image" Target="../media/image123.png"/><Relationship Id="rId5" Type="http://schemas.openxmlformats.org/officeDocument/2006/relationships/image" Target="../media/image116.png"/><Relationship Id="rId6" Type="http://schemas.openxmlformats.org/officeDocument/2006/relationships/image" Target="../media/image121.png"/><Relationship Id="rId7" Type="http://schemas.openxmlformats.org/officeDocument/2006/relationships/image" Target="../media/image118.png"/><Relationship Id="rId8" Type="http://schemas.openxmlformats.org/officeDocument/2006/relationships/image" Target="../media/image12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4.png"/><Relationship Id="rId4" Type="http://schemas.openxmlformats.org/officeDocument/2006/relationships/image" Target="../media/image122.png"/><Relationship Id="rId5" Type="http://schemas.openxmlformats.org/officeDocument/2006/relationships/image" Target="../media/image119.png"/><Relationship Id="rId6" Type="http://schemas.openxmlformats.org/officeDocument/2006/relationships/image" Target="../media/image128.png"/><Relationship Id="rId7" Type="http://schemas.openxmlformats.org/officeDocument/2006/relationships/image" Target="../media/image126.png"/><Relationship Id="rId8" Type="http://schemas.openxmlformats.org/officeDocument/2006/relationships/image" Target="../media/image13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7.png"/><Relationship Id="rId4" Type="http://schemas.openxmlformats.org/officeDocument/2006/relationships/image" Target="../media/image130.png"/><Relationship Id="rId5" Type="http://schemas.openxmlformats.org/officeDocument/2006/relationships/image" Target="../media/image125.png"/><Relationship Id="rId6" Type="http://schemas.openxmlformats.org/officeDocument/2006/relationships/image" Target="../media/image131.png"/><Relationship Id="rId7" Type="http://schemas.openxmlformats.org/officeDocument/2006/relationships/image" Target="../media/image13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5.png"/><Relationship Id="rId4" Type="http://schemas.openxmlformats.org/officeDocument/2006/relationships/image" Target="../media/image129.pn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-476402" y="-476402"/>
            <a:ext cx="2857500" cy="2857500"/>
          </a:xfrm>
          <a:prstGeom prst="ellipse">
            <a:avLst/>
          </a:prstGeom>
          <a:noFill/>
          <a:ln cap="flat" cmpd="sng" w="25400">
            <a:solidFill>
              <a:srgbClr val="C9D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096305" y="4953305"/>
            <a:ext cx="1429207" cy="1429207"/>
          </a:xfrm>
          <a:prstGeom prst="ellipse">
            <a:avLst/>
          </a:prstGeom>
          <a:noFill/>
          <a:ln cap="flat" cmpd="sng" w="25400">
            <a:solidFill>
              <a:srgbClr val="E27D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144000" y="4114800"/>
            <a:ext cx="3047695" cy="2743200"/>
          </a:xfrm>
          <a:prstGeom prst="rect">
            <a:avLst/>
          </a:prstGeom>
          <a:solidFill>
            <a:srgbClr val="E8EEF5">
              <a:alpha val="6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627218" y="0"/>
            <a:ext cx="9509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61695" y="2606954"/>
            <a:ext cx="38405" cy="8001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61695" y="3864254"/>
            <a:ext cx="5715000" cy="1476756"/>
          </a:xfrm>
          <a:prstGeom prst="roundRect">
            <a:avLst>
              <a:gd fmla="val 4794" name="adj"/>
            </a:avLst>
          </a:prstGeom>
          <a:solidFill>
            <a:srgbClr val="FFFFFF">
              <a:alpha val="89803"/>
            </a:srgbClr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3"/>
          <p:cNvPicPr preferRelativeResize="0"/>
          <p:nvPr/>
        </p:nvPicPr>
        <p:blipFill rotWithShape="1">
          <a:blip r:embed="rId3">
            <a:alphaModFix/>
          </a:blip>
          <a:srcRect b="-455" l="0" r="0" t="-455"/>
          <a:stretch/>
        </p:blipFill>
        <p:spPr>
          <a:xfrm>
            <a:off x="990295" y="5759806"/>
            <a:ext cx="21945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761695" y="755294"/>
            <a:ext cx="21771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CONNECTX RL PROJECT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761695" y="1031443"/>
            <a:ext cx="7334402" cy="142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4200"/>
              <a:buFont typeface="Noto Sans KR"/>
              <a:buNone/>
            </a:pPr>
            <a:r>
              <a:rPr b="1" i="0" lang="en-US" sz="42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ConnectX 완전정보 게임 AI 전략 비교 분석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990295" y="2616098"/>
            <a:ext cx="4277563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2100"/>
              <a:buFont typeface="Noto Sans KR"/>
              <a:buNone/>
            </a:pPr>
            <a:r>
              <a:rPr b="0" i="0" lang="en-US" sz="21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기반 vs 딥러닝 기반 알고리즘의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990295" y="3016606"/>
            <a:ext cx="3838651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2100"/>
              <a:buFont typeface="Noto Sans KR"/>
              <a:buNone/>
            </a:pPr>
            <a:r>
              <a:rPr b="0" i="0" lang="en-US" sz="21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평가 및 최적 전략 도출 연구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3"/>
          <p:cNvPicPr preferRelativeResize="0"/>
          <p:nvPr/>
        </p:nvPicPr>
        <p:blipFill rotWithShape="1">
          <a:blip r:embed="rId4">
            <a:alphaModFix/>
          </a:blip>
          <a:srcRect b="0" l="-1064" r="-1064" t="0"/>
          <a:stretch/>
        </p:blipFill>
        <p:spPr>
          <a:xfrm>
            <a:off x="1076249" y="4152290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/>
        </p:nvSpPr>
        <p:spPr>
          <a:xfrm>
            <a:off x="1371600" y="4101998"/>
            <a:ext cx="452628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팀명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2029054" y="4101998"/>
            <a:ext cx="135788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Connect 4 (4조)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3"/>
          <p:cNvPicPr preferRelativeResize="0"/>
          <p:nvPr/>
        </p:nvPicPr>
        <p:blipFill rotWithShape="1">
          <a:blip r:embed="rId5">
            <a:alphaModFix/>
          </a:blip>
          <a:srcRect b="0" l="-760" r="-759" t="0"/>
          <a:stretch/>
        </p:blipFill>
        <p:spPr>
          <a:xfrm>
            <a:off x="1076249" y="4523537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 txBox="1"/>
          <p:nvPr/>
        </p:nvSpPr>
        <p:spPr>
          <a:xfrm>
            <a:off x="1304849" y="4474159"/>
            <a:ext cx="452628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팀원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2029054" y="4474159"/>
            <a:ext cx="2434133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A72066 이가영, A72076 이현지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3"/>
          <p:cNvPicPr preferRelativeResize="0"/>
          <p:nvPr/>
        </p:nvPicPr>
        <p:blipFill rotWithShape="1">
          <a:blip r:embed="rId6">
            <a:alphaModFix/>
          </a:blip>
          <a:srcRect b="0" l="-760" r="-759" t="0"/>
          <a:stretch/>
        </p:blipFill>
        <p:spPr>
          <a:xfrm>
            <a:off x="1076249" y="4895698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"/>
          <p:cNvSpPr txBox="1"/>
          <p:nvPr/>
        </p:nvSpPr>
        <p:spPr>
          <a:xfrm>
            <a:off x="1304849" y="4845406"/>
            <a:ext cx="452628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기간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2029054" y="4845406"/>
            <a:ext cx="767182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2025-02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761695" y="5645506"/>
            <a:ext cx="3829507" cy="457200"/>
          </a:xfrm>
          <a:prstGeom prst="roundRect">
            <a:avLst>
              <a:gd fmla="val 33333" name="adj"/>
            </a:avLst>
          </a:prstGeom>
          <a:solidFill>
            <a:srgbClr val="24292E"/>
          </a:solidFill>
          <a:ln>
            <a:noFill/>
          </a:ln>
          <a:effectLst>
            <a:outerShdw blurRad="114300" rotWithShape="0" algn="bl" dir="5400000" dist="38100">
              <a:srgbClr val="24292E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 txBox="1"/>
          <p:nvPr/>
        </p:nvSpPr>
        <p:spPr>
          <a:xfrm>
            <a:off x="1304849" y="5759806"/>
            <a:ext cx="31720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github.com/gayeongge/2025_RL_Project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E8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952805" y="1738274"/>
            <a:ext cx="571500" cy="57607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952805" y="2033626"/>
            <a:ext cx="213421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Table of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952805" y="2719426"/>
            <a:ext cx="236281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Contents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952805" y="3633826"/>
            <a:ext cx="21534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500"/>
              <a:buFont typeface="Noto Sans KR"/>
              <a:buNone/>
            </a:pPr>
            <a:r>
              <a:rPr b="0" i="0" lang="en-US" sz="15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ConnectX 완전정보 게임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952805" y="3938321"/>
            <a:ext cx="24579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500"/>
              <a:buFont typeface="Noto Sans KR"/>
              <a:buNone/>
            </a:pPr>
            <a:r>
              <a:rPr b="0" i="0" lang="en-US" sz="15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AI 전략 비교 분석 프로젝트의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952805" y="4243730"/>
            <a:ext cx="18864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500"/>
              <a:buFont typeface="Noto Sans KR"/>
              <a:buNone/>
            </a:pPr>
            <a:r>
              <a:rPr b="0" i="0" lang="en-US" sz="15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발표 순서입니다.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805" y="4955134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 txBox="1"/>
          <p:nvPr/>
        </p:nvSpPr>
        <p:spPr>
          <a:xfrm>
            <a:off x="1162202" y="4919472"/>
            <a:ext cx="12627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A0AEC0"/>
                </a:solidFill>
                <a:latin typeface="Noto Sans KR"/>
                <a:ea typeface="Noto Sans KR"/>
                <a:cs typeface="Noto Sans KR"/>
                <a:sym typeface="Noto Sans KR"/>
              </a:rPr>
              <a:t>예상 발표 시간: 15분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191049" y="1209751"/>
            <a:ext cx="6238951" cy="705002"/>
          </a:xfrm>
          <a:prstGeom prst="roundRect">
            <a:avLst>
              <a:gd fmla="val 2804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rotWithShape="0" algn="bl" dir="5400000" dist="381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 txBox="1"/>
          <p:nvPr/>
        </p:nvSpPr>
        <p:spPr>
          <a:xfrm>
            <a:off x="5505602" y="1447495"/>
            <a:ext cx="3639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01 프로젝트 개요 연구 주제, ConnectX 규칙, 환경 특성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191049" y="2143354"/>
            <a:ext cx="6238951" cy="705002"/>
          </a:xfrm>
          <a:prstGeom prst="roundRect">
            <a:avLst>
              <a:gd fmla="val 2804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rotWithShape="0" algn="bl" dir="5400000" dist="381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 txBox="1"/>
          <p:nvPr/>
        </p:nvSpPr>
        <p:spPr>
          <a:xfrm>
            <a:off x="5505602" y="2381098"/>
            <a:ext cx="39529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02 탐색 알고리즘 One/N-Step, MCTS, MTD(f) 구조 및 특징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191049" y="3076956"/>
            <a:ext cx="6238951" cy="705002"/>
          </a:xfrm>
          <a:prstGeom prst="roundRect">
            <a:avLst>
              <a:gd fmla="val 2804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rotWithShape="0" algn="bl" dir="5400000" dist="381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5505602" y="3314700"/>
            <a:ext cx="38770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03 학습 알고리즘 DQN, Double DQN, Dueling DQN 설계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191049" y="4009644"/>
            <a:ext cx="6238951" cy="705002"/>
          </a:xfrm>
          <a:prstGeom prst="roundRect">
            <a:avLst>
              <a:gd fmla="val 2804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rotWithShape="0" algn="bl" dir="5400000" dist="381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 txBox="1"/>
          <p:nvPr/>
        </p:nvSpPr>
        <p:spPr>
          <a:xfrm>
            <a:off x="5505602" y="4248302"/>
            <a:ext cx="4295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04 실험 설계 및 결과 승률, 강제수 대응, 게임 길이, 탐색 비용 분석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191049" y="4943246"/>
            <a:ext cx="6238951" cy="705002"/>
          </a:xfrm>
          <a:prstGeom prst="roundRect">
            <a:avLst>
              <a:gd fmla="val 2804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rotWithShape="0" algn="bl" dir="5400000" dist="381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 txBox="1"/>
          <p:nvPr/>
        </p:nvSpPr>
        <p:spPr>
          <a:xfrm>
            <a:off x="5505602" y="5181905"/>
            <a:ext cx="3514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05 결론 및 고찰 핵심 발견사항 요약 및 향후 연구 계획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/>
          <p:nvPr/>
        </p:nvSpPr>
        <p:spPr>
          <a:xfrm>
            <a:off x="7086600" y="-818388"/>
            <a:ext cx="5715000" cy="57150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-609905" y="4517651"/>
            <a:ext cx="3810300" cy="3810300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761695" y="1638605"/>
            <a:ext cx="10668305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61695" y="1729105"/>
            <a:ext cx="4753200" cy="1514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761695" y="1729105"/>
            <a:ext cx="38400" cy="15141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3">
            <a:alphaModFix/>
          </a:blip>
          <a:srcRect b="0" l="-18681" r="-18681" t="0"/>
          <a:stretch/>
        </p:blipFill>
        <p:spPr>
          <a:xfrm>
            <a:off x="1028700" y="1967763"/>
            <a:ext cx="228600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/>
        </p:nvSpPr>
        <p:spPr>
          <a:xfrm>
            <a:off x="1257300" y="1920214"/>
            <a:ext cx="905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연구 주제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61700" y="3334549"/>
            <a:ext cx="4753200" cy="168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761695" y="3334546"/>
            <a:ext cx="38400" cy="198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4">
            <a:alphaModFix/>
          </a:blip>
          <a:srcRect b="0" l="-10096" r="-10096" t="0"/>
          <a:stretch/>
        </p:blipFill>
        <p:spPr>
          <a:xfrm>
            <a:off x="1028700" y="3572290"/>
            <a:ext cx="228600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 txBox="1"/>
          <p:nvPr/>
        </p:nvSpPr>
        <p:spPr>
          <a:xfrm>
            <a:off x="1257300" y="3524742"/>
            <a:ext cx="905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연구 목표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61695" y="5155194"/>
            <a:ext cx="4753200" cy="1514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761695" y="5174512"/>
            <a:ext cx="38400" cy="1514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5">
            <a:alphaModFix/>
          </a:blip>
          <a:srcRect b="-1999" l="0" r="0" t="-2000"/>
          <a:stretch/>
        </p:blipFill>
        <p:spPr>
          <a:xfrm>
            <a:off x="1028700" y="5431574"/>
            <a:ext cx="228600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/>
          <p:nvPr/>
        </p:nvSpPr>
        <p:spPr>
          <a:xfrm>
            <a:off x="1257300" y="5384025"/>
            <a:ext cx="905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환경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59600" y="1729700"/>
            <a:ext cx="4970400" cy="4959000"/>
          </a:xfrm>
          <a:prstGeom prst="roundRect">
            <a:avLst>
              <a:gd fmla="val 488" name="adj"/>
            </a:avLst>
          </a:prstGeom>
          <a:solidFill>
            <a:srgbClr val="FFFFFF"/>
          </a:solidFill>
          <a:ln cap="flat" cmpd="sng" w="11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71679" rotWithShape="0" algn="bl" dir="5400000" dist="94497">
              <a:srgbClr val="000000">
                <a:alpha val="3921"/>
              </a:srgbClr>
            </a:outerShdw>
          </a:effectLst>
        </p:spPr>
        <p:txBody>
          <a:bodyPr anchorCtr="0" anchor="ctr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734304" y="2493426"/>
            <a:ext cx="4420800" cy="1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734304" y="3309030"/>
            <a:ext cx="4420800" cy="8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6734304" y="2688184"/>
            <a:ext cx="283200" cy="283200"/>
          </a:xfrm>
          <a:prstGeom prst="roundRect">
            <a:avLst>
              <a:gd fmla="val 75075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6">
            <a:alphaModFix/>
          </a:blip>
          <a:srcRect b="-1100" l="0" r="0" t="-1100"/>
          <a:stretch/>
        </p:blipFill>
        <p:spPr>
          <a:xfrm>
            <a:off x="6822753" y="2768129"/>
            <a:ext cx="106309" cy="12416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6734304" y="4270067"/>
            <a:ext cx="4420800" cy="8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734304" y="3454462"/>
            <a:ext cx="283200" cy="283200"/>
          </a:xfrm>
          <a:prstGeom prst="roundRect">
            <a:avLst>
              <a:gd fmla="val 75075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5"/>
          <p:cNvPicPr preferRelativeResize="0"/>
          <p:nvPr/>
        </p:nvPicPr>
        <p:blipFill rotWithShape="1">
          <a:blip r:embed="rId7">
            <a:alphaModFix/>
          </a:blip>
          <a:srcRect b="0" l="-837" r="-837" t="0"/>
          <a:stretch/>
        </p:blipFill>
        <p:spPr>
          <a:xfrm>
            <a:off x="6805743" y="3534406"/>
            <a:ext cx="142029" cy="12416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6734304" y="5235355"/>
            <a:ext cx="4420800" cy="8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6734304" y="4419751"/>
            <a:ext cx="283200" cy="283200"/>
          </a:xfrm>
          <a:prstGeom prst="roundRect">
            <a:avLst>
              <a:gd fmla="val 75075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5"/>
          <p:cNvPicPr preferRelativeResize="0"/>
          <p:nvPr/>
        </p:nvPicPr>
        <p:blipFill rotWithShape="1">
          <a:blip r:embed="rId8">
            <a:alphaModFix/>
          </a:blip>
          <a:srcRect b="0" l="-2512" r="-2512" t="0"/>
          <a:stretch/>
        </p:blipFill>
        <p:spPr>
          <a:xfrm>
            <a:off x="6827856" y="4499695"/>
            <a:ext cx="97805" cy="12416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/>
          <p:nvPr/>
        </p:nvSpPr>
        <p:spPr>
          <a:xfrm>
            <a:off x="6734304" y="5385890"/>
            <a:ext cx="283200" cy="283200"/>
          </a:xfrm>
          <a:prstGeom prst="roundRect">
            <a:avLst>
              <a:gd fmla="val 75075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5"/>
          <p:cNvPicPr preferRelativeResize="0"/>
          <p:nvPr/>
        </p:nvPicPr>
        <p:blipFill rotWithShape="1">
          <a:blip r:embed="rId9">
            <a:alphaModFix/>
          </a:blip>
          <a:srcRect b="0" l="-1506" r="-1506" t="0"/>
          <a:stretch/>
        </p:blipFill>
        <p:spPr>
          <a:xfrm>
            <a:off x="6796388" y="5465835"/>
            <a:ext cx="159889" cy="12416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6734304" y="6090083"/>
            <a:ext cx="4420800" cy="469200"/>
          </a:xfrm>
          <a:prstGeom prst="roundRect">
            <a:avLst>
              <a:gd fmla="val 27345" name="adj"/>
            </a:avLst>
          </a:prstGeom>
          <a:solidFill>
            <a:srgbClr val="F8FAFC"/>
          </a:solidFill>
          <a:ln cap="flat" cmpd="sng" w="118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25" lIns="85025" spcFirstLastPara="1" rIns="85025" wrap="square" tIns="85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761695" y="571500"/>
            <a:ext cx="8430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 txBox="1"/>
          <p:nvPr/>
        </p:nvSpPr>
        <p:spPr>
          <a:xfrm>
            <a:off x="761695" y="857707"/>
            <a:ext cx="3958438" cy="58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개요 및 환경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1028700" y="2319807"/>
            <a:ext cx="42960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완전정보 게임(Perfect Information Game)인 ConnectX 환경에서, 전통적인 탐색 기반 알고리즘(Search-Based)과 현대적인 딥러닝 기반 강화학습(Deep RL)의 성능과 효율성을 비교 분석</a:t>
            </a: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1028700" y="3924334"/>
            <a:ext cx="43728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각 알고리즘의 승률, 강제수 대응 능력, 의사결정 시간 등을 정량적으로 측정하여, 제한된 자원(시간/연산) 하에서의 최적 AI 전략을 도출</a:t>
            </a: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28700" y="4615144"/>
            <a:ext cx="828300" cy="276000"/>
          </a:xfrm>
          <a:prstGeom prst="roundRect">
            <a:avLst>
              <a:gd fmla="val 22836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1143000" y="4652634"/>
            <a:ext cx="700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One-Step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926641" y="4615144"/>
            <a:ext cx="666600" cy="276000"/>
          </a:xfrm>
          <a:prstGeom prst="roundRect">
            <a:avLst>
              <a:gd fmla="val 22836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 txBox="1"/>
          <p:nvPr/>
        </p:nvSpPr>
        <p:spPr>
          <a:xfrm>
            <a:off x="2040941" y="4652634"/>
            <a:ext cx="538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N-Step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2663647" y="4615144"/>
            <a:ext cx="580500" cy="276000"/>
          </a:xfrm>
          <a:prstGeom prst="roundRect">
            <a:avLst>
              <a:gd fmla="val 22836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2777947" y="4652634"/>
            <a:ext cx="4527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MCTS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319272" y="4615144"/>
            <a:ext cx="657600" cy="276000"/>
          </a:xfrm>
          <a:prstGeom prst="roundRect">
            <a:avLst>
              <a:gd fmla="val 22836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 txBox="1"/>
          <p:nvPr/>
        </p:nvSpPr>
        <p:spPr>
          <a:xfrm>
            <a:off x="3433572" y="4652634"/>
            <a:ext cx="529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MTD(f)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050792" y="4615144"/>
            <a:ext cx="524100" cy="276000"/>
          </a:xfrm>
          <a:prstGeom prst="roundRect">
            <a:avLst>
              <a:gd fmla="val 22836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4165092" y="4652634"/>
            <a:ext cx="3960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DQN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1028700" y="5783618"/>
            <a:ext cx="42867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Kaggle ConnectX 시뮬레이터 활용. </a:t>
            </a:r>
            <a:endParaRPr b="0" i="0" sz="12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에이전트는 현재 보드 상태를 완전히 관측(Fully Observable)하며, 행동 결과는 결정적(Deterministic)</a:t>
            </a: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5"/>
          <p:cNvPicPr preferRelativeResize="0"/>
          <p:nvPr/>
        </p:nvPicPr>
        <p:blipFill rotWithShape="1">
          <a:blip r:embed="rId10">
            <a:alphaModFix/>
          </a:blip>
          <a:srcRect b="0" l="-56" r="-57" t="0"/>
          <a:stretch/>
        </p:blipFill>
        <p:spPr>
          <a:xfrm>
            <a:off x="6734304" y="2148132"/>
            <a:ext cx="186254" cy="21261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5"/>
          <p:cNvSpPr txBox="1"/>
          <p:nvPr/>
        </p:nvSpPr>
        <p:spPr>
          <a:xfrm>
            <a:off x="7009007" y="2086048"/>
            <a:ext cx="20913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74"/>
              <a:buFont typeface="Noto Sans KR"/>
              <a:buNone/>
            </a:pPr>
            <a:r>
              <a:rPr b="1" i="0" lang="en-US" sz="1674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ConnectX 게임 규칙</a:t>
            </a:r>
            <a:endParaRPr b="0" i="0" sz="16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7159541" y="2688184"/>
            <a:ext cx="757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9"/>
              <a:buFont typeface="Noto Sans KR"/>
              <a:buNone/>
            </a:pPr>
            <a:r>
              <a:rPr b="1" i="0" lang="en-US" sz="1209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보드 크기</a:t>
            </a:r>
            <a:endParaRPr b="0" i="0" sz="12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7159541" y="2962888"/>
            <a:ext cx="26697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3"/>
              <a:buFont typeface="Noto Sans KR"/>
              <a:buNone/>
            </a:pPr>
            <a:r>
              <a:rPr b="0" i="0" lang="en-US" sz="1023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6행(Rows) x 7열(Columns) 격자형 보드 사용</a:t>
            </a:r>
            <a:endParaRPr b="0" i="0" sz="10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7159541" y="3454462"/>
            <a:ext cx="757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9"/>
              <a:buFont typeface="Noto Sans KR"/>
              <a:buNone/>
            </a:pPr>
            <a:r>
              <a:rPr b="1" i="0" lang="en-US" sz="1209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승리 조건</a:t>
            </a:r>
            <a:endParaRPr b="0" i="0" sz="12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7159541" y="3729165"/>
            <a:ext cx="40518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3"/>
              <a:buFont typeface="Noto Sans KR"/>
              <a:buNone/>
            </a:pPr>
            <a:r>
              <a:rPr b="0" i="0" lang="en-US" sz="1023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가로, 세로, 대각선 방향으로 자신의 돌 4개를 연속으로 연결하면 즉시 승리</a:t>
            </a:r>
            <a:endParaRPr b="0" i="0" sz="10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7159541" y="4419751"/>
            <a:ext cx="11565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9"/>
              <a:buFont typeface="Noto Sans KR"/>
              <a:buNone/>
            </a:pPr>
            <a:r>
              <a:rPr b="1" i="0" lang="en-US" sz="1209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중력 (Gravity)</a:t>
            </a:r>
            <a:endParaRPr b="0" i="0" sz="12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7159541" y="4694454"/>
            <a:ext cx="39894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3"/>
              <a:buFont typeface="Noto Sans KR"/>
              <a:buNone/>
            </a:pPr>
            <a:r>
              <a:rPr b="0" i="0" lang="en-US" sz="1023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플레이어는 열(Column)만 선택 가능하며, 돌은 해당 열의 가장 아래 빈 칸으로 떨어짐</a:t>
            </a:r>
            <a:endParaRPr b="0" i="0" sz="10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7159541" y="5385890"/>
            <a:ext cx="757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9"/>
              <a:buFont typeface="Noto Sans KR"/>
              <a:buNone/>
            </a:pPr>
            <a:r>
              <a:rPr b="1" i="0" lang="en-US" sz="1209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진행 방식</a:t>
            </a:r>
            <a:endParaRPr b="0" i="0" sz="12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7159541" y="5660593"/>
            <a:ext cx="38832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3"/>
              <a:buFont typeface="Noto Sans KR"/>
              <a:buNone/>
            </a:pPr>
            <a:r>
              <a:rPr b="0" i="0" lang="en-US" sz="1023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2인 턴제 게임 (Turn-based), 선공(Player 1)과 후공(Player 2) 교대</a:t>
            </a:r>
            <a:endParaRPr b="0" i="0" sz="102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89664" y="6265281"/>
            <a:ext cx="124169" cy="12416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7458057" y="6232112"/>
            <a:ext cx="32388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30"/>
              <a:buFont typeface="Noto Sans KR"/>
              <a:buNone/>
            </a:pPr>
            <a:r>
              <a:rPr b="0" i="0" lang="en-US" sz="93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Connect 4의 확장형으로, 4목(4-in-a-row) 규칙을 따릅니다.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0" y="0"/>
            <a:ext cx="48764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876495" y="0"/>
            <a:ext cx="75895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5639105" y="1571854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5934456" y="1867205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0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6"/>
          <p:cNvPicPr preferRelativeResize="0"/>
          <p:nvPr/>
        </p:nvPicPr>
        <p:blipFill rotWithShape="1">
          <a:blip r:embed="rId3">
            <a:alphaModFix/>
          </a:blip>
          <a:srcRect b="0" l="-80" r="-80" t="0"/>
          <a:stretch/>
        </p:blipFill>
        <p:spPr>
          <a:xfrm>
            <a:off x="6029554" y="1867205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8677656" y="1571854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973007" y="1867205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0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4">
            <a:alphaModFix/>
          </a:blip>
          <a:srcRect b="-45" l="0" r="0" t="-44"/>
          <a:stretch/>
        </p:blipFill>
        <p:spPr>
          <a:xfrm>
            <a:off x="9081821" y="1867205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5639105" y="3571646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934456" y="3866998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0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7900" y="38669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8677656" y="3571646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8973007" y="3866998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0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6"/>
          <p:cNvPicPr preferRelativeResize="0"/>
          <p:nvPr/>
        </p:nvPicPr>
        <p:blipFill rotWithShape="1">
          <a:blip r:embed="rId6">
            <a:alphaModFix/>
          </a:blip>
          <a:srcRect b="0" l="-80" r="-80" t="0"/>
          <a:stretch/>
        </p:blipFill>
        <p:spPr>
          <a:xfrm>
            <a:off x="9068105" y="3866998"/>
            <a:ext cx="2862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5934456" y="2286000"/>
            <a:ext cx="2105863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One-Step Lookahead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5934456" y="2648102"/>
            <a:ext cx="14438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바로 다음 수만 평가하는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5934456" y="2848356"/>
            <a:ext cx="16431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Greedy 방식의 초고속 정책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8973007" y="2286000"/>
            <a:ext cx="1867205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N-Step Lookahead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8973007" y="2648102"/>
            <a:ext cx="181508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Minimax 알고리즘을 적용하여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8973007" y="2848356"/>
            <a:ext cx="166237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3수 앞(Ply 3)까지 깊이 탐색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5934456" y="4286707"/>
            <a:ext cx="1724558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MCTS + Heuristic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5934456" y="4647895"/>
            <a:ext cx="14054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몬테카를로 트리 탐색과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5934456" y="4848149"/>
            <a:ext cx="15672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위협 감지 휴리스틱의 결합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8973007" y="4286707"/>
            <a:ext cx="1877263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MTD(f) + Negamax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8973007" y="4647895"/>
            <a:ext cx="20244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메모라이제이션(TT)과 반복 심화로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8973007" y="4848149"/>
            <a:ext cx="128198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최적화된 고성능 탐색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476402" y="1457554"/>
            <a:ext cx="2257654" cy="1657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0"/>
              <a:buFont typeface="Noto Sans KR"/>
              <a:buNone/>
            </a:pPr>
            <a:r>
              <a:rPr b="1" i="0" lang="en-US" sz="9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71500" y="1848002"/>
            <a:ext cx="114300" cy="1143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571500" y="2162556"/>
            <a:ext cx="4086454" cy="1571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4200"/>
              <a:buFont typeface="Noto Sans KR"/>
              <a:buNone/>
            </a:pPr>
            <a:r>
              <a:rPr b="1" i="0" lang="en-US" sz="42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알고리즘 Search-Based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761695" y="476402"/>
            <a:ext cx="68772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700"/>
              <a:buFont typeface="Noto Sans KR"/>
              <a:buNone/>
            </a:pP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One</a:t>
            </a:r>
            <a:r>
              <a:rPr b="1" i="0" lang="en-US" sz="27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-Step Lookahead </a:t>
            </a: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761695" y="1067105"/>
            <a:ext cx="3719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재귀적 탐색을 통한 미래 상태 예측 및 최적 수 결정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761850" y="2262214"/>
            <a:ext cx="10668300" cy="34407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아이디어: 바로 다음 상태만 평가해 가장 높은 휴리스틱 값을 고른다.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복잡도: O(branching factor B); 매우 낮은 지연(latency).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장점: 연산 속도가 매우 빠름  초고속, 휴리스틱 디버깅·튜닝이 쉽고 결정적.</a:t>
            </a:r>
            <a:endParaRPr>
              <a:solidFill>
                <a:srgbClr val="4A90E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단점:  지연 보상·함정에 취약, 휴리스틱 편향에 민감.</a:t>
            </a:r>
            <a:endParaRPr>
              <a:solidFill>
                <a:srgbClr val="EF444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 용도: 베이스라인/롤아웃 정책, 큰 분기에서 빠른 근사, 탐색 초기 시드.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rgbClr val="4C4C4D"/>
                </a:solidFill>
                <a:latin typeface="Noto Sans KR"/>
                <a:ea typeface="Noto Sans KR"/>
                <a:cs typeface="Noto Sans KR"/>
                <a:sym typeface="Noto Sans KR"/>
              </a:rPr>
              <a:t>한계: '근시안적(Myopic)'임. 당장의 3목을 막느라 다음 턴에 상대에게 4목을 내어주는 수(Trap)를 파악하지 못함.</a:t>
            </a:r>
            <a:endParaRPr>
              <a:solidFill>
                <a:srgbClr val="4C4C4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2586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6096305" y="0"/>
            <a:ext cx="6096300" cy="6858000"/>
          </a:xfrm>
          <a:prstGeom prst="rect">
            <a:avLst/>
          </a:prstGeom>
          <a:solidFill>
            <a:srgbClr val="DBEAFE">
              <a:alpha val="4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571500" y="381305"/>
            <a:ext cx="791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One-Step Lookahead</a:t>
            </a:r>
            <a:r>
              <a:rPr b="1" lang="en-US" sz="240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 State,Action,Reward 설계</a:t>
            </a:r>
            <a:endParaRPr b="1" sz="2400">
              <a:solidFill>
                <a:srgbClr val="1E3A8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571500" y="914400"/>
            <a:ext cx="2986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State, Action, Reward 구조 심층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71500" y="1285646"/>
            <a:ext cx="6191400" cy="152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71500" y="1285646"/>
            <a:ext cx="57600" cy="152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857707" y="1476756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746" y="1561795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/>
          <p:nvPr/>
        </p:nvSpPr>
        <p:spPr>
          <a:xfrm>
            <a:off x="571500" y="3000146"/>
            <a:ext cx="6191400" cy="152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71500" y="3000146"/>
            <a:ext cx="57600" cy="152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857707" y="3191256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4">
            <a:alphaModFix/>
          </a:blip>
          <a:srcRect b="0" l="-761" r="-761" t="0"/>
          <a:stretch/>
        </p:blipFill>
        <p:spPr>
          <a:xfrm>
            <a:off x="952805" y="3276295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571500" y="4714646"/>
            <a:ext cx="6191400" cy="1524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71500" y="4714646"/>
            <a:ext cx="57600" cy="152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857707" y="4905756"/>
            <a:ext cx="342900" cy="342900"/>
          </a:xfrm>
          <a:prstGeom prst="roundRect">
            <a:avLst>
              <a:gd fmla="val 59259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8"/>
          <p:cNvPicPr preferRelativeResize="0"/>
          <p:nvPr/>
        </p:nvPicPr>
        <p:blipFill rotWithShape="1">
          <a:blip r:embed="rId5">
            <a:alphaModFix/>
          </a:blip>
          <a:srcRect b="-844" l="0" r="0" t="-844"/>
          <a:stretch/>
        </p:blipFill>
        <p:spPr>
          <a:xfrm>
            <a:off x="933602" y="4990795"/>
            <a:ext cx="19019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7139635" y="1143000"/>
            <a:ext cx="4485900" cy="5238600"/>
          </a:xfrm>
          <a:prstGeom prst="roundRect">
            <a:avLst>
              <a:gd fmla="val 692" name="adj"/>
            </a:avLst>
          </a:prstGeom>
          <a:solidFill>
            <a:srgbClr val="FFFFFF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7434986" y="1867205"/>
            <a:ext cx="3895200" cy="192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7434986" y="2076602"/>
            <a:ext cx="401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Data Transformation 1차원 Raw Data를 2차원 Grid로 변환하여 공간적 패턴 인식을 최적화함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7434986" y="2686507"/>
            <a:ext cx="4010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Decision Strategy Greedy(탐욕적) 접근법을 사용하여 즉각적인 이득을 최대화하며, Tie-break 시 무작위성을 부여하여 고착화 방지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 txBox="1"/>
          <p:nvPr/>
        </p:nvSpPr>
        <p:spPr>
          <a:xfrm>
            <a:off x="7434986" y="3524098"/>
            <a:ext cx="401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Evaluation Metric 승리(4목), 공격(3목), 방어(상대 3목)에 대해 사전 정의된 가중치를 적용하여 정량적 평가 수행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7434986" y="4134002"/>
            <a:ext cx="401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Computational Cost 단 1수 앞만 내다보므로 연산 비용이 매우 낮아( &lt; 5ms) 실시간 대응에 유리함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1314907" y="1518818"/>
            <a:ext cx="1424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State (상태 표현)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857707" y="1943100"/>
            <a:ext cx="5508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환경(Environment)에서 제공하는 1차원 리스트 형태의 보드 데이터를 분석하기 쉬운 (rows, columns) 형태의 2차원 배열로 변환.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 txBox="1"/>
          <p:nvPr/>
        </p:nvSpPr>
        <p:spPr>
          <a:xfrm>
            <a:off x="1314907" y="3233318"/>
            <a:ext cx="1528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Action (행동 선택)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1314907" y="4947818"/>
            <a:ext cx="1634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(보상 체계)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857707" y="5372100"/>
            <a:ext cx="56226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학습된 보상이 아닌, PATTERN_WEIGHTS를 활용한 순수 휴리스틱 평가</a:t>
            </a: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1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evaluate_board 함수가 가능한 모든 4칸 윈도우를 스캔하여 내 4/3/2목과 상대의 위협을 +/- 가중치로 합산해 현재 수의 가치를 평가</a:t>
            </a: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4986" y="1490472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/>
        </p:nvSpPr>
        <p:spPr>
          <a:xfrm>
            <a:off x="7654442" y="1438351"/>
            <a:ext cx="14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포인트 요약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857700" y="3598069"/>
            <a:ext cx="57753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유효한 모든 열(Column)에 대해 가상의 토큰을 떨어뜨려보는 시뮬레이션을 수행</a:t>
            </a: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0" i="0" sz="1100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각 행동에 대한 heuristic 점수를 계산한 후, 가장 높은 점수를 가진 행동을 선택</a:t>
            </a: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b="0" i="0" sz="1100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만약 최고 점수가 여러 개라면 무작위(Random)로 하나를 선택하여 다양성을 확보</a:t>
            </a: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b="0" i="0" sz="1100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t/>
            </a:r>
            <a:endParaRPr sz="11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가능한 action : 첫번째 열 ~ 여섯번째 열을 선택</a:t>
            </a:r>
            <a:endParaRPr b="1" sz="11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/>
        </p:nvSpPr>
        <p:spPr>
          <a:xfrm>
            <a:off x="571500" y="381300"/>
            <a:ext cx="853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One-Step Lookahead Greedy Strategy </a:t>
            </a: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- 가중치 정의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571500" y="914400"/>
            <a:ext cx="341528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휴리스틱 가중치 기반의 즉시 보상 최대화 전략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71500" y="1275292"/>
            <a:ext cx="4229100" cy="15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571500" y="1275292"/>
            <a:ext cx="47400" cy="1591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" name="Google Shape;21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49" y="1551441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 txBox="1"/>
          <p:nvPr/>
        </p:nvSpPr>
        <p:spPr>
          <a:xfrm>
            <a:off x="1104595" y="1503892"/>
            <a:ext cx="905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개념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71500" y="3564546"/>
            <a:ext cx="4229100" cy="47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571500" y="3564557"/>
            <a:ext cx="1050600" cy="476400"/>
          </a:xfrm>
          <a:prstGeom prst="roundRect">
            <a:avLst>
              <a:gd fmla="val 30710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1714500" y="3564546"/>
            <a:ext cx="1752900" cy="476400"/>
          </a:xfrm>
          <a:prstGeom prst="rect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3461004" y="3564546"/>
            <a:ext cx="1343400" cy="476400"/>
          </a:xfrm>
          <a:prstGeom prst="rect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571500" y="4150462"/>
            <a:ext cx="4229100" cy="4764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571500" y="4094421"/>
            <a:ext cx="1050600" cy="476400"/>
          </a:xfrm>
          <a:prstGeom prst="roundRect">
            <a:avLst>
              <a:gd fmla="val 30710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1714500" y="4094433"/>
            <a:ext cx="1752900" cy="476400"/>
          </a:xfrm>
          <a:prstGeom prst="rect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3461004" y="4094433"/>
            <a:ext cx="1343400" cy="476400"/>
          </a:xfrm>
          <a:prstGeom prst="rect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571500" y="5084674"/>
            <a:ext cx="4229100" cy="47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571500" y="5140704"/>
            <a:ext cx="1028700" cy="476400"/>
          </a:xfrm>
          <a:prstGeom prst="roundRect">
            <a:avLst>
              <a:gd fmla="val 30710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1714500" y="5140703"/>
            <a:ext cx="1752900" cy="476400"/>
          </a:xfrm>
          <a:prstGeom prst="rect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461004" y="5140703"/>
            <a:ext cx="1343400" cy="476400"/>
          </a:xfrm>
          <a:prstGeom prst="rect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71500" y="5659383"/>
            <a:ext cx="4229100" cy="47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71500" y="5659387"/>
            <a:ext cx="1050600" cy="476400"/>
          </a:xfrm>
          <a:prstGeom prst="roundRect">
            <a:avLst>
              <a:gd fmla="val 30710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1714500" y="5659383"/>
            <a:ext cx="1752900" cy="476400"/>
          </a:xfrm>
          <a:prstGeom prst="rect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3461004" y="5659383"/>
            <a:ext cx="1343400" cy="476400"/>
          </a:xfrm>
          <a:prstGeom prst="rect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71500" y="6242268"/>
            <a:ext cx="4229100" cy="438000"/>
          </a:xfrm>
          <a:prstGeom prst="roundRect">
            <a:avLst>
              <a:gd fmla="val 36307" name="adj"/>
            </a:avLst>
          </a:prstGeom>
          <a:solidFill>
            <a:srgbClr val="FFF5F5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5277002" y="1143000"/>
            <a:ext cx="6344100" cy="5248800"/>
          </a:xfrm>
          <a:prstGeom prst="roundRect">
            <a:avLst>
              <a:gd fmla="val 379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277002" y="1143000"/>
            <a:ext cx="6344107" cy="43799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5277002" y="1571854"/>
            <a:ext cx="6344107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847649" y="1904399"/>
            <a:ext cx="38295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상태에서 가능한 모든 열(Column)에 대해 딱 한 수 앞(t+1)만 시뮬레이션하고, 미리 정의된 패턴 가중치 점수가 가장 높은 곳을 선택</a:t>
            </a:r>
            <a:r>
              <a:rPr lang="en-US" sz="12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2" name="Google Shape;242;p9"/>
          <p:cNvPicPr preferRelativeResize="0"/>
          <p:nvPr/>
        </p:nvPicPr>
        <p:blipFill rotWithShape="1">
          <a:blip r:embed="rId4">
            <a:alphaModFix/>
          </a:blip>
          <a:srcRect b="0" l="-1064" r="-1064" t="0"/>
          <a:stretch/>
        </p:blipFill>
        <p:spPr>
          <a:xfrm>
            <a:off x="571500" y="3162910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 txBox="1"/>
          <p:nvPr/>
        </p:nvSpPr>
        <p:spPr>
          <a:xfrm>
            <a:off x="866851" y="3112618"/>
            <a:ext cx="2786177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패턴별 가중치 (Hyperparameters)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733349" y="3688904"/>
            <a:ext cx="5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my_4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1867205" y="3688904"/>
            <a:ext cx="127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내 4목 완성 (승리)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724351" y="3698048"/>
            <a:ext cx="10287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Fira Code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+1,000,000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733349" y="4218791"/>
            <a:ext cx="5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my_3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1867205" y="4218791"/>
            <a:ext cx="127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내 3목 연결 (공격)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4090111" y="4227935"/>
            <a:ext cx="667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Fira Code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+1,000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733349" y="5264147"/>
            <a:ext cx="5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opp_3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1867205" y="5264147"/>
            <a:ext cx="142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상대 3목 저지 (방어)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3998671" y="5273291"/>
            <a:ext cx="7626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Fira Code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-50,000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733349" y="5782827"/>
            <a:ext cx="5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opp_2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1867205" y="5782827"/>
            <a:ext cx="99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상대 2목 견제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4272991" y="5792886"/>
            <a:ext cx="4866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Fira Code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-100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694944" y="6366627"/>
            <a:ext cx="37701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30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C53030"/>
                </a:solidFill>
                <a:latin typeface="Noto Sans KR"/>
                <a:ea typeface="Noto Sans KR"/>
                <a:cs typeface="Noto Sans KR"/>
                <a:sym typeface="Noto Sans KR"/>
              </a:rPr>
              <a:t>방어 우선: 상대 3목 페널티(-50k)가 내 3목 보상(+1k)보다 50배 큽니다.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6115507" y="1266444"/>
            <a:ext cx="298643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submission_simple_greedy_baseline.py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69600" y="4617574"/>
            <a:ext cx="4229100" cy="47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569600" y="4617575"/>
            <a:ext cx="1028700" cy="476400"/>
          </a:xfrm>
          <a:prstGeom prst="roundRect">
            <a:avLst>
              <a:gd fmla="val 30710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1712600" y="4617574"/>
            <a:ext cx="1752900" cy="476400"/>
          </a:xfrm>
          <a:prstGeom prst="rect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3459104" y="4617574"/>
            <a:ext cx="1343400" cy="476400"/>
          </a:xfrm>
          <a:prstGeom prst="rect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 txBox="1"/>
          <p:nvPr/>
        </p:nvSpPr>
        <p:spPr>
          <a:xfrm>
            <a:off x="731449" y="4741018"/>
            <a:ext cx="59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my</a:t>
            </a:r>
            <a:r>
              <a:rPr b="1" i="0" lang="en-US" sz="12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_</a:t>
            </a:r>
            <a:r>
              <a:rPr b="1" lang="en-US" sz="1200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1865305" y="4741018"/>
            <a:ext cx="142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내 2</a:t>
            </a: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목 </a:t>
            </a: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연결</a:t>
            </a: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포석</a:t>
            </a: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4037511" y="4755585"/>
            <a:ext cx="667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Fira Code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+10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5471925" y="1795850"/>
            <a:ext cx="5923500" cy="4197300"/>
          </a:xfrm>
          <a:prstGeom prst="rect">
            <a:avLst/>
          </a:prstGeom>
          <a:noFill/>
          <a:ln cap="flat" cmpd="sng" w="9525">
            <a:solidFill>
              <a:srgbClr val="2229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6A9955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# 패턴별 가중치</a:t>
            </a:r>
            <a:endParaRPr>
              <a:solidFill>
                <a:srgbClr val="6A9955"/>
              </a:solidFill>
              <a:highlight>
                <a:srgbClr val="22293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4FC1FF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PATTERN_WEIGHTS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>
                <a:solidFill>
                  <a:srgbClr val="D4D4D4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>
              <a:solidFill>
                <a:srgbClr val="CCCCCC"/>
              </a:solidFill>
              <a:highlight>
                <a:srgbClr val="22293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>
                <a:solidFill>
                  <a:srgbClr val="CE9178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"my_4"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>
                <a:solidFill>
                  <a:srgbClr val="B5CEA8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1_000_000.0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,   </a:t>
            </a:r>
            <a:r>
              <a:rPr lang="en-US">
                <a:solidFill>
                  <a:srgbClr val="6A9955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# 내가 4개 연결</a:t>
            </a:r>
            <a:endParaRPr>
              <a:solidFill>
                <a:srgbClr val="6A9955"/>
              </a:solidFill>
              <a:highlight>
                <a:srgbClr val="22293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>
                <a:solidFill>
                  <a:srgbClr val="CE9178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"my_3"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>
                <a:solidFill>
                  <a:srgbClr val="B5CEA8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1_000.0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,       </a:t>
            </a:r>
            <a:r>
              <a:rPr lang="en-US">
                <a:solidFill>
                  <a:srgbClr val="6A9955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# 내가 3개 연결</a:t>
            </a:r>
            <a:endParaRPr>
              <a:solidFill>
                <a:srgbClr val="6A9955"/>
              </a:solidFill>
              <a:highlight>
                <a:srgbClr val="22293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>
                <a:solidFill>
                  <a:srgbClr val="CE9178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"my_2"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>
                <a:solidFill>
                  <a:srgbClr val="B5CEA8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10.0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,          </a:t>
            </a:r>
            <a:r>
              <a:rPr lang="en-US">
                <a:solidFill>
                  <a:srgbClr val="6A9955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# 내가 2개 연결</a:t>
            </a:r>
            <a:endParaRPr>
              <a:solidFill>
                <a:srgbClr val="6A9955"/>
              </a:solidFill>
              <a:highlight>
                <a:srgbClr val="22293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>
                <a:solidFill>
                  <a:srgbClr val="CE9178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"opp_3"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>
                <a:solidFill>
                  <a:srgbClr val="D4D4D4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>
                <a:solidFill>
                  <a:srgbClr val="B5CEA8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50_000.0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,    </a:t>
            </a:r>
            <a:r>
              <a:rPr lang="en-US">
                <a:solidFill>
                  <a:srgbClr val="6A9955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# 상대 3개 연결</a:t>
            </a:r>
            <a:endParaRPr>
              <a:solidFill>
                <a:srgbClr val="6A9955"/>
              </a:solidFill>
              <a:highlight>
                <a:srgbClr val="22293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>
                <a:solidFill>
                  <a:srgbClr val="CE9178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"opp_2"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>
                <a:solidFill>
                  <a:srgbClr val="D4D4D4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>
                <a:solidFill>
                  <a:srgbClr val="B5CEA8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100.0</a:t>
            </a: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,       </a:t>
            </a:r>
            <a:r>
              <a:rPr lang="en-US">
                <a:solidFill>
                  <a:srgbClr val="6A9955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# 상대 2개 연결</a:t>
            </a:r>
            <a:endParaRPr>
              <a:solidFill>
                <a:srgbClr val="6A9955"/>
              </a:solidFill>
              <a:highlight>
                <a:srgbClr val="22293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CCCCC"/>
                </a:solidFill>
                <a:highlight>
                  <a:srgbClr val="222939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>
              <a:solidFill>
                <a:srgbClr val="CCCCCC"/>
              </a:solidFill>
              <a:highlight>
                <a:srgbClr val="222939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/>
        </p:nvSpPr>
        <p:spPr>
          <a:xfrm>
            <a:off x="571500" y="381300"/>
            <a:ext cx="945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One-Step Lookahead Greedy Strategy </a:t>
            </a: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-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상태 가치 평가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 txBox="1"/>
          <p:nvPr/>
        </p:nvSpPr>
        <p:spPr>
          <a:xfrm>
            <a:off x="571500" y="914400"/>
            <a:ext cx="4503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보드판의 현재 상태가 얼마나 유리한지 수치로 계산하여 최적 선택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71500" y="1414575"/>
            <a:ext cx="4628700" cy="4977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10"/>
          <p:cNvPicPr preferRelativeResize="0"/>
          <p:nvPr/>
        </p:nvPicPr>
        <p:blipFill rotWithShape="1">
          <a:blip r:embed="rId3">
            <a:alphaModFix/>
          </a:blip>
          <a:srcRect b="0" l="-30128" r="-30128" t="0"/>
          <a:stretch/>
        </p:blipFill>
        <p:spPr>
          <a:xfrm>
            <a:off x="809246" y="1662385"/>
            <a:ext cx="228600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 txBox="1"/>
          <p:nvPr/>
        </p:nvSpPr>
        <p:spPr>
          <a:xfrm>
            <a:off x="1037850" y="1614815"/>
            <a:ext cx="3429000" cy="6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상태 가치 함수 </a:t>
            </a:r>
            <a:endParaRPr b="1" i="0" sz="1500" u="none" cap="none" strike="noStrike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(State Value Function)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730968" y="4326050"/>
            <a:ext cx="4284600" cy="952800"/>
          </a:xfrm>
          <a:prstGeom prst="roundRect">
            <a:avLst>
              <a:gd fmla="val 959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809250" y="2397975"/>
            <a:ext cx="428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강화학습의 Value Function</a:t>
            </a:r>
            <a:endParaRPr b="0" i="0" sz="1100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와 유사하게, 현재 보드 상태가 얼마나 유리한지를 수치적으로 평가.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t/>
            </a:r>
            <a:endParaRPr sz="11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809249" y="3040800"/>
            <a:ext cx="4284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보드에 존재하는 5가지 핵심 패턴(내 4목, 상대 3목 등)의 개수(Feature)와 미리 설정된 가중치(Weight)의 선형 결합(Linear Combination)으로 점수를 계산하여 즉각적인 보상을 예측</a:t>
            </a: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2499972" y="2368716"/>
            <a:ext cx="2424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2657249" y="2368716"/>
            <a:ext cx="1857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2761490" y="2368716"/>
            <a:ext cx="2139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2893164" y="2368716"/>
            <a:ext cx="1857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1327423" y="4618668"/>
            <a:ext cx="258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1492930" y="4618668"/>
            <a:ext cx="201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 txBox="1"/>
          <p:nvPr/>
        </p:nvSpPr>
        <p:spPr>
          <a:xfrm>
            <a:off x="1602658" y="4618668"/>
            <a:ext cx="229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𝑠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1740732" y="4618668"/>
            <a:ext cx="201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1899838" y="4618668"/>
            <a:ext cx="238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2101006" y="4618668"/>
            <a:ext cx="267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2147640" y="4854583"/>
            <a:ext cx="1335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𝑖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2327777" y="4618668"/>
            <a:ext cx="201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2437505" y="4618668"/>
            <a:ext cx="267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2561863" y="4754914"/>
            <a:ext cx="1335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𝑖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2674334" y="4618668"/>
            <a:ext cx="2388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 txBox="1"/>
          <p:nvPr/>
        </p:nvSpPr>
        <p:spPr>
          <a:xfrm>
            <a:off x="2824296" y="4618668"/>
            <a:ext cx="534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3270523" y="4618668"/>
            <a:ext cx="201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3380251" y="4618668"/>
            <a:ext cx="629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 txBox="1"/>
          <p:nvPr/>
        </p:nvSpPr>
        <p:spPr>
          <a:xfrm>
            <a:off x="3874027" y="4754914"/>
            <a:ext cx="1335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𝑖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3986498" y="4618668"/>
            <a:ext cx="201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4146518" y="4618668"/>
            <a:ext cx="201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277002" y="1143000"/>
            <a:ext cx="6344100" cy="5248800"/>
          </a:xfrm>
          <a:prstGeom prst="roundRect">
            <a:avLst>
              <a:gd fmla="val 379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 txBox="1"/>
          <p:nvPr/>
        </p:nvSpPr>
        <p:spPr>
          <a:xfrm>
            <a:off x="6115507" y="1266444"/>
            <a:ext cx="29865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submission_simple_greedy_baseline.py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5535700" y="1837775"/>
            <a:ext cx="5883000" cy="4359000"/>
          </a:xfrm>
          <a:prstGeom prst="rect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evaluate_board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 </a:t>
            </a:r>
            <a:endParaRPr sz="1200">
              <a:solidFill>
                <a:srgbClr val="CE917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opponent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my_two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count_pattern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my_three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count_pattern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my_four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count_pattern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opp_two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count_pattern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opponent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opp_three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count_pattern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opponent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PATTERN_WEIGHTS</a:t>
            </a:r>
            <a:endParaRPr sz="1200">
              <a:solidFill>
                <a:srgbClr val="4FC1F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(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"my_4"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my_four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endParaRPr sz="1200">
              <a:solidFill>
                <a:srgbClr val="D4D4D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"my_3"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my_three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endParaRPr sz="1200">
              <a:solidFill>
                <a:srgbClr val="D4D4D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"my_2"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my_two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endParaRPr sz="1200">
              <a:solidFill>
                <a:srgbClr val="D4D4D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"opp_2"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opp_two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endParaRPr sz="1200">
              <a:solidFill>
                <a:srgbClr val="D4D4D4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"opp_3"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opp_three</a:t>
            </a:r>
            <a:endParaRPr sz="120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4FC1F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 txBox="1"/>
          <p:nvPr/>
        </p:nvSpPr>
        <p:spPr>
          <a:xfrm>
            <a:off x="571500" y="381300"/>
            <a:ext cx="895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One-Step Lookahead Greedy Strateg</a:t>
            </a: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y - 에이전트 의사 결정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571500" y="914400"/>
            <a:ext cx="4503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보드판의 현재 상태가 얼마나 유리한지 수치로 계산하여 최적 선택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71500" y="1414575"/>
            <a:ext cx="4628700" cy="4977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1F5F9"/>
            </a:solidFill>
            <a:prstDash val="solid"/>
            <a:round/>
            <a:headEnd len="sm" w="sm" type="none"/>
            <a:tailEnd len="sm" w="sm" type="none"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730968" y="4326050"/>
            <a:ext cx="4284600" cy="952800"/>
          </a:xfrm>
          <a:prstGeom prst="roundRect">
            <a:avLst>
              <a:gd fmla="val 959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 txBox="1"/>
          <p:nvPr/>
        </p:nvSpPr>
        <p:spPr>
          <a:xfrm>
            <a:off x="809250" y="2397975"/>
            <a:ext cx="428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상태에서 딱 한수 앞 (t+1)만 내다보고, 다음 상태의 가치 V`(s`)가 최대가 되는 행동을 선택.</a:t>
            </a:r>
            <a:endParaRPr sz="1100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8" name="Google Shape;318;p11"/>
          <p:cNvSpPr txBox="1"/>
          <p:nvPr/>
        </p:nvSpPr>
        <p:spPr>
          <a:xfrm>
            <a:off x="809249" y="3040800"/>
            <a:ext cx="4284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최적해가 여러개일 경우 무작위로 선택 (Tie-break)하여 결정론적 패턴에 빠지는 것을 방지하고 약간의 탐험 효과를 줌.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277002" y="1143000"/>
            <a:ext cx="6344100" cy="5248800"/>
          </a:xfrm>
          <a:prstGeom prst="roundRect">
            <a:avLst>
              <a:gd fmla="val 379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 txBox="1"/>
          <p:nvPr/>
        </p:nvSpPr>
        <p:spPr>
          <a:xfrm>
            <a:off x="6115507" y="1266444"/>
            <a:ext cx="29865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submission_simple_greedy_baseline.py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5535700" y="1837775"/>
            <a:ext cx="5883000" cy="43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my_agent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obs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    # (생략) 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1. 모든 가능한 행동(Column)에 대해 시뮬레이션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{}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candidate_cols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가상의 행동(a) 수행 후 상태(s`)의 점수 계산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# V(s`) = score_single_move(...)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score_single_move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my_mark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2. 가장 높은 점수를 가진 행동 선택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best_score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max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values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best_cols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[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items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best_score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3. 최적해가 여러 개면 랜텀 선택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random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choice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best_cols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descr="preencoded.png" id="327" name="Google Shape;327;p11"/>
          <p:cNvPicPr preferRelativeResize="0"/>
          <p:nvPr/>
        </p:nvPicPr>
        <p:blipFill rotWithShape="1">
          <a:blip r:embed="rId3">
            <a:alphaModFix/>
          </a:blip>
          <a:srcRect b="0" l="-46153" r="-46153" t="0"/>
          <a:stretch/>
        </p:blipFill>
        <p:spPr>
          <a:xfrm>
            <a:off x="809246" y="1669910"/>
            <a:ext cx="228600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1"/>
          <p:cNvSpPr txBox="1"/>
          <p:nvPr/>
        </p:nvSpPr>
        <p:spPr>
          <a:xfrm>
            <a:off x="1037846" y="1622361"/>
            <a:ext cx="2563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탐욕적 정책 (Greedy Policy)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0288" y="4564325"/>
            <a:ext cx="248602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2"/>
          <p:cNvSpPr txBox="1"/>
          <p:nvPr/>
        </p:nvSpPr>
        <p:spPr>
          <a:xfrm>
            <a:off x="761695" y="476402"/>
            <a:ext cx="6877202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N-Step Lookahead </a:t>
            </a: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 txBox="1"/>
          <p:nvPr/>
        </p:nvSpPr>
        <p:spPr>
          <a:xfrm>
            <a:off x="761695" y="1067105"/>
            <a:ext cx="3719779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재귀적 탐색을 통한 미래 상태 예측 및 최적 수 결정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761850" y="2262214"/>
            <a:ext cx="10668300" cy="34407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Char char="●"/>
            </a:pPr>
            <a:r>
              <a:rPr b="1" lang="en-US">
                <a:solidFill>
                  <a:srgbClr val="52586B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아이디어:</a:t>
            </a:r>
            <a:r>
              <a:rPr lang="en-US">
                <a:solidFill>
                  <a:srgbClr val="52586B"/>
                </a:solidFill>
                <a:latin typeface="Noto Sans KR"/>
                <a:ea typeface="Noto Sans KR"/>
                <a:cs typeface="Noto Sans KR"/>
                <a:sym typeface="Noto Sans KR"/>
              </a:rPr>
              <a:t> 가능한 열에 내 돌을 한 번 둔 뒤, LOOKAHEAD_DEPTH(기본 3)만큼 순수 미니맥스를 돌려 휴리스틱 점수를 얻음</a:t>
            </a:r>
            <a:endParaRPr>
              <a:solidFill>
                <a:srgbClr val="52586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Char char="●"/>
            </a:pPr>
            <a:r>
              <a:rPr b="1" lang="en-US">
                <a:solidFill>
                  <a:srgbClr val="52586B"/>
                </a:solidFill>
                <a:latin typeface="Noto Sans KR"/>
                <a:ea typeface="Noto Sans KR"/>
                <a:cs typeface="Noto Sans KR"/>
                <a:sym typeface="Noto Sans KR"/>
              </a:rPr>
              <a:t>복잡도:</a:t>
            </a:r>
            <a:r>
              <a:rPr lang="en-US">
                <a:solidFill>
                  <a:srgbClr val="52586B"/>
                </a:solidFill>
                <a:latin typeface="Noto Sans KR"/>
                <a:ea typeface="Noto Sans KR"/>
                <a:cs typeface="Noto Sans KR"/>
                <a:sym typeface="Noto Sans KR"/>
              </a:rPr>
              <a:t> 가지수 B와 깊이 d에 대해 O(B^d). 알파-베타나 수순 정렬을 쓰지 않으므로 깊이가 커지면 비용이 급격히 증가함</a:t>
            </a:r>
            <a:endParaRPr>
              <a:solidFill>
                <a:srgbClr val="52586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400"/>
              <a:buChar char="●"/>
            </a:pPr>
            <a:r>
              <a:rPr b="1" lang="en-US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장점:</a:t>
            </a:r>
            <a:r>
              <a:rPr lang="en-US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 구현이 단순하고 결정적이며, </a:t>
            </a:r>
            <a:r>
              <a:rPr lang="en-US">
                <a:solidFill>
                  <a:srgbClr val="4A90E2"/>
                </a:solidFill>
                <a:highlight>
                  <a:srgbClr val="F2F2F2"/>
                </a:highlight>
                <a:latin typeface="Noto Sans KR"/>
                <a:ea typeface="Noto Sans KR"/>
                <a:cs typeface="Noto Sans KR"/>
                <a:sym typeface="Noto Sans KR"/>
              </a:rPr>
              <a:t>PATTERN_SCORE</a:t>
            </a:r>
            <a:r>
              <a:rPr lang="en-US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 휴리스틱(내 4/3/2 연결 보너스, 상대 3/2 연결 패널티) 덕분에 짧은 전술을 빠르게 탐지함</a:t>
            </a:r>
            <a:endParaRPr>
              <a:solidFill>
                <a:srgbClr val="4A90E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Char char="●"/>
            </a:pPr>
            <a:r>
              <a:rPr b="1" lang="en-US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단점:</a:t>
            </a:r>
            <a:r>
              <a:rPr lang="en-US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 알파-베타 가지치기가 없어 깊이를 크게 늘리기 어렵고, 휴리스틱 품질·LOOKAHEAD_DEPTH 설정에 민감함</a:t>
            </a:r>
            <a:endParaRPr>
              <a:solidFill>
                <a:srgbClr val="EF444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Char char="●"/>
            </a:pPr>
            <a:r>
              <a:rPr b="1" lang="en-US">
                <a:solidFill>
                  <a:srgbClr val="52586B"/>
                </a:solidFill>
                <a:latin typeface="Noto Sans KR"/>
                <a:ea typeface="Noto Sans KR"/>
                <a:cs typeface="Noto Sans KR"/>
                <a:sym typeface="Noto Sans KR"/>
              </a:rPr>
              <a:t>주 용도:</a:t>
            </a:r>
            <a:r>
              <a:rPr lang="en-US">
                <a:solidFill>
                  <a:srgbClr val="52586B"/>
                </a:solidFill>
                <a:latin typeface="Noto Sans KR"/>
                <a:ea typeface="Noto Sans KR"/>
                <a:cs typeface="Noto Sans KR"/>
                <a:sym typeface="Noto Sans KR"/>
              </a:rPr>
              <a:t> 빠른 시뮬레이터가 있고 전술 깊이를 2~4수 정도만 확장해도 충분한 ConnectX/Connect4류 환경</a:t>
            </a:r>
            <a:endParaRPr>
              <a:solidFill>
                <a:srgbClr val="52586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338" name="Google Shape;338;p12"/>
          <p:cNvPicPr preferRelativeResize="0"/>
          <p:nvPr/>
        </p:nvPicPr>
        <p:blipFill rotWithShape="1">
          <a:blip r:embed="rId3">
            <a:alphaModFix/>
          </a:blip>
          <a:srcRect b="-556" l="0" r="0" t="-555"/>
          <a:stretch/>
        </p:blipFill>
        <p:spPr>
          <a:xfrm>
            <a:off x="1027527" y="2942302"/>
            <a:ext cx="123444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"/>
          <p:cNvSpPr txBox="1"/>
          <p:nvPr/>
        </p:nvSpPr>
        <p:spPr>
          <a:xfrm>
            <a:off x="1318327" y="2803776"/>
            <a:ext cx="10122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설정 파라미터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2309530" y="2832119"/>
            <a:ext cx="1472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ourier New"/>
                <a:ea typeface="Courier New"/>
                <a:cs typeface="Courier New"/>
                <a:sym typeface="Courier New"/>
              </a:rPr>
              <a:t>LOOKAHEAD_DEPTH =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1" name="Google Shape;34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5619" y="2937277"/>
            <a:ext cx="142646" cy="14264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2"/>
          <p:cNvSpPr txBox="1"/>
          <p:nvPr/>
        </p:nvSpPr>
        <p:spPr>
          <a:xfrm>
            <a:off x="4173994" y="2798751"/>
            <a:ext cx="7269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제약사항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 txBox="1"/>
          <p:nvPr/>
        </p:nvSpPr>
        <p:spPr>
          <a:xfrm>
            <a:off x="4768357" y="2832131"/>
            <a:ext cx="31107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알파-베타 가지치기 미사용</a:t>
            </a: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깊이 증가 시 연산량 급증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/>
          <p:nvPr/>
        </p:nvSpPr>
        <p:spPr>
          <a:xfrm>
            <a:off x="6096305" y="0"/>
            <a:ext cx="6096300" cy="6858000"/>
          </a:xfrm>
          <a:prstGeom prst="rect">
            <a:avLst/>
          </a:prstGeom>
          <a:solidFill>
            <a:srgbClr val="DBEAFE">
              <a:alpha val="4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"/>
          <p:cNvSpPr txBox="1"/>
          <p:nvPr/>
        </p:nvSpPr>
        <p:spPr>
          <a:xfrm>
            <a:off x="571500" y="381300"/>
            <a:ext cx="78372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N</a:t>
            </a: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-Step Lookahead</a:t>
            </a:r>
            <a:r>
              <a:rPr b="1" lang="en-US" sz="240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 State,Action,Reward 설계</a:t>
            </a:r>
            <a:endParaRPr b="1" sz="2700">
              <a:solidFill>
                <a:srgbClr val="1E3A8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571500" y="1238098"/>
            <a:ext cx="6400800" cy="1619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571500" y="1238098"/>
            <a:ext cx="57600" cy="1619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857707" y="1505102"/>
            <a:ext cx="304500" cy="304500"/>
          </a:xfrm>
          <a:prstGeom prst="roundRect">
            <a:avLst>
              <a:gd fmla="val 7507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602" y="1580998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3"/>
          <p:cNvSpPr/>
          <p:nvPr/>
        </p:nvSpPr>
        <p:spPr>
          <a:xfrm>
            <a:off x="571500" y="3047695"/>
            <a:ext cx="6400800" cy="1619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571500" y="3047695"/>
            <a:ext cx="57600" cy="1619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857707" y="3314700"/>
            <a:ext cx="304500" cy="304500"/>
          </a:xfrm>
          <a:prstGeom prst="roundRect">
            <a:avLst>
              <a:gd fmla="val 7507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3"/>
          <p:cNvPicPr preferRelativeResize="0"/>
          <p:nvPr/>
        </p:nvPicPr>
        <p:blipFill rotWithShape="1">
          <a:blip r:embed="rId4">
            <a:alphaModFix/>
          </a:blip>
          <a:srcRect b="0" l="-30" r="-40" t="0"/>
          <a:stretch/>
        </p:blipFill>
        <p:spPr>
          <a:xfrm>
            <a:off x="923544" y="3390595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/>
          <p:nvPr/>
        </p:nvSpPr>
        <p:spPr>
          <a:xfrm>
            <a:off x="571500" y="4858207"/>
            <a:ext cx="6400800" cy="1619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571500" y="4858207"/>
            <a:ext cx="57600" cy="1619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857707" y="5124298"/>
            <a:ext cx="304500" cy="304500"/>
          </a:xfrm>
          <a:prstGeom prst="roundRect">
            <a:avLst>
              <a:gd fmla="val 7507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2" name="Google Shape;362;p13"/>
          <p:cNvPicPr preferRelativeResize="0"/>
          <p:nvPr/>
        </p:nvPicPr>
        <p:blipFill rotWithShape="1">
          <a:blip r:embed="rId5">
            <a:alphaModFix/>
          </a:blip>
          <a:srcRect b="0" l="-30" r="-40" t="0"/>
          <a:stretch/>
        </p:blipFill>
        <p:spPr>
          <a:xfrm>
            <a:off x="923544" y="5201107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/>
          <p:nvPr/>
        </p:nvSpPr>
        <p:spPr>
          <a:xfrm>
            <a:off x="7353605" y="1238098"/>
            <a:ext cx="4267500" cy="5238600"/>
          </a:xfrm>
          <a:prstGeom prst="roundRect">
            <a:avLst>
              <a:gd fmla="val 765" name="adj"/>
            </a:avLst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292100" rotWithShape="0" algn="bl" dir="5400000" dist="101600">
              <a:srgbClr val="2563EB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7667244" y="2048256"/>
            <a:ext cx="3638400" cy="1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3"/>
          <p:cNvPicPr preferRelativeResize="0"/>
          <p:nvPr/>
        </p:nvPicPr>
        <p:blipFill rotWithShape="1">
          <a:blip r:embed="rId6">
            <a:alphaModFix/>
          </a:blip>
          <a:srcRect b="0" l="-130" r="-140" t="0"/>
          <a:stretch/>
        </p:blipFill>
        <p:spPr>
          <a:xfrm>
            <a:off x="7667244" y="1609344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3"/>
          <p:cNvSpPr txBox="1"/>
          <p:nvPr/>
        </p:nvSpPr>
        <p:spPr>
          <a:xfrm>
            <a:off x="7953451" y="1552651"/>
            <a:ext cx="1772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포인트 요약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7" name="Google Shape;36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67244" y="2562149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8" name="Google Shape;36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67244" y="3471977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9" name="Google Shape;36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67244" y="4381805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0" name="Google Shape;370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67244" y="529071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3"/>
          <p:cNvSpPr txBox="1"/>
          <p:nvPr/>
        </p:nvSpPr>
        <p:spPr>
          <a:xfrm>
            <a:off x="1276502" y="1514246"/>
            <a:ext cx="158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State (상태 표현)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 txBox="1"/>
          <p:nvPr/>
        </p:nvSpPr>
        <p:spPr>
          <a:xfrm>
            <a:off x="857707" y="1914754"/>
            <a:ext cx="58989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환경(Environment)에서 제공하는 1차원 리스트 형태의 보드 데이터를 분석하기 쉬운 (rows, columns) 형태의 2차원 배열로 변환.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3" name="Google Shape;373;p13"/>
          <p:cNvSpPr txBox="1"/>
          <p:nvPr/>
        </p:nvSpPr>
        <p:spPr>
          <a:xfrm>
            <a:off x="1276502" y="3323844"/>
            <a:ext cx="169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Action (행동 선택)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857700" y="3724350"/>
            <a:ext cx="59748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가능한 모든 열에 대해 LOOKAHEAD_DEPTH=3까지 순수 Minimax를 재귀 호출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내 턴에는 점수 최대화(Max), 상대 턴에는 최소화(Min) 전략을 적용하여 깊이 제한 내의 모든 경우의 수를 탐색합니다. 최고 점수를 얻은 열들 중 하나를 무작위로 선택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가능한 action : 첫번째 열 ~ 여섯번째 열을 선택</a:t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1276502" y="5134356"/>
            <a:ext cx="181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(보상 체계)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 txBox="1"/>
          <p:nvPr/>
        </p:nvSpPr>
        <p:spPr>
          <a:xfrm>
            <a:off x="857707" y="5533949"/>
            <a:ext cx="5946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PATTERN_SCORE 딕셔너리를 통해 내 4/3/2목과 상대 3/2목에 대한 가중치를 정의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 iter_all_windows 함수로 생성된 모든 윈도우를 순회하며 점수를 누적하여, </a:t>
            </a:r>
            <a:endParaRPr b="0" i="0" sz="1100" u="none" cap="none" strike="noStrike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보드 상태의 유불리를 정량적으로 평가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 txBox="1"/>
          <p:nvPr/>
        </p:nvSpPr>
        <p:spPr>
          <a:xfrm>
            <a:off x="7991856" y="2523744"/>
            <a:ext cx="1493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Recursive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 txBox="1"/>
          <p:nvPr/>
        </p:nvSpPr>
        <p:spPr>
          <a:xfrm>
            <a:off x="7991856" y="2805379"/>
            <a:ext cx="32727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LOOKAHEAD_DEPTH=3 설정을 통해 3수 앞까지의 미래 상태를 예측하여 의사결정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 txBox="1"/>
          <p:nvPr/>
        </p:nvSpPr>
        <p:spPr>
          <a:xfrm>
            <a:off x="7991856" y="3433572"/>
            <a:ext cx="12747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Minimax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7991856" y="3715207"/>
            <a:ext cx="3357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알파-베타 가지치기 없이 전체 게임 트리를 순수하게 탐색하는 Minimax 알고리즘 적용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7991856" y="4343400"/>
            <a:ext cx="1197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Score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 txBox="1"/>
          <p:nvPr/>
        </p:nvSpPr>
        <p:spPr>
          <a:xfrm>
            <a:off x="7991856" y="4624121"/>
            <a:ext cx="33009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내 4연속(+1M)과 상대 3연속(-50k) 등 공격과 수비의 가중치 균형을 계산에 반영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 txBox="1"/>
          <p:nvPr/>
        </p:nvSpPr>
        <p:spPr>
          <a:xfrm>
            <a:off x="7991856" y="5253228"/>
            <a:ext cx="1950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Exhaustive Exploration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 txBox="1"/>
          <p:nvPr/>
        </p:nvSpPr>
        <p:spPr>
          <a:xfrm>
            <a:off x="7991856" y="5533949"/>
            <a:ext cx="3387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깊이 제한 내의 모든 가능한 수를 완전히 탐색하여 해당 깊이에서의 최적해 보장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 txBox="1"/>
          <p:nvPr/>
        </p:nvSpPr>
        <p:spPr>
          <a:xfrm>
            <a:off x="571500" y="914400"/>
            <a:ext cx="2986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State, Action, Reward 구조 심층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4"/>
          <p:cNvSpPr txBox="1"/>
          <p:nvPr/>
        </p:nvSpPr>
        <p:spPr>
          <a:xfrm>
            <a:off x="571500" y="381300"/>
            <a:ext cx="931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N-Step Lookahead -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탐색 깊이 설정 및 재귀적 탐색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571500" y="914400"/>
            <a:ext cx="4567428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트리를 탐색하여 최적의 수를 결정하는 미니맥스 알고리즘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571500" y="1262786"/>
            <a:ext cx="4229100" cy="15910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571500" y="1262786"/>
            <a:ext cx="47549" cy="159105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8" name="Google Shape;398;p14"/>
          <p:cNvPicPr preferRelativeResize="0"/>
          <p:nvPr/>
        </p:nvPicPr>
        <p:blipFill rotWithShape="1">
          <a:blip r:embed="rId3">
            <a:alphaModFix/>
          </a:blip>
          <a:srcRect b="0" l="-1282" r="-1282" t="0"/>
          <a:stretch/>
        </p:blipFill>
        <p:spPr>
          <a:xfrm>
            <a:off x="847649" y="1538935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4"/>
          <p:cNvSpPr txBox="1"/>
          <p:nvPr/>
        </p:nvSpPr>
        <p:spPr>
          <a:xfrm>
            <a:off x="1181394" y="1491375"/>
            <a:ext cx="32433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깊이 설정 및 재귀</a:t>
            </a: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적 탐색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571500" y="3137306"/>
            <a:ext cx="4229100" cy="790956"/>
          </a:xfrm>
          <a:prstGeom prst="roundRect">
            <a:avLst>
              <a:gd fmla="val 111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733349" y="3342132"/>
            <a:ext cx="381305" cy="381305"/>
          </a:xfrm>
          <a:prstGeom prst="ellipse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2" name="Google Shape;402;p14"/>
          <p:cNvPicPr preferRelativeResize="0"/>
          <p:nvPr/>
        </p:nvPicPr>
        <p:blipFill rotWithShape="1">
          <a:blip r:embed="rId4">
            <a:alphaModFix/>
          </a:blip>
          <a:srcRect b="0" l="-1773" r="-1773" t="0"/>
          <a:stretch/>
        </p:blipFill>
        <p:spPr>
          <a:xfrm>
            <a:off x="857707" y="3447288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4"/>
          <p:cNvSpPr/>
          <p:nvPr/>
        </p:nvSpPr>
        <p:spPr>
          <a:xfrm>
            <a:off x="571500" y="4080053"/>
            <a:ext cx="4229100" cy="790956"/>
          </a:xfrm>
          <a:prstGeom prst="roundRect">
            <a:avLst>
              <a:gd fmla="val 1114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733349" y="4284878"/>
            <a:ext cx="381305" cy="381305"/>
          </a:xfrm>
          <a:prstGeom prst="ellipse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5" name="Google Shape;405;p14"/>
          <p:cNvPicPr preferRelativeResize="0"/>
          <p:nvPr/>
        </p:nvPicPr>
        <p:blipFill rotWithShape="1">
          <a:blip r:embed="rId5">
            <a:alphaModFix/>
          </a:blip>
          <a:srcRect b="0" l="-1773" r="-1773" t="0"/>
          <a:stretch/>
        </p:blipFill>
        <p:spPr>
          <a:xfrm>
            <a:off x="857707" y="4390034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4"/>
          <p:cNvSpPr/>
          <p:nvPr/>
        </p:nvSpPr>
        <p:spPr>
          <a:xfrm>
            <a:off x="571500" y="5023714"/>
            <a:ext cx="4229100" cy="990295"/>
          </a:xfrm>
          <a:prstGeom prst="roundRect">
            <a:avLst>
              <a:gd fmla="val 710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733349" y="5328209"/>
            <a:ext cx="381305" cy="381305"/>
          </a:xfrm>
          <a:prstGeom prst="ellipse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8" name="Google Shape;408;p14"/>
          <p:cNvPicPr preferRelativeResize="0"/>
          <p:nvPr/>
        </p:nvPicPr>
        <p:blipFill rotWithShape="1">
          <a:blip r:embed="rId6">
            <a:alphaModFix/>
          </a:blip>
          <a:srcRect b="0" l="-760" r="-759" t="0"/>
          <a:stretch/>
        </p:blipFill>
        <p:spPr>
          <a:xfrm>
            <a:off x="847649" y="5433365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4"/>
          <p:cNvSpPr/>
          <p:nvPr/>
        </p:nvSpPr>
        <p:spPr>
          <a:xfrm>
            <a:off x="5277002" y="1143000"/>
            <a:ext cx="6344107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몇 수 앞까지 볼지 (minimax depth)</a:t>
            </a:r>
            <a:endParaRPr sz="10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LOOKAHEAD_DEPTH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sz="10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minimax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cur_player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depth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"""</a:t>
            </a:r>
            <a:endParaRPr sz="1000">
              <a:solidFill>
                <a:srgbClr val="CE917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    N-step minimax 탐색 (alpha-beta pruning 없는 단순 버전).</a:t>
            </a:r>
            <a:endParaRPr sz="1000">
              <a:solidFill>
                <a:srgbClr val="CE917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    """</a:t>
            </a:r>
            <a:endParaRPr sz="1000">
              <a:solidFill>
                <a:srgbClr val="CE917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playable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find_playable_columns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.flatten(),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(리프 노드 도달 시 점수 반환 코드 생략) …</a:t>
            </a:r>
            <a:endParaRPr sz="10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내 차례: 최대화</a:t>
            </a:r>
            <a:endParaRPr sz="10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cur_player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best_score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0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"inf"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0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playable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next_grid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drop_token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cur_player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value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minimax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next_grid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next_player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depth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best_score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max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best_score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value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0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best_score</a:t>
            </a:r>
            <a:endParaRPr sz="100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상대 차례: 최소화</a:t>
            </a:r>
            <a:endParaRPr sz="10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worst_score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"inf"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0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playable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next_grid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drop_token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cur_player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value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minimax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next_grid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next_player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depth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worst_score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min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worst_score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value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0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0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worst_score</a:t>
            </a:r>
            <a:endParaRPr b="1" sz="1000">
              <a:solidFill>
                <a:srgbClr val="4C4C4D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5277002" y="1143000"/>
            <a:ext cx="6344107" cy="43799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4"/>
          <p:cNvSpPr/>
          <p:nvPr/>
        </p:nvSpPr>
        <p:spPr>
          <a:xfrm>
            <a:off x="5277002" y="1571854"/>
            <a:ext cx="6344107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4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4"/>
          <p:cNvSpPr txBox="1"/>
          <p:nvPr/>
        </p:nvSpPr>
        <p:spPr>
          <a:xfrm>
            <a:off x="847649" y="1891894"/>
            <a:ext cx="3838651" cy="724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상태에서 LOOKAHEAD_DEPTH (3) 만큼 재귀적으로 트리를 내려가며, 나의 턴에는 최대 이득(Max), 상대 턴에는 최소 이득(Min)을 가정하여 값을 역전파</a:t>
            </a:r>
            <a:r>
              <a:rPr lang="en-US" sz="12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 txBox="1"/>
          <p:nvPr/>
        </p:nvSpPr>
        <p:spPr>
          <a:xfrm>
            <a:off x="1266444" y="3299155"/>
            <a:ext cx="18004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Maximizing Player (나)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 txBox="1"/>
          <p:nvPr/>
        </p:nvSpPr>
        <p:spPr>
          <a:xfrm>
            <a:off x="1266444" y="3566160"/>
            <a:ext cx="32433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자신에게 가장 유리한(점수가 높은) 수를 선택한다고 가정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 txBox="1"/>
          <p:nvPr/>
        </p:nvSpPr>
        <p:spPr>
          <a:xfrm>
            <a:off x="1266444" y="4241902"/>
            <a:ext cx="1905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Minimizing Player (상대)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 txBox="1"/>
          <p:nvPr/>
        </p:nvSpPr>
        <p:spPr>
          <a:xfrm>
            <a:off x="1266444" y="4508906"/>
            <a:ext cx="303397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나에게 가장 불리한(점수가 낮은) 수를 둘 것이라 가정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4"/>
          <p:cNvSpPr txBox="1"/>
          <p:nvPr/>
        </p:nvSpPr>
        <p:spPr>
          <a:xfrm>
            <a:off x="1266444" y="5185562"/>
            <a:ext cx="16386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Leaf Node (종료 조건)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 txBox="1"/>
          <p:nvPr/>
        </p:nvSpPr>
        <p:spPr>
          <a:xfrm>
            <a:off x="1266444" y="5451653"/>
            <a:ext cx="3471977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Depth=0 또는 게임 종료 시 휴리스틱 함수(evaluate)로 점수 반환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 txBox="1"/>
          <p:nvPr/>
        </p:nvSpPr>
        <p:spPr>
          <a:xfrm>
            <a:off x="6115507" y="1266444"/>
            <a:ext cx="2500884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submission_n_step_lookahead.py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5486400" y="0"/>
            <a:ext cx="67053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 txBox="1"/>
          <p:nvPr/>
        </p:nvSpPr>
        <p:spPr>
          <a:xfrm>
            <a:off x="571500" y="381305"/>
            <a:ext cx="606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N-Step Lookahea</a:t>
            </a: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 -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최종 에이전트 실행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571500" y="914400"/>
            <a:ext cx="4567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트리를 탐색하여 최적의 수를 결정하는 미니맥스 알고리즘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571500" y="1262770"/>
            <a:ext cx="4229100" cy="236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571500" y="1262770"/>
            <a:ext cx="47400" cy="2368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4" name="Google Shape;434;p15"/>
          <p:cNvPicPr preferRelativeResize="0"/>
          <p:nvPr/>
        </p:nvPicPr>
        <p:blipFill rotWithShape="1">
          <a:blip r:embed="rId3">
            <a:alphaModFix/>
          </a:blip>
          <a:srcRect b="0" l="-1282" r="-1282" t="0"/>
          <a:stretch/>
        </p:blipFill>
        <p:spPr>
          <a:xfrm>
            <a:off x="847649" y="1538935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5"/>
          <p:cNvSpPr txBox="1"/>
          <p:nvPr/>
        </p:nvSpPr>
        <p:spPr>
          <a:xfrm>
            <a:off x="1181405" y="1491386"/>
            <a:ext cx="1476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 실행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5277002" y="11430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my_agent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obs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"""미니맥스 기반 N-step lookahead agent."""</a:t>
            </a:r>
            <a:endParaRPr sz="1300">
              <a:solidFill>
                <a:srgbClr val="CE917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(보드 변환 생략)..</a:t>
            </a:r>
            <a:endParaRPr sz="13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{}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playable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next_grid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drop_token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minimax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next_grid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cur_player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depth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LOOKAHEAD_DEPTH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endParaRPr sz="130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최고 점수를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가진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행동 선택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best_score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max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values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best_cols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[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items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best_score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random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choice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best_cols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5"/>
          <p:cNvSpPr txBox="1"/>
          <p:nvPr/>
        </p:nvSpPr>
        <p:spPr>
          <a:xfrm>
            <a:off x="847650" y="1891906"/>
            <a:ext cx="38388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가능한 모든 수에 대해  Minimax 값을 계산하고 가장 </a:t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높은 값은 선택함</a:t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당장의 점수가 아니라, 3수 뒤의 미래 가치까지 고려된 점수를 기준으로 수행함</a:t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3" name="Google Shape;443;p15"/>
          <p:cNvSpPr txBox="1"/>
          <p:nvPr/>
        </p:nvSpPr>
        <p:spPr>
          <a:xfrm>
            <a:off x="6115507" y="1266444"/>
            <a:ext cx="25008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submission_n_step_lookahead.py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"/>
          <p:cNvSpPr/>
          <p:nvPr/>
        </p:nvSpPr>
        <p:spPr>
          <a:xfrm>
            <a:off x="761850" y="2262214"/>
            <a:ext cx="10668300" cy="34407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아이디어: </a:t>
            </a:r>
            <a:r>
              <a:rPr lang="en-US">
                <a:solidFill>
                  <a:srgbClr val="52586B"/>
                </a:solidFill>
              </a:rPr>
              <a:t>정책·가치망으로 자가대국을 학습하고, 결정 시 정책 priors+가치로 MCTS를 가이드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장점: </a:t>
            </a:r>
            <a:r>
              <a:rPr lang="en-US">
                <a:solidFill>
                  <a:srgbClr val="4A90E2"/>
                </a:solidFill>
              </a:rPr>
              <a:t>탐색 집중으로 강한 수, 가치망이 롤아웃 깊이 감소, 정책 prior로 유망 수에 집중</a:t>
            </a:r>
            <a:endParaRPr>
              <a:solidFill>
                <a:srgbClr val="4A90E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227272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Noto Sans KR"/>
              <a:buChar char="●"/>
            </a:pPr>
            <a:r>
              <a:rPr b="1" lang="en-US">
                <a:solidFill>
                  <a:srgbClr val="EF4444"/>
                </a:solidFill>
              </a:rPr>
              <a:t>단점:</a:t>
            </a:r>
            <a:r>
              <a:rPr lang="en-US">
                <a:solidFill>
                  <a:srgbClr val="EF4444"/>
                </a:solidFill>
              </a:rPr>
              <a:t> 자가대국+수마다 탐색으로 비용 높음, 정확한 시뮬레이터 필요, 커리큘럼·온폴리시 데이터 품질 중요.</a:t>
            </a:r>
            <a:endParaRPr>
              <a:solidFill>
                <a:srgbClr val="EF444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주 용도: </a:t>
            </a:r>
            <a:r>
              <a:rPr lang="en-US">
                <a:solidFill>
                  <a:srgbClr val="52586B"/>
                </a:solidFill>
              </a:rPr>
              <a:t>추론 시 탐색 계산을 감당하며 플레이 품질을 극대화하려는 경우</a:t>
            </a:r>
            <a:endParaRPr>
              <a:solidFill>
                <a:srgbClr val="4C4C4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2586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761702" y="476400"/>
            <a:ext cx="101922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700"/>
              <a:buFont typeface="Noto Sans KR"/>
              <a:buNone/>
            </a:pP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MCTS + Heuristic AlphaZero-style</a:t>
            </a:r>
            <a:r>
              <a:rPr b="1" i="0" lang="en-US" sz="27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 txBox="1"/>
          <p:nvPr/>
        </p:nvSpPr>
        <p:spPr>
          <a:xfrm>
            <a:off x="761695" y="1019556"/>
            <a:ext cx="3748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휴리스틱 기반 위협 감지와 MCTS 탐색의 결합 구조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"/>
          <p:cNvSpPr/>
          <p:nvPr/>
        </p:nvSpPr>
        <p:spPr>
          <a:xfrm>
            <a:off x="6096305" y="0"/>
            <a:ext cx="6096300" cy="6858000"/>
          </a:xfrm>
          <a:prstGeom prst="rect">
            <a:avLst/>
          </a:prstGeom>
          <a:solidFill>
            <a:srgbClr val="DBEAFE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7"/>
          <p:cNvSpPr txBox="1"/>
          <p:nvPr/>
        </p:nvSpPr>
        <p:spPr>
          <a:xfrm>
            <a:off x="571500" y="381300"/>
            <a:ext cx="1042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700"/>
              <a:buFont typeface="Noto Sans KR"/>
              <a:buNone/>
            </a:pP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MCTS + Heuristic AlphaZero-style </a:t>
            </a:r>
            <a:r>
              <a:rPr b="1" lang="en-US" sz="240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State,Action,Reward 설계</a:t>
            </a:r>
            <a:endParaRPr b="1" sz="27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571500" y="1217414"/>
            <a:ext cx="5333700" cy="1209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571500" y="1217414"/>
            <a:ext cx="47400" cy="1209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809244" y="1407609"/>
            <a:ext cx="304500" cy="304500"/>
          </a:xfrm>
          <a:prstGeom prst="roundRect">
            <a:avLst>
              <a:gd fmla="val 7507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2" name="Google Shape;4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198" y="1493563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7"/>
          <p:cNvSpPr/>
          <p:nvPr/>
        </p:nvSpPr>
        <p:spPr>
          <a:xfrm>
            <a:off x="571500" y="2617360"/>
            <a:ext cx="53337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7"/>
          <p:cNvSpPr/>
          <p:nvPr/>
        </p:nvSpPr>
        <p:spPr>
          <a:xfrm>
            <a:off x="571500" y="2617360"/>
            <a:ext cx="47400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809244" y="2808470"/>
            <a:ext cx="304500" cy="304500"/>
          </a:xfrm>
          <a:prstGeom prst="roundRect">
            <a:avLst>
              <a:gd fmla="val 7507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6" name="Google Shape;466;p17"/>
          <p:cNvPicPr preferRelativeResize="0"/>
          <p:nvPr/>
        </p:nvPicPr>
        <p:blipFill rotWithShape="1">
          <a:blip r:embed="rId4">
            <a:alphaModFix/>
          </a:blip>
          <a:srcRect b="-1093" l="0" r="0" t="-1103"/>
          <a:stretch/>
        </p:blipFill>
        <p:spPr>
          <a:xfrm>
            <a:off x="905256" y="2893509"/>
            <a:ext cx="114300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7"/>
          <p:cNvSpPr/>
          <p:nvPr/>
        </p:nvSpPr>
        <p:spPr>
          <a:xfrm>
            <a:off x="571500" y="4637270"/>
            <a:ext cx="5333700" cy="14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7"/>
          <p:cNvSpPr/>
          <p:nvPr/>
        </p:nvSpPr>
        <p:spPr>
          <a:xfrm>
            <a:off x="571500" y="4637270"/>
            <a:ext cx="47400" cy="1429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7"/>
          <p:cNvSpPr/>
          <p:nvPr/>
        </p:nvSpPr>
        <p:spPr>
          <a:xfrm>
            <a:off x="809244" y="4827465"/>
            <a:ext cx="304500" cy="304500"/>
          </a:xfrm>
          <a:prstGeom prst="roundRect">
            <a:avLst>
              <a:gd fmla="val 7507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17"/>
          <p:cNvPicPr preferRelativeResize="0"/>
          <p:nvPr/>
        </p:nvPicPr>
        <p:blipFill rotWithShape="1">
          <a:blip r:embed="rId5">
            <a:alphaModFix/>
          </a:blip>
          <a:srcRect b="0" l="-833" r="-843" t="0"/>
          <a:stretch/>
        </p:blipFill>
        <p:spPr>
          <a:xfrm>
            <a:off x="886054" y="4913419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7"/>
          <p:cNvSpPr/>
          <p:nvPr/>
        </p:nvSpPr>
        <p:spPr>
          <a:xfrm>
            <a:off x="6286500" y="1143000"/>
            <a:ext cx="5333700" cy="5238600"/>
          </a:xfrm>
          <a:prstGeom prst="roundRect">
            <a:avLst>
              <a:gd fmla="val 508" name="adj"/>
            </a:avLst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292100" rotWithShape="0" algn="bl" dir="5400000" dist="101600">
              <a:srgbClr val="2563EB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7"/>
          <p:cNvSpPr/>
          <p:nvPr/>
        </p:nvSpPr>
        <p:spPr>
          <a:xfrm>
            <a:off x="6581851" y="1867205"/>
            <a:ext cx="4743900" cy="1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3" name="Google Shape;47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851" y="14859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7"/>
          <p:cNvSpPr txBox="1"/>
          <p:nvPr/>
        </p:nvSpPr>
        <p:spPr>
          <a:xfrm>
            <a:off x="6886346" y="1438351"/>
            <a:ext cx="20574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Key Logic Summary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5" name="Google Shape;475;p17"/>
          <p:cNvPicPr preferRelativeResize="0"/>
          <p:nvPr/>
        </p:nvPicPr>
        <p:blipFill rotWithShape="1">
          <a:blip r:embed="rId7">
            <a:alphaModFix/>
          </a:blip>
          <a:srcRect b="0" l="-833" r="-843" t="0"/>
          <a:stretch/>
        </p:blipFill>
        <p:spPr>
          <a:xfrm>
            <a:off x="6581851" y="2157070"/>
            <a:ext cx="152705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7"/>
          <p:cNvSpPr txBox="1"/>
          <p:nvPr/>
        </p:nvSpPr>
        <p:spPr>
          <a:xfrm>
            <a:off x="6810451" y="2124151"/>
            <a:ext cx="9573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감지 가능 패턴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6581851" y="2419502"/>
            <a:ext cx="2324400" cy="362100"/>
          </a:xfrm>
          <a:prstGeom prst="roundRect">
            <a:avLst>
              <a:gd fmla="val 398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8" name="Google Shape;47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5295" y="2550262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7"/>
          <p:cNvSpPr txBox="1"/>
          <p:nvPr/>
        </p:nvSpPr>
        <p:spPr>
          <a:xfrm>
            <a:off x="6826595" y="2505456"/>
            <a:ext cx="1236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O O O _ (연속 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9001354" y="2419502"/>
            <a:ext cx="2324400" cy="362100"/>
          </a:xfrm>
          <a:prstGeom prst="roundRect">
            <a:avLst>
              <a:gd fmla="val 398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1" name="Google Shape;48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24798" y="2550262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7"/>
          <p:cNvSpPr txBox="1"/>
          <p:nvPr/>
        </p:nvSpPr>
        <p:spPr>
          <a:xfrm>
            <a:off x="9245183" y="2505456"/>
            <a:ext cx="1065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O O _ O (2-1)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6581851" y="2872130"/>
            <a:ext cx="2324400" cy="362100"/>
          </a:xfrm>
          <a:prstGeom prst="roundRect">
            <a:avLst>
              <a:gd fmla="val 398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4" name="Google Shape;48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5295" y="3002890"/>
            <a:ext cx="95098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7"/>
          <p:cNvSpPr txBox="1"/>
          <p:nvPr/>
        </p:nvSpPr>
        <p:spPr>
          <a:xfrm>
            <a:off x="6826595" y="2957170"/>
            <a:ext cx="10653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O _ O O (1-2)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9001354" y="2872130"/>
            <a:ext cx="2324400" cy="362100"/>
          </a:xfrm>
          <a:prstGeom prst="roundRect">
            <a:avLst>
              <a:gd fmla="val 3987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p17"/>
          <p:cNvPicPr preferRelativeResize="0"/>
          <p:nvPr/>
        </p:nvPicPr>
        <p:blipFill rotWithShape="1">
          <a:blip r:embed="rId9">
            <a:alphaModFix/>
          </a:blip>
          <a:srcRect b="-864" l="0" r="0" t="-874"/>
          <a:stretch/>
        </p:blipFill>
        <p:spPr>
          <a:xfrm>
            <a:off x="9124798" y="3002890"/>
            <a:ext cx="105156" cy="95098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7"/>
          <p:cNvSpPr txBox="1"/>
          <p:nvPr/>
        </p:nvSpPr>
        <p:spPr>
          <a:xfrm>
            <a:off x="9255242" y="2957170"/>
            <a:ext cx="9885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Fira Code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Fira Code"/>
                <a:ea typeface="Fira Code"/>
                <a:cs typeface="Fira Code"/>
                <a:sym typeface="Fira Code"/>
              </a:rPr>
              <a:t>다중 승리 루트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9" name="Google Shape;489;p17"/>
          <p:cNvPicPr preferRelativeResize="0"/>
          <p:nvPr/>
        </p:nvPicPr>
        <p:blipFill rotWithShape="1">
          <a:blip r:embed="rId10">
            <a:alphaModFix/>
          </a:blip>
          <a:srcRect b="0" l="-3429" r="-3419" t="0"/>
          <a:stretch/>
        </p:blipFill>
        <p:spPr>
          <a:xfrm>
            <a:off x="6581851" y="3500323"/>
            <a:ext cx="14264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7"/>
          <p:cNvSpPr txBox="1"/>
          <p:nvPr/>
        </p:nvSpPr>
        <p:spPr>
          <a:xfrm>
            <a:off x="6801307" y="3467405"/>
            <a:ext cx="17676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RETURNS 매핑 (위협 수준)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6581851" y="4115714"/>
            <a:ext cx="3813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6963156" y="4115714"/>
            <a:ext cx="4362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7"/>
          <p:cNvSpPr/>
          <p:nvPr/>
        </p:nvSpPr>
        <p:spPr>
          <a:xfrm>
            <a:off x="6581851" y="4472330"/>
            <a:ext cx="3813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7"/>
          <p:cNvSpPr/>
          <p:nvPr/>
        </p:nvSpPr>
        <p:spPr>
          <a:xfrm>
            <a:off x="6963156" y="4472330"/>
            <a:ext cx="4362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6581851" y="4834433"/>
            <a:ext cx="3813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6963156" y="4834433"/>
            <a:ext cx="4362600" cy="9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7"/>
          <p:cNvSpPr txBox="1"/>
          <p:nvPr/>
        </p:nvSpPr>
        <p:spPr>
          <a:xfrm>
            <a:off x="1228954" y="1431384"/>
            <a:ext cx="1424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State (상태 표현)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 txBox="1"/>
          <p:nvPr/>
        </p:nvSpPr>
        <p:spPr>
          <a:xfrm>
            <a:off x="1228954" y="1808116"/>
            <a:ext cx="4546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환경(Environment)에서 제공하는 1차원 리스트 형태의 보드 데이터를 분석하기 쉬운 (rows, columns) 형태의 2차원 배열로 변환.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9" name="Google Shape;499;p17"/>
          <p:cNvSpPr txBox="1"/>
          <p:nvPr/>
        </p:nvSpPr>
        <p:spPr>
          <a:xfrm>
            <a:off x="1228954" y="2832244"/>
            <a:ext cx="1843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Action (행동 우선순위)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 txBox="1"/>
          <p:nvPr/>
        </p:nvSpPr>
        <p:spPr>
          <a:xfrm>
            <a:off x="1228954" y="3208063"/>
            <a:ext cx="29271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탐색 전, 치명적인 수를 먼저 필터링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 txBox="1"/>
          <p:nvPr/>
        </p:nvSpPr>
        <p:spPr>
          <a:xfrm>
            <a:off x="1228954" y="4851240"/>
            <a:ext cx="2148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(개선된 위협 로직)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 txBox="1"/>
          <p:nvPr/>
        </p:nvSpPr>
        <p:spPr>
          <a:xfrm>
            <a:off x="1228954" y="5227058"/>
            <a:ext cx="45849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내가 두지 않은 열(Column)까지 포함하여, 4칸 윈도우 내 상대 돌의 개수를 기반으로 승리 패턴 가능성을 정밀 검사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b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연속뿐만 아니라 징검다리 형태의 위협도 평가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 txBox="1"/>
          <p:nvPr/>
        </p:nvSpPr>
        <p:spPr>
          <a:xfrm>
            <a:off x="6581851" y="3847795"/>
            <a:ext cx="1866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Fira Code"/>
              <a:buNone/>
            </a:pPr>
            <a:r>
              <a:rPr b="1" i="0" lang="en-US" sz="1000" u="none" cap="none" strike="noStrike">
                <a:solidFill>
                  <a:srgbClr val="DC2626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 txBox="1"/>
          <p:nvPr/>
        </p:nvSpPr>
        <p:spPr>
          <a:xfrm>
            <a:off x="6963156" y="3838651"/>
            <a:ext cx="31290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치명적 위협 상대가 3개를 이미 둠, 여기 두면 상대 승리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 txBox="1"/>
          <p:nvPr/>
        </p:nvSpPr>
        <p:spPr>
          <a:xfrm>
            <a:off x="6581851" y="4209898"/>
            <a:ext cx="1866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Fira Code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 txBox="1"/>
          <p:nvPr/>
        </p:nvSpPr>
        <p:spPr>
          <a:xfrm>
            <a:off x="6963156" y="4200754"/>
            <a:ext cx="28629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잠재적 위협 상대가 2개를 이미 둠 (징검다리 포함)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 txBox="1"/>
          <p:nvPr/>
        </p:nvSpPr>
        <p:spPr>
          <a:xfrm>
            <a:off x="6581851" y="4572000"/>
            <a:ext cx="1866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Fira Code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 txBox="1"/>
          <p:nvPr/>
        </p:nvSpPr>
        <p:spPr>
          <a:xfrm>
            <a:off x="6963156" y="4562856"/>
            <a:ext cx="2415000" cy="1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위협 없음 해당 위치는 당장 위험하지 않음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 txBox="1"/>
          <p:nvPr/>
        </p:nvSpPr>
        <p:spPr>
          <a:xfrm>
            <a:off x="1371600" y="3424428"/>
            <a:ext cx="2565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0. 즉시 승리: 바로 게임을 끝낼 수 있는 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 txBox="1"/>
          <p:nvPr/>
        </p:nvSpPr>
        <p:spPr>
          <a:xfrm>
            <a:off x="1371600" y="3676802"/>
            <a:ext cx="31839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1. 즉시 패배 방어: 상대의 승리를 막는 수 (안전장치)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 txBox="1"/>
          <p:nvPr/>
        </p:nvSpPr>
        <p:spPr>
          <a:xfrm>
            <a:off x="1371600" y="3929177"/>
            <a:ext cx="33651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2. MCTS: 위 상황이 아닐 때 몬테카를로 트리 탐색 수행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 txBox="1"/>
          <p:nvPr/>
        </p:nvSpPr>
        <p:spPr>
          <a:xfrm>
            <a:off x="571500" y="914400"/>
            <a:ext cx="2986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State, Action, Reward 구조 심층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 txBox="1"/>
          <p:nvPr/>
        </p:nvSpPr>
        <p:spPr>
          <a:xfrm>
            <a:off x="802950" y="3906663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가능한 action : 첫번째 열 ~ 여섯번째 열을 선택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8"/>
          <p:cNvSpPr/>
          <p:nvPr/>
        </p:nvSpPr>
        <p:spPr>
          <a:xfrm>
            <a:off x="5486400" y="0"/>
            <a:ext cx="67053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8"/>
          <p:cNvSpPr txBox="1"/>
          <p:nvPr/>
        </p:nvSpPr>
        <p:spPr>
          <a:xfrm>
            <a:off x="571500" y="381300"/>
            <a:ext cx="1115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MCTS + Heuristic AlphaZero-style</a:t>
            </a: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 -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정책과 위협 감지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 txBox="1"/>
          <p:nvPr/>
        </p:nvSpPr>
        <p:spPr>
          <a:xfrm>
            <a:off x="571500" y="914400"/>
            <a:ext cx="4567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휴리스틱 기반 위협 감지와 MCTS 탐색의 결합 구조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571500" y="1262770"/>
            <a:ext cx="4229100" cy="236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8"/>
          <p:cNvSpPr/>
          <p:nvPr/>
        </p:nvSpPr>
        <p:spPr>
          <a:xfrm>
            <a:off x="571500" y="1262770"/>
            <a:ext cx="47400" cy="2368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4" name="Google Shape;524;p18"/>
          <p:cNvPicPr preferRelativeResize="0"/>
          <p:nvPr/>
        </p:nvPicPr>
        <p:blipFill rotWithShape="1">
          <a:blip r:embed="rId3">
            <a:alphaModFix/>
          </a:blip>
          <a:srcRect b="0" l="-1282" r="-1282" t="0"/>
          <a:stretch/>
        </p:blipFill>
        <p:spPr>
          <a:xfrm>
            <a:off x="847649" y="1538935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8"/>
          <p:cNvSpPr txBox="1"/>
          <p:nvPr/>
        </p:nvSpPr>
        <p:spPr>
          <a:xfrm>
            <a:off x="1181405" y="1491386"/>
            <a:ext cx="1476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핵심문제 해결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5277002" y="11430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get_policy_value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200">
              <a:solidFill>
                <a:srgbClr val="EFF6F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FF6FF"/>
                </a:solidFill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# ... (유효한 행동 조회) ...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action_scores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{}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 sz="12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new_grid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drop_piece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1. 공격: 즉시 승리 (최우선)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check_win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new_grid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action_scores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10000000</a:t>
            </a:r>
            <a:endParaRPr sz="12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continue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2. 방어: 윈도우 기반 위협 분석 (징검다리 포함)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threat_level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analyze_threat_window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opponent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threat_level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9000000</a:t>
            </a:r>
            <a:endParaRPr sz="12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   elif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threat_level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40000</a:t>
            </a:r>
            <a:endParaRPr sz="12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FF6FF"/>
                </a:solidFill>
                <a:latin typeface="Fira Code"/>
                <a:ea typeface="Fira Code"/>
                <a:cs typeface="Fira Code"/>
                <a:sym typeface="Fira Code"/>
              </a:rPr>
              <a:t>       </a:t>
            </a:r>
            <a:r>
              <a:rPr lang="en-US" sz="1200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... (전략적 점수, 연결성 점수 합산) ...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FF6FF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action_scores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score</a:t>
            </a:r>
            <a:r>
              <a:rPr lang="en-US" sz="1200">
                <a:solidFill>
                  <a:srgbClr val="EFF6FF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200">
              <a:solidFill>
                <a:srgbClr val="EFF6F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FF6F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FF6F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# Softmax를 통해 행동 확률(Policy)로 변환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# ... (Softmax 계산 및 Value 정규화) ...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FF6FF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policy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value</a:t>
            </a:r>
            <a:endParaRPr sz="1200">
              <a:solidFill>
                <a:srgbClr val="EFF6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8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8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8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8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8"/>
          <p:cNvSpPr txBox="1"/>
          <p:nvPr/>
        </p:nvSpPr>
        <p:spPr>
          <a:xfrm>
            <a:off x="847650" y="1891906"/>
            <a:ext cx="38388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신경망 대신, 위협 감지(Gap Detection)과 휴리스틱을 결합하여 현재 상태의 가치와 각 행동의 확률을 계산함</a:t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특히 상대방의 치명적인 공격 패턴을 감지하여 높은 점수를 부여함</a:t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3" name="Google Shape;533;p18"/>
          <p:cNvSpPr txBox="1"/>
          <p:nvPr/>
        </p:nvSpPr>
        <p:spPr>
          <a:xfrm>
            <a:off x="571500" y="4055550"/>
            <a:ext cx="4384500" cy="20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</a:rPr>
              <a:t>•</a:t>
            </a:r>
            <a:r>
              <a:rPr b="1" lang="en-US" sz="1050">
                <a:solidFill>
                  <a:srgbClr val="52586B"/>
                </a:solidFill>
              </a:rPr>
              <a:t>하이브리드 평가:</a:t>
            </a:r>
            <a:r>
              <a:rPr lang="en-US" sz="1050">
                <a:solidFill>
                  <a:srgbClr val="52586B"/>
                </a:solidFill>
              </a:rPr>
              <a:t> 딥러닝 모델 대신 정교한 룰 기반 평가 함수를 사용하여 Policy와 Value를 생성함</a:t>
            </a:r>
            <a:endParaRPr sz="105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</a:rPr>
              <a:t>•</a:t>
            </a:r>
            <a:r>
              <a:rPr b="1" lang="en-US" sz="1050">
                <a:solidFill>
                  <a:srgbClr val="52586B"/>
                </a:solidFill>
              </a:rPr>
              <a:t>위협 감지:</a:t>
            </a:r>
            <a:r>
              <a:rPr lang="en-US" sz="1050">
                <a:solidFill>
                  <a:srgbClr val="52586B"/>
                </a:solidFill>
              </a:rPr>
              <a:t> </a:t>
            </a:r>
            <a:r>
              <a:rPr lang="en-US" sz="1050">
                <a:solidFill>
                  <a:srgbClr val="52586B"/>
                </a:solidFill>
                <a:highlight>
                  <a:srgbClr val="F2F2F2"/>
                </a:highlight>
              </a:rPr>
              <a:t>analyze_threat_window</a:t>
            </a:r>
            <a:r>
              <a:rPr lang="en-US" sz="1050">
                <a:solidFill>
                  <a:srgbClr val="52586B"/>
                </a:solidFill>
              </a:rPr>
              <a:t> 함수를 통해 상대방의 연속된 돌뿐만 아니라 징검다리 형태의 위협까지 감지하여 방어 점수를 크게 부여함</a:t>
            </a:r>
            <a:endParaRPr sz="105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</a:rPr>
              <a:t>•</a:t>
            </a:r>
            <a:r>
              <a:rPr b="1" lang="en-US" sz="1050">
                <a:solidFill>
                  <a:srgbClr val="52586B"/>
                </a:solidFill>
              </a:rPr>
              <a:t>Softmax 변환:</a:t>
            </a:r>
            <a:r>
              <a:rPr lang="en-US" sz="1050">
                <a:solidFill>
                  <a:srgbClr val="52586B"/>
                </a:solidFill>
              </a:rPr>
              <a:t> 계산된 점수들을 Softmax 함수를 통과시켜 확률 분포 형태의 Policy로 변환하여 MCTS에 제공함</a:t>
            </a:r>
            <a:endParaRPr sz="1050">
              <a:solidFill>
                <a:srgbClr val="52586B"/>
              </a:solidFill>
            </a:endParaRPr>
          </a:p>
        </p:txBody>
      </p:sp>
      <p:sp>
        <p:nvSpPr>
          <p:cNvPr id="534" name="Google Shape;534;p18"/>
          <p:cNvSpPr txBox="1"/>
          <p:nvPr/>
        </p:nvSpPr>
        <p:spPr>
          <a:xfrm>
            <a:off x="6115494" y="1266450"/>
            <a:ext cx="46746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</a:t>
            </a:r>
            <a:r>
              <a:rPr lang="en-US" sz="10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_alphazero_mcts_gap_defense</a:t>
            </a: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9"/>
          <p:cNvSpPr/>
          <p:nvPr/>
        </p:nvSpPr>
        <p:spPr>
          <a:xfrm>
            <a:off x="5486400" y="0"/>
            <a:ext cx="67053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9"/>
          <p:cNvSpPr txBox="1"/>
          <p:nvPr/>
        </p:nvSpPr>
        <p:spPr>
          <a:xfrm>
            <a:off x="571500" y="381300"/>
            <a:ext cx="1115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MCTS + Heuristic AlphaZero-style</a:t>
            </a: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 -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시뮬레이션을 통한 최적의 수 탐색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 txBox="1"/>
          <p:nvPr/>
        </p:nvSpPr>
        <p:spPr>
          <a:xfrm>
            <a:off x="571500" y="914400"/>
            <a:ext cx="4567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휴리스틱 기반 위협 감지와 MCTS 탐색의 결합 구조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571500" y="1262770"/>
            <a:ext cx="4229100" cy="236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9"/>
          <p:cNvSpPr/>
          <p:nvPr/>
        </p:nvSpPr>
        <p:spPr>
          <a:xfrm>
            <a:off x="571500" y="1262770"/>
            <a:ext cx="47400" cy="2368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5" name="Google Shape;545;p19"/>
          <p:cNvPicPr preferRelativeResize="0"/>
          <p:nvPr/>
        </p:nvPicPr>
        <p:blipFill rotWithShape="1">
          <a:blip r:embed="rId3">
            <a:alphaModFix/>
          </a:blip>
          <a:srcRect b="0" l="-1282" r="-1282" t="0"/>
          <a:stretch/>
        </p:blipFill>
        <p:spPr>
          <a:xfrm>
            <a:off x="847649" y="1538935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9"/>
          <p:cNvSpPr txBox="1"/>
          <p:nvPr/>
        </p:nvSpPr>
        <p:spPr>
          <a:xfrm>
            <a:off x="1181405" y="1491386"/>
            <a:ext cx="1476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핵심문제 해결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5277002" y="11430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MCTSNode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200">
              <a:solidFill>
                <a:srgbClr val="569CD6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FF6FF"/>
                </a:solidFill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# ... (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초기화 생략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) …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</a:t>
            </a: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ucb_score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child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child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.visit_count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q_value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 sz="12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q_value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child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.value()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u_value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C_PUCT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child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.prior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math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sqrt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visit_count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/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(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child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.visit_count)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q_value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u_value</a:t>
            </a:r>
            <a:endParaRPr sz="120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expand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is_terminal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 sz="1200">
              <a:solidFill>
                <a:srgbClr val="C586C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policy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_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get_policy_value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get_valid_actions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.flatten().tolist(),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not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children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new_grid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drop_piece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prior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policy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get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1.0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/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len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children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MCTSNode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new_grid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prior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9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9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9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9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9"/>
          <p:cNvSpPr txBox="1"/>
          <p:nvPr/>
        </p:nvSpPr>
        <p:spPr>
          <a:xfrm>
            <a:off x="847650" y="1891906"/>
            <a:ext cx="38388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250">
                <a:solidFill>
                  <a:srgbClr val="52586B"/>
                </a:solidFill>
              </a:rPr>
              <a:t>Policy와 Value를 기반으로 </a:t>
            </a:r>
            <a:r>
              <a:rPr b="1" lang="en-US" sz="1250">
                <a:solidFill>
                  <a:srgbClr val="52586B"/>
                </a:solidFill>
              </a:rPr>
              <a:t>MCTS(Monte Carlo Tree Search)</a:t>
            </a:r>
            <a:r>
              <a:rPr lang="en-US" sz="1250">
                <a:solidFill>
                  <a:srgbClr val="52586B"/>
                </a:solidFill>
              </a:rPr>
              <a:t>를 수행하여 가장 유망한 수를 찾음</a:t>
            </a:r>
            <a:endParaRPr sz="1250">
              <a:solidFill>
                <a:srgbClr val="52586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b="1" sz="1250">
              <a:solidFill>
                <a:srgbClr val="52586B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b="1" lang="en-US" sz="1250">
                <a:solidFill>
                  <a:srgbClr val="52586B"/>
                </a:solidFill>
              </a:rPr>
              <a:t>UCB(Upper Confidence Bound)</a:t>
            </a:r>
            <a:r>
              <a:rPr lang="en-US" sz="1250">
                <a:solidFill>
                  <a:srgbClr val="52586B"/>
                </a:solidFill>
              </a:rPr>
              <a:t> 공식을 사용하여 탐험(Exploration)과 활용(Exploitation)의 균형을 맞춤</a:t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4" name="Google Shape;554;p19"/>
          <p:cNvSpPr txBox="1"/>
          <p:nvPr/>
        </p:nvSpPr>
        <p:spPr>
          <a:xfrm>
            <a:off x="571500" y="4055550"/>
            <a:ext cx="43845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b="1" lang="en-US" sz="1100">
                <a:solidFill>
                  <a:srgbClr val="52586B"/>
                </a:solidFill>
              </a:rPr>
              <a:t>Selection:</a:t>
            </a:r>
            <a:r>
              <a:rPr lang="en-US" sz="1100">
                <a:solidFill>
                  <a:srgbClr val="52586B"/>
                </a:solidFill>
              </a:rPr>
              <a:t> </a:t>
            </a:r>
            <a:r>
              <a:rPr lang="en-US" sz="1100">
                <a:solidFill>
                  <a:srgbClr val="52586B"/>
                </a:solidFill>
                <a:highlight>
                  <a:srgbClr val="F2F2F2"/>
                </a:highlight>
              </a:rPr>
              <a:t>ucb_score</a:t>
            </a:r>
            <a:r>
              <a:rPr lang="en-US" sz="1100">
                <a:solidFill>
                  <a:srgbClr val="52586B"/>
                </a:solidFill>
              </a:rPr>
              <a:t>가 가장 높은 자식 노드를 선택하여 트리를 내려갑니다. </a:t>
            </a:r>
            <a:r>
              <a:rPr lang="en-US" sz="1100">
                <a:solidFill>
                  <a:srgbClr val="52586B"/>
                </a:solidFill>
                <a:highlight>
                  <a:srgbClr val="F2F2F2"/>
                </a:highlight>
              </a:rPr>
              <a:t>C_PUCT</a:t>
            </a:r>
            <a:r>
              <a:rPr lang="en-US" sz="1100">
                <a:solidFill>
                  <a:srgbClr val="52586B"/>
                </a:solidFill>
              </a:rPr>
              <a:t> 상수로 탐험 정도를 조절함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8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b="1" lang="en-US" sz="1100">
                <a:solidFill>
                  <a:srgbClr val="52586B"/>
                </a:solidFill>
              </a:rPr>
              <a:t>Expansion:</a:t>
            </a:r>
            <a:r>
              <a:rPr lang="en-US" sz="1100">
                <a:solidFill>
                  <a:srgbClr val="52586B"/>
                </a:solidFill>
              </a:rPr>
              <a:t> 리프 노드에 도달하면 </a:t>
            </a:r>
            <a:r>
              <a:rPr lang="en-US" sz="1100">
                <a:solidFill>
                  <a:srgbClr val="52586B"/>
                </a:solidFill>
                <a:highlight>
                  <a:srgbClr val="F2F2F2"/>
                </a:highlight>
              </a:rPr>
              <a:t>get_policy_value</a:t>
            </a:r>
            <a:r>
              <a:rPr lang="en-US" sz="1100">
                <a:solidFill>
                  <a:srgbClr val="52586B"/>
                </a:solidFill>
              </a:rPr>
              <a:t>를 호출하여 자식 노드들을 확장하고 초기 확률(Prior)을 부여함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85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b="1" lang="en-US" sz="1100">
                <a:solidFill>
                  <a:srgbClr val="52586B"/>
                </a:solidFill>
              </a:rPr>
              <a:t>Backpropagation:</a:t>
            </a:r>
            <a:r>
              <a:rPr lang="en-US" sz="1100">
                <a:solidFill>
                  <a:srgbClr val="52586B"/>
                </a:solidFill>
              </a:rPr>
              <a:t> 시뮬레이션 결과(Value)를 부모 노드들로 전파하여 </a:t>
            </a:r>
            <a:r>
              <a:rPr lang="en-US" sz="1100">
                <a:solidFill>
                  <a:srgbClr val="52586B"/>
                </a:solidFill>
                <a:highlight>
                  <a:srgbClr val="F2F2F2"/>
                </a:highlight>
              </a:rPr>
              <a:t>visit_count</a:t>
            </a:r>
            <a:r>
              <a:rPr lang="en-US" sz="1100">
                <a:solidFill>
                  <a:srgbClr val="52586B"/>
                </a:solidFill>
              </a:rPr>
              <a:t>와 </a:t>
            </a:r>
            <a:r>
              <a:rPr lang="en-US" sz="1100">
                <a:solidFill>
                  <a:srgbClr val="52586B"/>
                </a:solidFill>
                <a:highlight>
                  <a:srgbClr val="F2F2F2"/>
                </a:highlight>
              </a:rPr>
              <a:t>value_sum</a:t>
            </a:r>
            <a:r>
              <a:rPr lang="en-US" sz="1100">
                <a:solidFill>
                  <a:srgbClr val="52586B"/>
                </a:solidFill>
              </a:rPr>
              <a:t>을 갱신함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55" name="Google Shape;555;p19"/>
          <p:cNvSpPr txBox="1"/>
          <p:nvPr/>
        </p:nvSpPr>
        <p:spPr>
          <a:xfrm>
            <a:off x="6115494" y="1266450"/>
            <a:ext cx="46746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</a:t>
            </a:r>
            <a:r>
              <a:rPr lang="en-US" sz="10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_alphazero_mcts_gap_defense</a:t>
            </a: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0"/>
          <p:cNvSpPr/>
          <p:nvPr/>
        </p:nvSpPr>
        <p:spPr>
          <a:xfrm>
            <a:off x="5486400" y="0"/>
            <a:ext cx="67053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0"/>
          <p:cNvSpPr txBox="1"/>
          <p:nvPr/>
        </p:nvSpPr>
        <p:spPr>
          <a:xfrm>
            <a:off x="571500" y="381300"/>
            <a:ext cx="1115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MCTS + Heuristic AlphaZero-style</a:t>
            </a: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-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MCTS와 안전장치의 결합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 txBox="1"/>
          <p:nvPr/>
        </p:nvSpPr>
        <p:spPr>
          <a:xfrm>
            <a:off x="571500" y="914400"/>
            <a:ext cx="4567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휴리스틱 기반 위협 감지와 MCTS 탐색의 결합 구조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571500" y="1262770"/>
            <a:ext cx="4229100" cy="236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0"/>
          <p:cNvSpPr/>
          <p:nvPr/>
        </p:nvSpPr>
        <p:spPr>
          <a:xfrm>
            <a:off x="571500" y="1262770"/>
            <a:ext cx="47400" cy="2368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6" name="Google Shape;566;p20"/>
          <p:cNvPicPr preferRelativeResize="0"/>
          <p:nvPr/>
        </p:nvPicPr>
        <p:blipFill rotWithShape="1">
          <a:blip r:embed="rId3">
            <a:alphaModFix/>
          </a:blip>
          <a:srcRect b="0" l="-1282" r="-1282" t="0"/>
          <a:stretch/>
        </p:blipFill>
        <p:spPr>
          <a:xfrm>
            <a:off x="847649" y="1538935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20"/>
          <p:cNvSpPr txBox="1"/>
          <p:nvPr/>
        </p:nvSpPr>
        <p:spPr>
          <a:xfrm>
            <a:off x="1181405" y="1491386"/>
            <a:ext cx="1476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핵심문제 해결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5277002" y="11430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my_agent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obs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to_grid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obs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.board,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obs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.mark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0. 즉시 승리</a:t>
            </a:r>
            <a:endParaRPr sz="105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get_valid_actions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obs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.board,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check_win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drop_piece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endParaRPr sz="105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1. 즉시 패배 방어 (한번 더 안전장치)</a:t>
            </a:r>
            <a:endParaRPr sz="105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opponent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endParaRPr sz="105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check_win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drop_piece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opponent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opponent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</a:t>
            </a:r>
            <a:endParaRPr sz="105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2. MCTS</a:t>
            </a:r>
            <a:endParaRPr sz="105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try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mcts_search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))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except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0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05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random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choice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0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0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))</a:t>
            </a:r>
            <a:endParaRPr sz="10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0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0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0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0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0"/>
          <p:cNvSpPr txBox="1"/>
          <p:nvPr/>
        </p:nvSpPr>
        <p:spPr>
          <a:xfrm>
            <a:off x="847650" y="1891906"/>
            <a:ext cx="38388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250">
                <a:solidFill>
                  <a:srgbClr val="52586B"/>
                </a:solidFill>
              </a:rPr>
              <a:t>MCTS 탐색 결과에 전적으로 의존하지 않고, </a:t>
            </a:r>
            <a:r>
              <a:rPr b="1" lang="en-US" sz="1250">
                <a:solidFill>
                  <a:srgbClr val="52586B"/>
                </a:solidFill>
              </a:rPr>
              <a:t>즉시 승리</a:t>
            </a:r>
            <a:r>
              <a:rPr lang="en-US" sz="1250">
                <a:solidFill>
                  <a:srgbClr val="52586B"/>
                </a:solidFill>
              </a:rPr>
              <a:t>와 </a:t>
            </a:r>
            <a:r>
              <a:rPr b="1" lang="en-US" sz="1250">
                <a:solidFill>
                  <a:srgbClr val="52586B"/>
                </a:solidFill>
              </a:rPr>
              <a:t>즉시 패배 방어</a:t>
            </a:r>
            <a:r>
              <a:rPr lang="en-US" sz="1250">
                <a:solidFill>
                  <a:srgbClr val="52586B"/>
                </a:solidFill>
              </a:rPr>
              <a:t>라는 안전장치를 최우선으로 적용하여 실수를 방지한 후, MCTS를 통해 가장 많이 방문한 수를 선택함</a:t>
            </a:r>
            <a:endParaRPr sz="125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5" name="Google Shape;575;p20"/>
          <p:cNvSpPr txBox="1"/>
          <p:nvPr/>
        </p:nvSpPr>
        <p:spPr>
          <a:xfrm>
            <a:off x="6115494" y="1266450"/>
            <a:ext cx="46746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</a:t>
            </a:r>
            <a:r>
              <a:rPr lang="en-US" sz="10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_alphazero_mcts_gap_defense</a:t>
            </a: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0"/>
          <p:cNvSpPr txBox="1"/>
          <p:nvPr/>
        </p:nvSpPr>
        <p:spPr>
          <a:xfrm>
            <a:off x="571500" y="4055550"/>
            <a:ext cx="43845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b="1" lang="en-US" sz="1100">
                <a:solidFill>
                  <a:srgbClr val="52586B"/>
                </a:solidFill>
              </a:rPr>
              <a:t>Rule-Based Safety:</a:t>
            </a:r>
            <a:r>
              <a:rPr lang="en-US" sz="1100">
                <a:solidFill>
                  <a:srgbClr val="52586B"/>
                </a:solidFill>
              </a:rPr>
              <a:t> MCTS 시뮬레이션 횟수가 부족할 경우 발생할 수 있는 치명적인 실수를 방지하기 위해, 1수 앞의 승리/패배는 룰 기반으로 즉시 처리함</a:t>
            </a:r>
            <a:endParaRPr sz="110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•</a:t>
            </a:r>
            <a:r>
              <a:rPr b="1" lang="en-US" sz="1100">
                <a:solidFill>
                  <a:srgbClr val="52586B"/>
                </a:solidFill>
              </a:rPr>
              <a:t>Robust Decision:</a:t>
            </a:r>
            <a:r>
              <a:rPr lang="en-US" sz="1100">
                <a:solidFill>
                  <a:srgbClr val="52586B"/>
                </a:solidFill>
              </a:rPr>
              <a:t> 위급한 상황이 아니라면 </a:t>
            </a:r>
            <a:r>
              <a:rPr lang="en-US" sz="1100">
                <a:solidFill>
                  <a:srgbClr val="52586B"/>
                </a:solidFill>
                <a:highlight>
                  <a:srgbClr val="F2F2F2"/>
                </a:highlight>
              </a:rPr>
              <a:t>mcts_search</a:t>
            </a:r>
            <a:r>
              <a:rPr lang="en-US" sz="1100">
                <a:solidFill>
                  <a:srgbClr val="52586B"/>
                </a:solidFill>
              </a:rPr>
              <a:t>를 통해 충분한 시뮬레이션을 거친 후, 가장 방문 횟수가 높은(Robust) 행동을 최종적으로 선택함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1"/>
          <p:cNvSpPr/>
          <p:nvPr/>
        </p:nvSpPr>
        <p:spPr>
          <a:xfrm>
            <a:off x="761850" y="1885183"/>
            <a:ext cx="10668300" cy="3440700"/>
          </a:xfrm>
          <a:prstGeom prst="roundRect">
            <a:avLst>
              <a:gd fmla="val 166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chemeClr val="dk1"/>
                </a:solidFill>
              </a:rPr>
              <a:t>아이디어: </a:t>
            </a:r>
            <a:r>
              <a:rPr lang="en-US">
                <a:solidFill>
                  <a:srgbClr val="52586B"/>
                </a:solidFill>
              </a:rPr>
              <a:t>추정값 f 주변의 0-창 알파-베타를 반복하며 TT로 재사용해 값 수렴.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rgbClr val="4A90E2"/>
                </a:solidFill>
              </a:rPr>
              <a:t>장점: </a:t>
            </a:r>
            <a:r>
              <a:rPr lang="en-US">
                <a:solidFill>
                  <a:srgbClr val="4A90E2"/>
                </a:solidFill>
              </a:rPr>
              <a:t>순수 알파-베타 대비 노드 확장 감소, 메모리 활용 극대화, 반복적 깊이 증가와 궁합</a:t>
            </a:r>
            <a:endParaRPr>
              <a:solidFill>
                <a:srgbClr val="4A90E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Noto Sans KR"/>
              <a:buChar char="●"/>
            </a:pPr>
            <a:r>
              <a:rPr b="1" lang="en-US">
                <a:solidFill>
                  <a:srgbClr val="EF4444"/>
                </a:solidFill>
              </a:rPr>
              <a:t>단점:</a:t>
            </a:r>
            <a:r>
              <a:rPr lang="en-US">
                <a:solidFill>
                  <a:srgbClr val="EF4444"/>
                </a:solidFill>
              </a:rPr>
              <a:t> </a:t>
            </a:r>
            <a:r>
              <a:rPr lang="en-US">
                <a:solidFill>
                  <a:srgbClr val="EF4444"/>
                </a:solidFill>
              </a:rPr>
              <a:t>초기 추정·TT 크기·수순 정렬에 민감, TT가 작거나 정렬이 나쁘면 thrash</a:t>
            </a:r>
            <a:r>
              <a:rPr lang="en-US">
                <a:solidFill>
                  <a:srgbClr val="EF4444"/>
                </a:solidFill>
              </a:rPr>
              <a:t>.</a:t>
            </a:r>
            <a:endParaRPr>
              <a:solidFill>
                <a:srgbClr val="EF4444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●"/>
            </a:pPr>
            <a:r>
              <a:rPr lang="en-US">
                <a:solidFill>
                  <a:schemeClr val="dk1"/>
                </a:solidFill>
              </a:rPr>
              <a:t>주 용도: </a:t>
            </a:r>
            <a:r>
              <a:rPr lang="en-US">
                <a:solidFill>
                  <a:srgbClr val="52586B"/>
                </a:solidFill>
              </a:rPr>
              <a:t>결정적 대전에서 강한 휴리스틱·수순 정렬·충분한 TT를 갖출 때.</a:t>
            </a:r>
            <a:endParaRPr>
              <a:solidFill>
                <a:srgbClr val="4C4C4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1"/>
          <p:cNvSpPr txBox="1"/>
          <p:nvPr/>
        </p:nvSpPr>
        <p:spPr>
          <a:xfrm>
            <a:off x="761702" y="476400"/>
            <a:ext cx="101922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700"/>
              <a:buFont typeface="Noto Sans KR"/>
              <a:buNone/>
            </a:pP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MTD(f)</a:t>
            </a:r>
            <a:r>
              <a:rPr b="1" i="0" lang="en-US" sz="27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1"/>
          <p:cNvSpPr txBox="1"/>
          <p:nvPr/>
        </p:nvSpPr>
        <p:spPr>
          <a:xfrm>
            <a:off x="586375" y="991194"/>
            <a:ext cx="4415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승리를 확정하고 패배를 원천 차단하는 계층적 의사결정 구조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761695" y="5623833"/>
            <a:ext cx="5238600" cy="933600"/>
          </a:xfrm>
          <a:prstGeom prst="roundRect">
            <a:avLst>
              <a:gd fmla="val 1199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1"/>
          <p:cNvSpPr/>
          <p:nvPr/>
        </p:nvSpPr>
        <p:spPr>
          <a:xfrm>
            <a:off x="761695" y="5623833"/>
            <a:ext cx="38400" cy="933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7" name="Google Shape;587;p21"/>
          <p:cNvPicPr preferRelativeResize="0"/>
          <p:nvPr/>
        </p:nvPicPr>
        <p:blipFill rotWithShape="1">
          <a:blip r:embed="rId3">
            <a:alphaModFix/>
          </a:blip>
          <a:srcRect b="0" l="-60" r="-50" t="0"/>
          <a:stretch/>
        </p:blipFill>
        <p:spPr>
          <a:xfrm>
            <a:off x="1064362" y="5983192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21"/>
          <p:cNvSpPr txBox="1"/>
          <p:nvPr/>
        </p:nvSpPr>
        <p:spPr>
          <a:xfrm>
            <a:off x="1452067" y="5776538"/>
            <a:ext cx="18225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Transposition Table (TT)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1"/>
          <p:cNvSpPr txBox="1"/>
          <p:nvPr/>
        </p:nvSpPr>
        <p:spPr>
          <a:xfrm>
            <a:off x="1452067" y="6028912"/>
            <a:ext cx="32553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동일한 보드 상태를 해시맵에 저장하여 재방문 시 즉시 값 반환 (EXACT/LOWER/UPPER)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6191402" y="5623833"/>
            <a:ext cx="5238600" cy="933600"/>
          </a:xfrm>
          <a:prstGeom prst="roundRect">
            <a:avLst>
              <a:gd fmla="val 1199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1"/>
          <p:cNvSpPr/>
          <p:nvPr/>
        </p:nvSpPr>
        <p:spPr>
          <a:xfrm>
            <a:off x="6191402" y="5623833"/>
            <a:ext cx="38400" cy="933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2" name="Google Shape;592;p21"/>
          <p:cNvPicPr preferRelativeResize="0"/>
          <p:nvPr/>
        </p:nvPicPr>
        <p:blipFill rotWithShape="1">
          <a:blip r:embed="rId4">
            <a:alphaModFix/>
          </a:blip>
          <a:srcRect b="-50" l="0" r="0" t="-40"/>
          <a:stretch/>
        </p:blipFill>
        <p:spPr>
          <a:xfrm>
            <a:off x="6472123" y="5983192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1"/>
          <p:cNvSpPr txBox="1"/>
          <p:nvPr/>
        </p:nvSpPr>
        <p:spPr>
          <a:xfrm>
            <a:off x="6896405" y="5868892"/>
            <a:ext cx="14988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Iterative Deepening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 txBox="1"/>
          <p:nvPr/>
        </p:nvSpPr>
        <p:spPr>
          <a:xfrm>
            <a:off x="6896405" y="6121266"/>
            <a:ext cx="43032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얕은 깊이부터 점차 깊이를 늘려가며 탐색, 시간 초과 시에도 유효한 최선의 수 보장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2"/>
          <p:cNvSpPr/>
          <p:nvPr/>
        </p:nvSpPr>
        <p:spPr>
          <a:xfrm>
            <a:off x="6096305" y="0"/>
            <a:ext cx="6096300" cy="6858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2"/>
          <p:cNvSpPr txBox="1"/>
          <p:nvPr/>
        </p:nvSpPr>
        <p:spPr>
          <a:xfrm>
            <a:off x="571500" y="381300"/>
            <a:ext cx="755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Noto Sans KR"/>
              <a:buNone/>
            </a:pPr>
            <a:r>
              <a:rPr b="1" lang="en-US" sz="27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MTD(f)</a:t>
            </a:r>
            <a:r>
              <a:rPr b="1" i="0" lang="en-US" sz="24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240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State,Action,Reward 설계</a:t>
            </a:r>
            <a:endParaRPr b="1" sz="2400">
              <a:solidFill>
                <a:srgbClr val="1E3A8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2" name="Google Shape;602;p22"/>
          <p:cNvSpPr/>
          <p:nvPr/>
        </p:nvSpPr>
        <p:spPr>
          <a:xfrm>
            <a:off x="571500" y="1304849"/>
            <a:ext cx="5867700" cy="15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2"/>
          <p:cNvSpPr/>
          <p:nvPr/>
        </p:nvSpPr>
        <p:spPr>
          <a:xfrm>
            <a:off x="571500" y="1304849"/>
            <a:ext cx="57600" cy="154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2"/>
          <p:cNvSpPr/>
          <p:nvPr/>
        </p:nvSpPr>
        <p:spPr>
          <a:xfrm>
            <a:off x="857707" y="1533449"/>
            <a:ext cx="304500" cy="304500"/>
          </a:xfrm>
          <a:prstGeom prst="roundRect">
            <a:avLst>
              <a:gd fmla="val 7507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5" name="Google Shape;6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602" y="160934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2"/>
          <p:cNvSpPr/>
          <p:nvPr/>
        </p:nvSpPr>
        <p:spPr>
          <a:xfrm>
            <a:off x="571500" y="3038551"/>
            <a:ext cx="5867700" cy="15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2"/>
          <p:cNvSpPr/>
          <p:nvPr/>
        </p:nvSpPr>
        <p:spPr>
          <a:xfrm>
            <a:off x="571500" y="3038551"/>
            <a:ext cx="57600" cy="154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"/>
          <p:cNvSpPr/>
          <p:nvPr/>
        </p:nvSpPr>
        <p:spPr>
          <a:xfrm>
            <a:off x="857707" y="3267151"/>
            <a:ext cx="304500" cy="304500"/>
          </a:xfrm>
          <a:prstGeom prst="roundRect">
            <a:avLst>
              <a:gd fmla="val 7507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9" name="Google Shape;6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602" y="334304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2"/>
          <p:cNvSpPr/>
          <p:nvPr/>
        </p:nvSpPr>
        <p:spPr>
          <a:xfrm>
            <a:off x="571500" y="4772254"/>
            <a:ext cx="5867700" cy="15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2"/>
          <p:cNvSpPr/>
          <p:nvPr/>
        </p:nvSpPr>
        <p:spPr>
          <a:xfrm>
            <a:off x="571500" y="4772254"/>
            <a:ext cx="57600" cy="154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2"/>
          <p:cNvSpPr/>
          <p:nvPr/>
        </p:nvSpPr>
        <p:spPr>
          <a:xfrm>
            <a:off x="857707" y="5000854"/>
            <a:ext cx="304500" cy="304500"/>
          </a:xfrm>
          <a:prstGeom prst="roundRect">
            <a:avLst>
              <a:gd fmla="val 7507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3" name="Google Shape;613;p22"/>
          <p:cNvPicPr preferRelativeResize="0"/>
          <p:nvPr/>
        </p:nvPicPr>
        <p:blipFill rotWithShape="1">
          <a:blip r:embed="rId5">
            <a:alphaModFix/>
          </a:blip>
          <a:srcRect b="-180" l="0" r="0" t="-180"/>
          <a:stretch/>
        </p:blipFill>
        <p:spPr>
          <a:xfrm>
            <a:off x="914400" y="5076749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22"/>
          <p:cNvSpPr/>
          <p:nvPr/>
        </p:nvSpPr>
        <p:spPr>
          <a:xfrm>
            <a:off x="6819595" y="1333195"/>
            <a:ext cx="4800600" cy="4953300"/>
          </a:xfrm>
          <a:prstGeom prst="roundRect">
            <a:avLst>
              <a:gd fmla="val 605" name="adj"/>
            </a:avLst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2563EB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2"/>
          <p:cNvSpPr/>
          <p:nvPr/>
        </p:nvSpPr>
        <p:spPr>
          <a:xfrm>
            <a:off x="7114946" y="2066544"/>
            <a:ext cx="4209900" cy="1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6" name="Google Shape;616;p22"/>
          <p:cNvPicPr preferRelativeResize="0"/>
          <p:nvPr/>
        </p:nvPicPr>
        <p:blipFill rotWithShape="1">
          <a:blip r:embed="rId6">
            <a:alphaModFix/>
          </a:blip>
          <a:srcRect b="0" l="-1282" r="-1282" t="0"/>
          <a:stretch/>
        </p:blipFill>
        <p:spPr>
          <a:xfrm>
            <a:off x="11106302" y="1676095"/>
            <a:ext cx="219456" cy="19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7" name="Google Shape;61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4946" y="2352751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8" name="Google Shape;61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4946" y="3267151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19" name="Google Shape;61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4946" y="4181551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0" name="Google Shape;62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4946" y="5095951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2"/>
          <p:cNvSpPr txBox="1"/>
          <p:nvPr/>
        </p:nvSpPr>
        <p:spPr>
          <a:xfrm>
            <a:off x="1276502" y="1557223"/>
            <a:ext cx="1424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State (상태 표현)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2"/>
          <p:cNvSpPr txBox="1"/>
          <p:nvPr/>
        </p:nvSpPr>
        <p:spPr>
          <a:xfrm>
            <a:off x="1276502" y="1943100"/>
            <a:ext cx="50229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게임 환경(Environment)에서 제공하는 1차원 리스트 형태의 보드 데이터를 분석하기 쉬운 (rows, columns) 형태의 2차원 배열로 변환함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3" name="Google Shape;623;p22"/>
          <p:cNvSpPr txBox="1"/>
          <p:nvPr/>
        </p:nvSpPr>
        <p:spPr>
          <a:xfrm>
            <a:off x="1276502" y="3290926"/>
            <a:ext cx="1528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Action (행동 선택)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 txBox="1"/>
          <p:nvPr/>
        </p:nvSpPr>
        <p:spPr>
          <a:xfrm>
            <a:off x="1276500" y="3676799"/>
            <a:ext cx="4984500" cy="9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통합된 Negamax + MTD(f) 프레임워크를 사용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단순히 탐색만 하는 것이 아니라, 열(column)의 높이 계산과 무의미한 수를 사전에 거르는 안전장치를 통해 탐색 속도와 안정성을 동시에 확보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가능한 action : 첫번째 열 ~ 여섯번째 열을 선택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5" name="Google Shape;625;p22"/>
          <p:cNvSpPr txBox="1"/>
          <p:nvPr/>
        </p:nvSpPr>
        <p:spPr>
          <a:xfrm>
            <a:off x="1276502" y="5024628"/>
            <a:ext cx="1634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(보상 체계)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 txBox="1"/>
          <p:nvPr/>
        </p:nvSpPr>
        <p:spPr>
          <a:xfrm>
            <a:off x="1276502" y="5410505"/>
            <a:ext cx="49935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복잡한 가중치 대신 단순화된 점수표를 사용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0" i="0" sz="1100" u="none" cap="none" strike="noStrike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상대의 3연속 공격에는 큰 벌점을 부과하고, </a:t>
            </a:r>
            <a:endParaRPr b="0" i="0" sz="1100" u="none" cap="none" strike="noStrike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나의 2·3연속 공격에는 보너스를 부여하여 공수 균형이 잡힌 상대적 평가 기준을 제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공함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2"/>
          <p:cNvSpPr txBox="1"/>
          <p:nvPr/>
        </p:nvSpPr>
        <p:spPr>
          <a:xfrm>
            <a:off x="7114946" y="1628546"/>
            <a:ext cx="147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포인트 요약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2"/>
          <p:cNvSpPr txBox="1"/>
          <p:nvPr/>
        </p:nvSpPr>
        <p:spPr>
          <a:xfrm>
            <a:off x="7438644" y="2314346"/>
            <a:ext cx="1524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Hybrid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2"/>
          <p:cNvSpPr txBox="1"/>
          <p:nvPr/>
        </p:nvSpPr>
        <p:spPr>
          <a:xfrm>
            <a:off x="7438644" y="2600554"/>
            <a:ext cx="3976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메모리 효율적인 Negamax 알고리즘과 빠른 수렴 속도의 MTD(f)를 결합하여 최적의 탐색 성능을 발휘</a:t>
            </a:r>
            <a:r>
              <a:rPr lang="en-US" sz="10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2"/>
          <p:cNvSpPr txBox="1"/>
          <p:nvPr/>
        </p:nvSpPr>
        <p:spPr>
          <a:xfrm>
            <a:off x="7438644" y="3228746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Transposition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 txBox="1"/>
          <p:nvPr/>
        </p:nvSpPr>
        <p:spPr>
          <a:xfrm>
            <a:off x="7438644" y="3514954"/>
            <a:ext cx="3958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탐색 결과를 저장하고 재사용(Memoization)하여 중복 연산을 획기적으로 줄</a:t>
            </a:r>
            <a:r>
              <a:rPr lang="en-US" sz="10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 txBox="1"/>
          <p:nvPr/>
        </p:nvSpPr>
        <p:spPr>
          <a:xfrm>
            <a:off x="7438644" y="4143146"/>
            <a:ext cx="11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Safety Guards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2"/>
          <p:cNvSpPr txBox="1"/>
          <p:nvPr/>
        </p:nvSpPr>
        <p:spPr>
          <a:xfrm>
            <a:off x="7438644" y="4429354"/>
            <a:ext cx="3891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유효하지 않은 수나 필승/필패가 명확한 경로를 조기에 차단하여 탐색의 질을 높</a:t>
            </a:r>
            <a:r>
              <a:rPr lang="en-US" sz="10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2"/>
          <p:cNvSpPr txBox="1"/>
          <p:nvPr/>
        </p:nvSpPr>
        <p:spPr>
          <a:xfrm>
            <a:off x="7438644" y="5057546"/>
            <a:ext cx="1334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Relative 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2"/>
          <p:cNvSpPr txBox="1"/>
          <p:nvPr/>
        </p:nvSpPr>
        <p:spPr>
          <a:xfrm>
            <a:off x="7438644" y="5343754"/>
            <a:ext cx="3958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절대적인 점수보다 상대와의 점수 차이에 집중하여, 불리한 상황에서도 최선의 방어책을 찾아</a:t>
            </a:r>
            <a:r>
              <a:rPr lang="en-US" sz="10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 txBox="1"/>
          <p:nvPr/>
        </p:nvSpPr>
        <p:spPr>
          <a:xfrm>
            <a:off x="571500" y="914400"/>
            <a:ext cx="2986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State, Action, Reward 구조 심층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3"/>
          <p:cNvSpPr/>
          <p:nvPr/>
        </p:nvSpPr>
        <p:spPr>
          <a:xfrm>
            <a:off x="5486400" y="0"/>
            <a:ext cx="6705295" cy="693389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3"/>
          <p:cNvSpPr txBox="1"/>
          <p:nvPr/>
        </p:nvSpPr>
        <p:spPr>
          <a:xfrm>
            <a:off x="571500" y="381300"/>
            <a:ext cx="980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MTD(f) </a:t>
            </a: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-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전략적 우선순위 기반 수 결정 (Strategic Decision Making)</a:t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4" name="Google Shape;644;p23"/>
          <p:cNvSpPr txBox="1"/>
          <p:nvPr/>
        </p:nvSpPr>
        <p:spPr>
          <a:xfrm>
            <a:off x="571500" y="803069"/>
            <a:ext cx="4415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승리를 확정하고 패배를 원천 차단하는 계층적 의사결정 구조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571500" y="1047902"/>
            <a:ext cx="4229100" cy="13624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3"/>
          <p:cNvSpPr/>
          <p:nvPr/>
        </p:nvSpPr>
        <p:spPr>
          <a:xfrm>
            <a:off x="571500" y="1047902"/>
            <a:ext cx="47549" cy="136245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3"/>
          <p:cNvSpPr/>
          <p:nvPr/>
        </p:nvSpPr>
        <p:spPr>
          <a:xfrm>
            <a:off x="809244" y="1252728"/>
            <a:ext cx="228600" cy="2286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3"/>
          <p:cNvSpPr txBox="1"/>
          <p:nvPr/>
        </p:nvSpPr>
        <p:spPr>
          <a:xfrm>
            <a:off x="884225" y="1266444"/>
            <a:ext cx="186538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3"/>
          <p:cNvSpPr txBox="1"/>
          <p:nvPr/>
        </p:nvSpPr>
        <p:spPr>
          <a:xfrm>
            <a:off x="1133856" y="1238098"/>
            <a:ext cx="2272284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즉시 승리 (Immediate Win)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571500" y="2557577"/>
            <a:ext cx="42291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3"/>
          <p:cNvSpPr/>
          <p:nvPr/>
        </p:nvSpPr>
        <p:spPr>
          <a:xfrm>
            <a:off x="571500" y="2557577"/>
            <a:ext cx="47549" cy="1143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3"/>
          <p:cNvSpPr/>
          <p:nvPr/>
        </p:nvSpPr>
        <p:spPr>
          <a:xfrm>
            <a:off x="809244" y="2762402"/>
            <a:ext cx="228600" cy="2286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3"/>
          <p:cNvSpPr txBox="1"/>
          <p:nvPr/>
        </p:nvSpPr>
        <p:spPr>
          <a:xfrm>
            <a:off x="884225" y="2776118"/>
            <a:ext cx="186538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3"/>
          <p:cNvSpPr txBox="1"/>
          <p:nvPr/>
        </p:nvSpPr>
        <p:spPr>
          <a:xfrm>
            <a:off x="1133856" y="2747772"/>
            <a:ext cx="237652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즉시 방어 (Critical Blocking)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571500" y="3853282"/>
            <a:ext cx="42291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3"/>
          <p:cNvSpPr/>
          <p:nvPr/>
        </p:nvSpPr>
        <p:spPr>
          <a:xfrm>
            <a:off x="571500" y="3853282"/>
            <a:ext cx="47549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3"/>
          <p:cNvSpPr/>
          <p:nvPr/>
        </p:nvSpPr>
        <p:spPr>
          <a:xfrm>
            <a:off x="809244" y="4058107"/>
            <a:ext cx="228600" cy="228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3"/>
          <p:cNvSpPr txBox="1"/>
          <p:nvPr/>
        </p:nvSpPr>
        <p:spPr>
          <a:xfrm>
            <a:off x="884225" y="4071823"/>
            <a:ext cx="186538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3"/>
          <p:cNvSpPr txBox="1"/>
          <p:nvPr/>
        </p:nvSpPr>
        <p:spPr>
          <a:xfrm>
            <a:off x="1133856" y="4043477"/>
            <a:ext cx="274868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자살수 배제 (Suicide Prevention)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3"/>
          <p:cNvSpPr/>
          <p:nvPr/>
        </p:nvSpPr>
        <p:spPr>
          <a:xfrm>
            <a:off x="571500" y="5300777"/>
            <a:ext cx="4229100" cy="1152144"/>
          </a:xfrm>
          <a:prstGeom prst="roundRect">
            <a:avLst>
              <a:gd fmla="val 5247" name="adj"/>
            </a:avLst>
          </a:prstGeom>
          <a:solidFill>
            <a:srgbClr val="F0F9FF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3"/>
          <p:cNvSpPr/>
          <p:nvPr/>
        </p:nvSpPr>
        <p:spPr>
          <a:xfrm>
            <a:off x="5277002" y="1047902"/>
            <a:ext cx="6344107" cy="5410505"/>
          </a:xfrm>
          <a:prstGeom prst="roundRect">
            <a:avLst>
              <a:gd fmla="val 357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my_agent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obs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(초기화 생략)</a:t>
            </a:r>
            <a:endParaRPr sz="11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[Step 0] Immediate Win (Attack) - 높이가 낮고 중앙에 가까운 곳 우선선</a:t>
            </a:r>
            <a:endParaRPr sz="11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winning_moves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[]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check_win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drop_piece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winning_moves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append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      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winning_moves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1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승리 가능한 수 중 높이가 낮고 중앙에 가까운 최적 수 선택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center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.columns 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//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1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winning_moves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sort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key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lambda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(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get_column_height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), </a:t>
            </a:r>
            <a:r>
              <a:rPr lang="en-US" sz="11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1순위: 높이 낮은 순</a:t>
            </a:r>
            <a:endParaRPr sz="11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abs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center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                    </a:t>
            </a:r>
            <a:r>
              <a:rPr lang="en-US" sz="11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2순위: 중앙 우선</a:t>
            </a:r>
            <a:endParaRPr sz="11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))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winning_moves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])</a:t>
            </a:r>
            <a:endParaRPr sz="11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[Step 1] Immediate Defense (Block) - 상대 승리를 저지지</a:t>
            </a:r>
            <a:endParaRPr sz="11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check_win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drop_piece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opponent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opponent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1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[Step 2] Filter "Suicide" Moves - 상대에게 승리를 헌납하는 수 배제제</a:t>
            </a:r>
            <a:endParaRPr sz="11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safe_actions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[]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not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check_suicide_move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me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config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safe_actions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append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(이후 탐색 진행)...</a:t>
            </a:r>
            <a:endParaRPr sz="110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2" name="Google Shape;662;p23"/>
          <p:cNvSpPr/>
          <p:nvPr/>
        </p:nvSpPr>
        <p:spPr>
          <a:xfrm>
            <a:off x="5277002" y="1047902"/>
            <a:ext cx="6344107" cy="43799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3"/>
          <p:cNvSpPr/>
          <p:nvPr/>
        </p:nvSpPr>
        <p:spPr>
          <a:xfrm>
            <a:off x="5277002" y="1476756"/>
            <a:ext cx="6344107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3"/>
          <p:cNvSpPr/>
          <p:nvPr/>
        </p:nvSpPr>
        <p:spPr>
          <a:xfrm>
            <a:off x="5467198" y="1205179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3"/>
          <p:cNvSpPr/>
          <p:nvPr/>
        </p:nvSpPr>
        <p:spPr>
          <a:xfrm>
            <a:off x="5658307" y="1205179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3"/>
          <p:cNvSpPr/>
          <p:nvPr/>
        </p:nvSpPr>
        <p:spPr>
          <a:xfrm>
            <a:off x="5848502" y="1205179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3"/>
          <p:cNvSpPr txBox="1"/>
          <p:nvPr/>
        </p:nvSpPr>
        <p:spPr>
          <a:xfrm>
            <a:off x="1133856" y="1571854"/>
            <a:ext cx="3546043" cy="629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턴에 4목을 완성할 수 있다면 즉시 착수</a:t>
            </a:r>
            <a:r>
              <a:rPr lang="en-US" sz="11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높이 최적화(Height-optimized)를 통해 더 안정적인 승리 수를 선택</a:t>
            </a:r>
            <a:r>
              <a:rPr lang="en-US" sz="11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3"/>
          <p:cNvSpPr txBox="1"/>
          <p:nvPr/>
        </p:nvSpPr>
        <p:spPr>
          <a:xfrm>
            <a:off x="1133856" y="3081528"/>
            <a:ext cx="346009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상대가 다음 턴에 승리할 수 있는 치명적인 위협이 있다면 무조건 차단(Forced Block)하여 게임을 지속</a:t>
            </a:r>
            <a:r>
              <a:rPr lang="en-US" sz="11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3"/>
          <p:cNvSpPr txBox="1"/>
          <p:nvPr/>
        </p:nvSpPr>
        <p:spPr>
          <a:xfrm>
            <a:off x="1133856" y="4376318"/>
            <a:ext cx="3269894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내가 둔 수 바로 위에 상대가 두어 승리하는 '자살수(Suicide Move)'를 후보군에서 사전에 필터링</a:t>
            </a:r>
            <a:r>
              <a:rPr lang="en-US" sz="11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0" name="Google Shape;6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349" y="5498287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23"/>
          <p:cNvSpPr txBox="1"/>
          <p:nvPr/>
        </p:nvSpPr>
        <p:spPr>
          <a:xfrm>
            <a:off x="942746" y="5462626"/>
            <a:ext cx="291967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0369A1"/>
                </a:solidFill>
                <a:latin typeface="Noto Sans KR"/>
                <a:ea typeface="Noto Sans KR"/>
                <a:cs typeface="Noto Sans KR"/>
                <a:sym typeface="Noto Sans KR"/>
              </a:rPr>
              <a:t>중앙 선호 (Center Preference): 중앙 열부터 탐색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2" name="Google Shape;6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349" y="5774436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23"/>
          <p:cNvSpPr txBox="1"/>
          <p:nvPr/>
        </p:nvSpPr>
        <p:spPr>
          <a:xfrm>
            <a:off x="942746" y="5738774"/>
            <a:ext cx="299648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0369A1"/>
                </a:solidFill>
                <a:latin typeface="Noto Sans KR"/>
                <a:ea typeface="Noto Sans KR"/>
                <a:cs typeface="Noto Sans KR"/>
                <a:sym typeface="Noto Sans KR"/>
              </a:rPr>
              <a:t>무브 오더링 (Move Ordering): 유망한 수 먼저 탐색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4" name="Google Shape;6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349" y="6050585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23"/>
          <p:cNvSpPr txBox="1"/>
          <p:nvPr/>
        </p:nvSpPr>
        <p:spPr>
          <a:xfrm>
            <a:off x="942746" y="6014923"/>
            <a:ext cx="34719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0369A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반복적 심화 (Iterative Deepening): 시간 제한 내 최대 깊이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3"/>
          <p:cNvSpPr txBox="1"/>
          <p:nvPr/>
        </p:nvSpPr>
        <p:spPr>
          <a:xfrm>
            <a:off x="6115507" y="1171346"/>
            <a:ext cx="298643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submission_mtdf_negamax_strategic.py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4"/>
          <p:cNvSpPr/>
          <p:nvPr/>
        </p:nvSpPr>
        <p:spPr>
          <a:xfrm>
            <a:off x="5486400" y="0"/>
            <a:ext cx="6705300" cy="6933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4"/>
          <p:cNvSpPr txBox="1"/>
          <p:nvPr/>
        </p:nvSpPr>
        <p:spPr>
          <a:xfrm>
            <a:off x="571500" y="381300"/>
            <a:ext cx="980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MTD(f) </a:t>
            </a: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-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Negamax 알고리즘과 Move Ordering</a:t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4" name="Google Shape;684;p24"/>
          <p:cNvSpPr txBox="1"/>
          <p:nvPr/>
        </p:nvSpPr>
        <p:spPr>
          <a:xfrm>
            <a:off x="571500" y="803069"/>
            <a:ext cx="4415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승리를 확정하고 패배를 원천 차단하는 계층적 의사결정 구조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4"/>
          <p:cNvSpPr/>
          <p:nvPr/>
        </p:nvSpPr>
        <p:spPr>
          <a:xfrm>
            <a:off x="5277002" y="1047902"/>
            <a:ext cx="6344100" cy="5410500"/>
          </a:xfrm>
          <a:prstGeom prst="roundRect">
            <a:avLst>
              <a:gd fmla="val 357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negamax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depth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alpha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beta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start_time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(시간 제한 및 TT 조회 생략)...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Move Ordering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center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.columns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//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 sz="1300">
              <a:solidFill>
                <a:srgbClr val="B5CEA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sort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key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lambda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abs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center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best_value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'inf'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CE917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valid_actions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new_grid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drop_piece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col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try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negamax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new_grid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depth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beta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alpha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start_time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except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TimeoutError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raise</a:t>
            </a:r>
            <a:endParaRPr sz="1300">
              <a:solidFill>
                <a:srgbClr val="C586C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best_value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best_value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</a:t>
            </a:r>
            <a:endParaRPr sz="130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alpha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max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alpha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best_value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endParaRPr sz="1300">
              <a:solidFill>
                <a:srgbClr val="CE9178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(TT 저장 생략)..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best_value</a:t>
            </a:r>
            <a:endParaRPr sz="1300">
              <a:solidFill>
                <a:srgbClr val="569CD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86" name="Google Shape;686;p24"/>
          <p:cNvSpPr/>
          <p:nvPr/>
        </p:nvSpPr>
        <p:spPr>
          <a:xfrm>
            <a:off x="5277002" y="1047902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4"/>
          <p:cNvSpPr/>
          <p:nvPr/>
        </p:nvSpPr>
        <p:spPr>
          <a:xfrm>
            <a:off x="5277002" y="1476756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4"/>
          <p:cNvSpPr/>
          <p:nvPr/>
        </p:nvSpPr>
        <p:spPr>
          <a:xfrm>
            <a:off x="5467198" y="1205179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4"/>
          <p:cNvSpPr/>
          <p:nvPr/>
        </p:nvSpPr>
        <p:spPr>
          <a:xfrm>
            <a:off x="5658307" y="1205179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4"/>
          <p:cNvSpPr/>
          <p:nvPr/>
        </p:nvSpPr>
        <p:spPr>
          <a:xfrm>
            <a:off x="5848502" y="1205179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4"/>
          <p:cNvSpPr txBox="1"/>
          <p:nvPr/>
        </p:nvSpPr>
        <p:spPr>
          <a:xfrm>
            <a:off x="6115507" y="1171346"/>
            <a:ext cx="29865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submission_mtdf_negamax_strategic.py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4"/>
          <p:cNvSpPr/>
          <p:nvPr/>
        </p:nvSpPr>
        <p:spPr>
          <a:xfrm>
            <a:off x="571500" y="1262770"/>
            <a:ext cx="4229100" cy="236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4"/>
          <p:cNvSpPr/>
          <p:nvPr/>
        </p:nvSpPr>
        <p:spPr>
          <a:xfrm>
            <a:off x="571500" y="1262770"/>
            <a:ext cx="47400" cy="2368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4" name="Google Shape;694;p24"/>
          <p:cNvPicPr preferRelativeResize="0"/>
          <p:nvPr/>
        </p:nvPicPr>
        <p:blipFill rotWithShape="1">
          <a:blip r:embed="rId3">
            <a:alphaModFix/>
          </a:blip>
          <a:srcRect b="0" l="-1282" r="-1282" t="0"/>
          <a:stretch/>
        </p:blipFill>
        <p:spPr>
          <a:xfrm>
            <a:off x="847649" y="1538935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24"/>
          <p:cNvSpPr txBox="1"/>
          <p:nvPr/>
        </p:nvSpPr>
        <p:spPr>
          <a:xfrm>
            <a:off x="1181405" y="1491386"/>
            <a:ext cx="1476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핵심문제 해결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4"/>
          <p:cNvSpPr txBox="1"/>
          <p:nvPr/>
        </p:nvSpPr>
        <p:spPr>
          <a:xfrm>
            <a:off x="847650" y="1891906"/>
            <a:ext cx="38388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52586B"/>
                </a:solidFill>
              </a:rPr>
              <a:t>Minimax 알고리즘의 간결한 형태인 </a:t>
            </a:r>
            <a:r>
              <a:rPr b="1" lang="en-US" sz="1200">
                <a:solidFill>
                  <a:srgbClr val="52586B"/>
                </a:solidFill>
              </a:rPr>
              <a:t>Negamax</a:t>
            </a:r>
            <a:r>
              <a:rPr lang="en-US" sz="1200">
                <a:solidFill>
                  <a:srgbClr val="52586B"/>
                </a:solidFill>
              </a:rPr>
              <a:t>를 사용하여 게임 트리를 탐색하며, </a:t>
            </a:r>
            <a:r>
              <a:rPr b="1" lang="en-US" sz="1200">
                <a:solidFill>
                  <a:srgbClr val="52586B"/>
                </a:solidFill>
              </a:rPr>
              <a:t>Transposition Table(TT)</a:t>
            </a:r>
            <a:r>
              <a:rPr lang="en-US" sz="1200">
                <a:solidFill>
                  <a:srgbClr val="52586B"/>
                </a:solidFill>
              </a:rPr>
              <a:t>과 </a:t>
            </a:r>
            <a:r>
              <a:rPr b="1" lang="en-US" sz="1200">
                <a:solidFill>
                  <a:srgbClr val="52586B"/>
                </a:solidFill>
              </a:rPr>
              <a:t>Move Ordering</a:t>
            </a:r>
            <a:r>
              <a:rPr lang="en-US" sz="1200">
                <a:solidFill>
                  <a:srgbClr val="52586B"/>
                </a:solidFill>
              </a:rPr>
              <a:t>을 통해 탐색 효율을 극대화 함</a:t>
            </a:r>
            <a:endParaRPr sz="125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7" name="Google Shape;697;p24"/>
          <p:cNvSpPr txBox="1"/>
          <p:nvPr/>
        </p:nvSpPr>
        <p:spPr>
          <a:xfrm>
            <a:off x="571500" y="4055550"/>
            <a:ext cx="4384500" cy="21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272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•</a:t>
            </a:r>
            <a:r>
              <a:rPr b="1" lang="en-US" sz="1200">
                <a:solidFill>
                  <a:srgbClr val="52586B"/>
                </a:solidFill>
              </a:rPr>
              <a:t>Negamax:</a:t>
            </a:r>
            <a:r>
              <a:rPr lang="en-US" sz="1200">
                <a:solidFill>
                  <a:srgbClr val="52586B"/>
                </a:solidFill>
              </a:rPr>
              <a:t> </a:t>
            </a:r>
            <a:r>
              <a:rPr lang="en-US" sz="1200">
                <a:solidFill>
                  <a:srgbClr val="52586B"/>
                </a:solidFill>
                <a:highlight>
                  <a:srgbClr val="F2F2F2"/>
                </a:highlight>
              </a:rPr>
              <a:t>max(a, b) = -min(-a, -b)</a:t>
            </a:r>
            <a:r>
              <a:rPr lang="en-US" sz="1200">
                <a:solidFill>
                  <a:srgbClr val="52586B"/>
                </a:solidFill>
              </a:rPr>
              <a:t> 성질을 이용해 Max/Min 노드를 하나의 함수로 통합하여 코드를 간결하게 유지함</a:t>
            </a:r>
            <a:endParaRPr sz="120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7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•</a:t>
            </a:r>
            <a:r>
              <a:rPr b="1" lang="en-US" sz="1200">
                <a:solidFill>
                  <a:srgbClr val="52586B"/>
                </a:solidFill>
              </a:rPr>
              <a:t>Move Ordering:</a:t>
            </a:r>
            <a:r>
              <a:rPr lang="en-US" sz="1200">
                <a:solidFill>
                  <a:srgbClr val="52586B"/>
                </a:solidFill>
              </a:rPr>
              <a:t> 승리 가능성이 높은 </a:t>
            </a:r>
            <a:r>
              <a:rPr b="1" lang="en-US" sz="1200">
                <a:solidFill>
                  <a:srgbClr val="52586B"/>
                </a:solidFill>
              </a:rPr>
              <a:t>중앙(Center)</a:t>
            </a:r>
            <a:r>
              <a:rPr lang="en-US" sz="1200">
                <a:solidFill>
                  <a:srgbClr val="52586B"/>
                </a:solidFill>
              </a:rPr>
              <a:t>부터 탐색하도록 정렬하여, </a:t>
            </a:r>
            <a:r>
              <a:rPr b="1" lang="en-US" sz="1200">
                <a:solidFill>
                  <a:srgbClr val="52586B"/>
                </a:solidFill>
              </a:rPr>
              <a:t>Alpha-Beta Pruning</a:t>
            </a:r>
            <a:r>
              <a:rPr lang="en-US" sz="1200">
                <a:solidFill>
                  <a:srgbClr val="52586B"/>
                </a:solidFill>
              </a:rPr>
              <a:t>이 더 빨리, 자주 발생하도록 유도함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5"/>
          <p:cNvSpPr/>
          <p:nvPr/>
        </p:nvSpPr>
        <p:spPr>
          <a:xfrm>
            <a:off x="5486400" y="0"/>
            <a:ext cx="6705300" cy="6933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5"/>
          <p:cNvSpPr txBox="1"/>
          <p:nvPr/>
        </p:nvSpPr>
        <p:spPr>
          <a:xfrm>
            <a:off x="571500" y="381300"/>
            <a:ext cx="980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MTD(f) </a:t>
            </a: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-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Null-Window Search를 통한 고속 탐색</a:t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5" name="Google Shape;705;p25"/>
          <p:cNvSpPr txBox="1"/>
          <p:nvPr/>
        </p:nvSpPr>
        <p:spPr>
          <a:xfrm>
            <a:off x="571500" y="803069"/>
            <a:ext cx="4415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승리를 확정하고 패배를 원천 차단하는 계층적 의사결정 구조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5"/>
          <p:cNvSpPr/>
          <p:nvPr/>
        </p:nvSpPr>
        <p:spPr>
          <a:xfrm>
            <a:off x="5277002" y="1047902"/>
            <a:ext cx="6344100" cy="5410500"/>
          </a:xfrm>
          <a:prstGeom prst="roundRect">
            <a:avLst>
              <a:gd fmla="val 357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mtdf_search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guess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depth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start_time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2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guess</a:t>
            </a:r>
            <a:endParaRPr sz="125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upper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5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'inf'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lower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25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5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'inf'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예측값이 정확한 범위 내로 수렴할 때까지 반복</a:t>
            </a:r>
            <a:endParaRPr sz="12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while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lower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upper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2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time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time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start_time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TIME_LIMIT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raise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TimeoutError</a:t>
            </a:r>
            <a:endParaRPr sz="1250">
              <a:solidFill>
                <a:srgbClr val="4EC9B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Null-Window 설정 [beta-1, beta]</a:t>
            </a:r>
            <a:endParaRPr sz="1250">
              <a:solidFill>
                <a:srgbClr val="4EC9B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beta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==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lower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</a:t>
            </a:r>
            <a:endParaRPr sz="125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Negamax 호출</a:t>
            </a:r>
            <a:endParaRPr sz="125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negamax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grid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depth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beta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beta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player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cfg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start_time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탐색 결과에 따라 범위 갱신</a:t>
            </a:r>
            <a:endParaRPr sz="125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beta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upper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</a:t>
            </a:r>
            <a:endParaRPr sz="125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lower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</a:t>
            </a:r>
            <a:endParaRPr sz="125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5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5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</a:t>
            </a:r>
            <a:endParaRPr sz="125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69CD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5277002" y="1047902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5"/>
          <p:cNvSpPr/>
          <p:nvPr/>
        </p:nvSpPr>
        <p:spPr>
          <a:xfrm>
            <a:off x="5277002" y="1476756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5"/>
          <p:cNvSpPr/>
          <p:nvPr/>
        </p:nvSpPr>
        <p:spPr>
          <a:xfrm>
            <a:off x="5467198" y="1205179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5"/>
          <p:cNvSpPr/>
          <p:nvPr/>
        </p:nvSpPr>
        <p:spPr>
          <a:xfrm>
            <a:off x="5658307" y="1205179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5"/>
          <p:cNvSpPr/>
          <p:nvPr/>
        </p:nvSpPr>
        <p:spPr>
          <a:xfrm>
            <a:off x="5848502" y="1205179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5"/>
          <p:cNvSpPr txBox="1"/>
          <p:nvPr/>
        </p:nvSpPr>
        <p:spPr>
          <a:xfrm>
            <a:off x="6115507" y="1171346"/>
            <a:ext cx="29865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submission_mtdf_negamax_strategic.py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571500" y="1262770"/>
            <a:ext cx="4229100" cy="2368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5"/>
          <p:cNvSpPr/>
          <p:nvPr/>
        </p:nvSpPr>
        <p:spPr>
          <a:xfrm>
            <a:off x="571500" y="1262770"/>
            <a:ext cx="47400" cy="23685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5" name="Google Shape;715;p25"/>
          <p:cNvPicPr preferRelativeResize="0"/>
          <p:nvPr/>
        </p:nvPicPr>
        <p:blipFill rotWithShape="1">
          <a:blip r:embed="rId3">
            <a:alphaModFix/>
          </a:blip>
          <a:srcRect b="0" l="-1282" r="-1282" t="0"/>
          <a:stretch/>
        </p:blipFill>
        <p:spPr>
          <a:xfrm>
            <a:off x="847649" y="1538935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25"/>
          <p:cNvSpPr txBox="1"/>
          <p:nvPr/>
        </p:nvSpPr>
        <p:spPr>
          <a:xfrm>
            <a:off x="1181405" y="1491386"/>
            <a:ext cx="1476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핵심문제 해결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5"/>
          <p:cNvSpPr txBox="1"/>
          <p:nvPr/>
        </p:nvSpPr>
        <p:spPr>
          <a:xfrm>
            <a:off x="847650" y="1891906"/>
            <a:ext cx="3838800" cy="14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b="1" lang="en-US" sz="1150">
                <a:solidFill>
                  <a:srgbClr val="52586B"/>
                </a:solidFill>
              </a:rPr>
              <a:t>Null-Window (beta = alpha + 1)</a:t>
            </a:r>
            <a:r>
              <a:rPr lang="en-US" sz="1150">
                <a:solidFill>
                  <a:srgbClr val="52586B"/>
                </a:solidFill>
              </a:rPr>
              <a:t> 탐색을 반복하여 값에 수렴하는 방식</a:t>
            </a:r>
            <a:endParaRPr sz="125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8" name="Google Shape;718;p25"/>
          <p:cNvSpPr txBox="1"/>
          <p:nvPr/>
        </p:nvSpPr>
        <p:spPr>
          <a:xfrm>
            <a:off x="571500" y="4055550"/>
            <a:ext cx="4384500" cy="27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</a:rPr>
              <a:t>•</a:t>
            </a:r>
            <a:r>
              <a:rPr b="1" lang="en-US" sz="1150">
                <a:solidFill>
                  <a:srgbClr val="52586B"/>
                </a:solidFill>
              </a:rPr>
              <a:t>Null-Window Search:</a:t>
            </a:r>
            <a:r>
              <a:rPr lang="en-US" sz="1150">
                <a:solidFill>
                  <a:srgbClr val="52586B"/>
                </a:solidFill>
              </a:rPr>
              <a:t> 탐색 범위(Window)를 </a:t>
            </a:r>
            <a:r>
              <a:rPr lang="en-US" sz="1150">
                <a:solidFill>
                  <a:srgbClr val="52586B"/>
                </a:solidFill>
                <a:highlight>
                  <a:srgbClr val="F2F2F2"/>
                </a:highlight>
              </a:rPr>
              <a:t>[alpha, beta]</a:t>
            </a:r>
            <a:r>
              <a:rPr lang="en-US" sz="1150">
                <a:solidFill>
                  <a:srgbClr val="52586B"/>
                </a:solidFill>
              </a:rPr>
              <a:t> 대신 </a:t>
            </a:r>
            <a:r>
              <a:rPr lang="en-US" sz="1150">
                <a:solidFill>
                  <a:srgbClr val="52586B"/>
                </a:solidFill>
                <a:highlight>
                  <a:srgbClr val="F2F2F2"/>
                </a:highlight>
              </a:rPr>
              <a:t>[g, g+1]</a:t>
            </a:r>
            <a:r>
              <a:rPr lang="en-US" sz="1150">
                <a:solidFill>
                  <a:srgbClr val="52586B"/>
                </a:solidFill>
              </a:rPr>
              <a:t>처럼 아주 좁게 설정하여 </a:t>
            </a:r>
            <a:r>
              <a:rPr lang="en-US" sz="1150">
                <a:solidFill>
                  <a:srgbClr val="52586B"/>
                </a:solidFill>
                <a:highlight>
                  <a:srgbClr val="F2F2F2"/>
                </a:highlight>
              </a:rPr>
              <a:t>negamax</a:t>
            </a:r>
            <a:r>
              <a:rPr lang="en-US" sz="1150">
                <a:solidFill>
                  <a:srgbClr val="52586B"/>
                </a:solidFill>
              </a:rPr>
              <a:t>를 호출하여 가지치기를 극대화하여 탐색 속도를 비약적으로 높임</a:t>
            </a:r>
            <a:endParaRPr sz="115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</a:rPr>
              <a:t>•</a:t>
            </a:r>
            <a:r>
              <a:rPr b="1" lang="en-US" sz="1150">
                <a:solidFill>
                  <a:srgbClr val="52586B"/>
                </a:solidFill>
              </a:rPr>
              <a:t>반복 수렴:</a:t>
            </a:r>
            <a:r>
              <a:rPr lang="en-US" sz="1150">
                <a:solidFill>
                  <a:srgbClr val="52586B"/>
                </a:solidFill>
              </a:rPr>
              <a:t> 초기 추측값(</a:t>
            </a:r>
            <a:r>
              <a:rPr lang="en-US" sz="1150">
                <a:solidFill>
                  <a:srgbClr val="52586B"/>
                </a:solidFill>
                <a:highlight>
                  <a:srgbClr val="F2F2F2"/>
                </a:highlight>
              </a:rPr>
              <a:t>guess</a:t>
            </a:r>
            <a:r>
              <a:rPr lang="en-US" sz="1150">
                <a:solidFill>
                  <a:srgbClr val="52586B"/>
                </a:solidFill>
              </a:rPr>
              <a:t>)에서 시작하여, 실제 점수가 </a:t>
            </a:r>
            <a:r>
              <a:rPr lang="en-US" sz="1150">
                <a:solidFill>
                  <a:srgbClr val="52586B"/>
                </a:solidFill>
                <a:highlight>
                  <a:srgbClr val="F2F2F2"/>
                </a:highlight>
              </a:rPr>
              <a:t>lower</a:t>
            </a:r>
            <a:r>
              <a:rPr lang="en-US" sz="1150">
                <a:solidFill>
                  <a:srgbClr val="52586B"/>
                </a:solidFill>
              </a:rPr>
              <a:t>와 </a:t>
            </a:r>
            <a:r>
              <a:rPr lang="en-US" sz="1150">
                <a:solidFill>
                  <a:srgbClr val="52586B"/>
                </a:solidFill>
                <a:highlight>
                  <a:srgbClr val="F2F2F2"/>
                </a:highlight>
              </a:rPr>
              <a:t>upper</a:t>
            </a:r>
            <a:r>
              <a:rPr lang="en-US" sz="1150">
                <a:solidFill>
                  <a:srgbClr val="52586B"/>
                </a:solidFill>
              </a:rPr>
              <a:t> 사이로 좁혀질 때까지 빠르게 반복 탐색함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chemeClr val="dk1"/>
                </a:solidFill>
              </a:rPr>
              <a:t>•</a:t>
            </a:r>
            <a:r>
              <a:rPr b="1" lang="en-US" sz="1150">
                <a:solidFill>
                  <a:srgbClr val="52586B"/>
                </a:solidFill>
              </a:rPr>
              <a:t>Memory-Enhanced:</a:t>
            </a:r>
            <a:r>
              <a:rPr lang="en-US" sz="1150">
                <a:solidFill>
                  <a:srgbClr val="52586B"/>
                </a:solidFill>
              </a:rPr>
              <a:t> 이 방식은 </a:t>
            </a:r>
            <a:r>
              <a:rPr b="1" lang="en-US" sz="1150">
                <a:solidFill>
                  <a:srgbClr val="52586B"/>
                </a:solidFill>
              </a:rPr>
              <a:t>Transposition Table(TT)</a:t>
            </a:r>
            <a:r>
              <a:rPr lang="en-US" sz="1150">
                <a:solidFill>
                  <a:srgbClr val="52586B"/>
                </a:solidFill>
              </a:rPr>
              <a:t>과 결합될 때 가장 강력한 성능을 발휘함</a:t>
            </a:r>
            <a:endParaRPr sz="1150">
              <a:solidFill>
                <a:srgbClr val="52586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6"/>
          <p:cNvSpPr/>
          <p:nvPr/>
        </p:nvSpPr>
        <p:spPr>
          <a:xfrm>
            <a:off x="0" y="0"/>
            <a:ext cx="48765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6"/>
          <p:cNvSpPr/>
          <p:nvPr/>
        </p:nvSpPr>
        <p:spPr>
          <a:xfrm>
            <a:off x="4876495" y="0"/>
            <a:ext cx="75895" cy="6858000"/>
          </a:xfrm>
          <a:prstGeom prst="rect">
            <a:avLst/>
          </a:prstGeom>
          <a:solidFill>
            <a:srgbClr val="E27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6"/>
          <p:cNvSpPr/>
          <p:nvPr/>
        </p:nvSpPr>
        <p:spPr>
          <a:xfrm>
            <a:off x="5639105" y="1571854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6"/>
          <p:cNvSpPr/>
          <p:nvPr/>
        </p:nvSpPr>
        <p:spPr>
          <a:xfrm>
            <a:off x="5934456" y="1867205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0" name="Google Shape;7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7900" y="186720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26"/>
          <p:cNvSpPr/>
          <p:nvPr/>
        </p:nvSpPr>
        <p:spPr>
          <a:xfrm>
            <a:off x="8677656" y="1571854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26"/>
          <p:cNvSpPr/>
          <p:nvPr/>
        </p:nvSpPr>
        <p:spPr>
          <a:xfrm>
            <a:off x="8973007" y="1867205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3" name="Google Shape;73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6451" y="186720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26"/>
          <p:cNvSpPr/>
          <p:nvPr/>
        </p:nvSpPr>
        <p:spPr>
          <a:xfrm>
            <a:off x="5639105" y="3571646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6"/>
          <p:cNvSpPr/>
          <p:nvPr/>
        </p:nvSpPr>
        <p:spPr>
          <a:xfrm>
            <a:off x="5934456" y="3866998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6" name="Google Shape;73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7900" y="38669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26"/>
          <p:cNvSpPr/>
          <p:nvPr/>
        </p:nvSpPr>
        <p:spPr>
          <a:xfrm>
            <a:off x="8677656" y="3571646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6"/>
          <p:cNvSpPr/>
          <p:nvPr/>
        </p:nvSpPr>
        <p:spPr>
          <a:xfrm>
            <a:off x="8973007" y="3866998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FF0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9" name="Google Shape;73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96451" y="38669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26"/>
          <p:cNvSpPr txBox="1"/>
          <p:nvPr/>
        </p:nvSpPr>
        <p:spPr>
          <a:xfrm>
            <a:off x="5934456" y="2286000"/>
            <a:ext cx="1305763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공통 보상 설계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6"/>
          <p:cNvSpPr txBox="1"/>
          <p:nvPr/>
        </p:nvSpPr>
        <p:spPr>
          <a:xfrm>
            <a:off x="5934456" y="2648102"/>
            <a:ext cx="15672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희소 보상 문제를 해결하고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6"/>
          <p:cNvSpPr txBox="1"/>
          <p:nvPr/>
        </p:nvSpPr>
        <p:spPr>
          <a:xfrm>
            <a:off x="5934456" y="2848356"/>
            <a:ext cx="193852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방어적 플레이를 유도하는 리워드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6"/>
          <p:cNvSpPr txBox="1"/>
          <p:nvPr/>
        </p:nvSpPr>
        <p:spPr>
          <a:xfrm>
            <a:off x="8973007" y="2286000"/>
            <a:ext cx="571500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DQN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6"/>
          <p:cNvSpPr txBox="1"/>
          <p:nvPr/>
        </p:nvSpPr>
        <p:spPr>
          <a:xfrm>
            <a:off x="8973007" y="2648102"/>
            <a:ext cx="17574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CNN과 Q-Learning을 결합한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6"/>
          <p:cNvSpPr txBox="1"/>
          <p:nvPr/>
        </p:nvSpPr>
        <p:spPr>
          <a:xfrm>
            <a:off x="8973007" y="2848356"/>
            <a:ext cx="169072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기본적인 심층 강화학습 모델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6"/>
          <p:cNvSpPr txBox="1"/>
          <p:nvPr/>
        </p:nvSpPr>
        <p:spPr>
          <a:xfrm>
            <a:off x="5934456" y="4286707"/>
            <a:ext cx="1295705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6"/>
          <p:cNvSpPr txBox="1"/>
          <p:nvPr/>
        </p:nvSpPr>
        <p:spPr>
          <a:xfrm>
            <a:off x="5934456" y="4647895"/>
            <a:ext cx="203362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Selection과 Evaluation을 분리해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26"/>
          <p:cNvSpPr txBox="1"/>
          <p:nvPr/>
        </p:nvSpPr>
        <p:spPr>
          <a:xfrm>
            <a:off x="5934456" y="4848149"/>
            <a:ext cx="142463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Q값 과대평가 문제 해결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6"/>
          <p:cNvSpPr txBox="1"/>
          <p:nvPr/>
        </p:nvSpPr>
        <p:spPr>
          <a:xfrm>
            <a:off x="8973007" y="4286707"/>
            <a:ext cx="135331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Dueling DQN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6"/>
          <p:cNvSpPr txBox="1"/>
          <p:nvPr/>
        </p:nvSpPr>
        <p:spPr>
          <a:xfrm>
            <a:off x="8973007" y="4647895"/>
            <a:ext cx="19010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상태 가치(V)와 이점(A)을 분리해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6"/>
          <p:cNvSpPr txBox="1"/>
          <p:nvPr/>
        </p:nvSpPr>
        <p:spPr>
          <a:xfrm>
            <a:off x="8973007" y="4848149"/>
            <a:ext cx="14438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효율과 안정성 향상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6"/>
          <p:cNvSpPr txBox="1"/>
          <p:nvPr/>
        </p:nvSpPr>
        <p:spPr>
          <a:xfrm>
            <a:off x="476402" y="1457554"/>
            <a:ext cx="2257654" cy="1657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0"/>
              <a:buFont typeface="Noto Sans KR"/>
              <a:buNone/>
            </a:pPr>
            <a:r>
              <a:rPr b="1" i="0" lang="en-US" sz="9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6"/>
          <p:cNvSpPr/>
          <p:nvPr/>
        </p:nvSpPr>
        <p:spPr>
          <a:xfrm>
            <a:off x="571500" y="1447495"/>
            <a:ext cx="114300" cy="114300"/>
          </a:xfrm>
          <a:prstGeom prst="ellipse">
            <a:avLst/>
          </a:prstGeom>
          <a:solidFill>
            <a:srgbClr val="E27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6"/>
          <p:cNvSpPr txBox="1"/>
          <p:nvPr/>
        </p:nvSpPr>
        <p:spPr>
          <a:xfrm>
            <a:off x="571500" y="1762050"/>
            <a:ext cx="41166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4200"/>
              <a:buFont typeface="Noto Sans KR"/>
              <a:buNone/>
            </a:pPr>
            <a:r>
              <a:rPr b="1" i="0" lang="en-US" sz="42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알고리즘 Learning-Based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7"/>
          <p:cNvSpPr/>
          <p:nvPr/>
        </p:nvSpPr>
        <p:spPr>
          <a:xfrm>
            <a:off x="6096305" y="0"/>
            <a:ext cx="6096300" cy="6858000"/>
          </a:xfrm>
          <a:prstGeom prst="rect">
            <a:avLst/>
          </a:prstGeom>
          <a:solidFill>
            <a:srgbClr val="DBEAFE">
              <a:alpha val="4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7"/>
          <p:cNvSpPr txBox="1"/>
          <p:nvPr/>
        </p:nvSpPr>
        <p:spPr>
          <a:xfrm>
            <a:off x="571500" y="381305"/>
            <a:ext cx="599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DQN (공통) 알고리즘 상세 Deep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7"/>
          <p:cNvSpPr/>
          <p:nvPr/>
        </p:nvSpPr>
        <p:spPr>
          <a:xfrm>
            <a:off x="571500" y="1143000"/>
            <a:ext cx="5867700" cy="1429200"/>
          </a:xfrm>
          <a:prstGeom prst="roundRect">
            <a:avLst>
              <a:gd fmla="val 3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7"/>
          <p:cNvSpPr/>
          <p:nvPr/>
        </p:nvSpPr>
        <p:spPr>
          <a:xfrm>
            <a:off x="571500" y="1143000"/>
            <a:ext cx="57600" cy="1429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7"/>
          <p:cNvSpPr/>
          <p:nvPr/>
        </p:nvSpPr>
        <p:spPr>
          <a:xfrm>
            <a:off x="857707" y="1333195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5" name="Google Shape;7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602" y="141000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27"/>
          <p:cNvSpPr/>
          <p:nvPr/>
        </p:nvSpPr>
        <p:spPr>
          <a:xfrm>
            <a:off x="571500" y="2757824"/>
            <a:ext cx="5867700" cy="1828800"/>
          </a:xfrm>
          <a:prstGeom prst="roundRect">
            <a:avLst>
              <a:gd fmla="val 259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27"/>
          <p:cNvSpPr/>
          <p:nvPr/>
        </p:nvSpPr>
        <p:spPr>
          <a:xfrm>
            <a:off x="571500" y="2757830"/>
            <a:ext cx="57600" cy="163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7"/>
          <p:cNvSpPr/>
          <p:nvPr/>
        </p:nvSpPr>
        <p:spPr>
          <a:xfrm>
            <a:off x="857707" y="2948026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9" name="Google Shape;769;p27"/>
          <p:cNvPicPr preferRelativeResize="0"/>
          <p:nvPr/>
        </p:nvPicPr>
        <p:blipFill rotWithShape="1">
          <a:blip r:embed="rId4">
            <a:alphaModFix/>
          </a:blip>
          <a:srcRect b="-180" l="0" r="0" t="-180"/>
          <a:stretch/>
        </p:blipFill>
        <p:spPr>
          <a:xfrm>
            <a:off x="914400" y="3023921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27"/>
          <p:cNvSpPr/>
          <p:nvPr/>
        </p:nvSpPr>
        <p:spPr>
          <a:xfrm>
            <a:off x="571500" y="4586630"/>
            <a:ext cx="5867700" cy="1429200"/>
          </a:xfrm>
          <a:prstGeom prst="roundRect">
            <a:avLst>
              <a:gd fmla="val 3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2563EB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571500" y="4586630"/>
            <a:ext cx="57600" cy="1429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27"/>
          <p:cNvSpPr/>
          <p:nvPr/>
        </p:nvSpPr>
        <p:spPr>
          <a:xfrm>
            <a:off x="857707" y="4776826"/>
            <a:ext cx="304500" cy="304500"/>
          </a:xfrm>
          <a:prstGeom prst="roundRect">
            <a:avLst>
              <a:gd fmla="val 56306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3" name="Google Shape;773;p27"/>
          <p:cNvPicPr preferRelativeResize="0"/>
          <p:nvPr/>
        </p:nvPicPr>
        <p:blipFill rotWithShape="1">
          <a:blip r:embed="rId5">
            <a:alphaModFix/>
          </a:blip>
          <a:srcRect b="0" l="-30" r="-40" t="0"/>
          <a:stretch/>
        </p:blipFill>
        <p:spPr>
          <a:xfrm>
            <a:off x="923544" y="4852721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27"/>
          <p:cNvSpPr/>
          <p:nvPr/>
        </p:nvSpPr>
        <p:spPr>
          <a:xfrm>
            <a:off x="6819595" y="1143000"/>
            <a:ext cx="4800600" cy="5333700"/>
          </a:xfrm>
          <a:prstGeom prst="roundRect">
            <a:avLst>
              <a:gd fmla="val 605" name="adj"/>
            </a:avLst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1E3A8A">
                <a:alpha val="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7"/>
          <p:cNvSpPr/>
          <p:nvPr/>
        </p:nvSpPr>
        <p:spPr>
          <a:xfrm>
            <a:off x="7114946" y="1867205"/>
            <a:ext cx="4209900" cy="19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6" name="Google Shape;776;p27"/>
          <p:cNvPicPr preferRelativeResize="0"/>
          <p:nvPr/>
        </p:nvPicPr>
        <p:blipFill rotWithShape="1">
          <a:blip r:embed="rId6">
            <a:alphaModFix/>
          </a:blip>
          <a:srcRect b="0" l="-1282" r="-1282" t="0"/>
          <a:stretch/>
        </p:blipFill>
        <p:spPr>
          <a:xfrm>
            <a:off x="7114946" y="1485900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27"/>
          <p:cNvSpPr txBox="1"/>
          <p:nvPr/>
        </p:nvSpPr>
        <p:spPr>
          <a:xfrm>
            <a:off x="7448702" y="1438351"/>
            <a:ext cx="1305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기술 요약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8" name="Google Shape;77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4946" y="2152498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79" name="Google Shape;77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4946" y="2982773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0" name="Google Shape;78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4946" y="3813962"/>
            <a:ext cx="171907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81" name="Google Shape;78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4946" y="4644238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27"/>
          <p:cNvSpPr txBox="1"/>
          <p:nvPr/>
        </p:nvSpPr>
        <p:spPr>
          <a:xfrm>
            <a:off x="1276502" y="1356970"/>
            <a:ext cx="1424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State (상태 표현)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7"/>
          <p:cNvSpPr txBox="1"/>
          <p:nvPr/>
        </p:nvSpPr>
        <p:spPr>
          <a:xfrm>
            <a:off x="857707" y="1733702"/>
            <a:ext cx="5403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1차원 리스트 형태의 보드 데이터를 (rows, columns) 2차원 배열로 변환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 CNN(Convolutional Neural Network)이 보드의 공간적 패턴과 특징을 효과적으로 학습할 수 있도록 입력 형태를 최적화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7"/>
          <p:cNvSpPr txBox="1"/>
          <p:nvPr/>
        </p:nvSpPr>
        <p:spPr>
          <a:xfrm>
            <a:off x="1276502" y="2971800"/>
            <a:ext cx="1528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Action (행동 선택)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7"/>
          <p:cNvSpPr txBox="1"/>
          <p:nvPr/>
        </p:nvSpPr>
        <p:spPr>
          <a:xfrm>
            <a:off x="857700" y="3347627"/>
            <a:ext cx="53940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CNN Q-network로 Q값을 추론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 공식을 적용하여 Online Network가 행동을 선택하고 Target Network가 가치를 평가함으로써 과대평가(Overestimation)를 방지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Kaggle 제출 시에는 학습된 가중치를 NumPy EmbeddedPolicy로 내장하여 PyTorch 의존성 없이 고속 추론(argmax)을 수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행함</a:t>
            </a:r>
            <a:endParaRPr b="0" i="0" sz="1100" u="none" cap="none" strike="noStrike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가능한 action : 첫번째 열 ~ 여섯번째 열을 선택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86" name="Google Shape;786;p27"/>
          <p:cNvSpPr txBox="1"/>
          <p:nvPr/>
        </p:nvSpPr>
        <p:spPr>
          <a:xfrm>
            <a:off x="1276502" y="4800600"/>
            <a:ext cx="1634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8A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Reward (보상 체계)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7"/>
          <p:cNvSpPr txBox="1"/>
          <p:nvPr/>
        </p:nvSpPr>
        <p:spPr>
          <a:xfrm>
            <a:off x="857707" y="5176418"/>
            <a:ext cx="54324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Kaggle 환경의 기본 리워드(+1: 승리, -1: 패배, 0: 무승부)를 그대로 사용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(Sparse Reward). 추가적인 Reward Shaping 없이 경험(Experience)을 버퍼에 적재하며, </a:t>
            </a:r>
            <a:endParaRPr b="0" i="0" sz="1100" u="none" cap="none" strike="noStrike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잘못된 위치 착수 시 즉시 종료 및 음수 보상을 통해 규칙을 학습</a:t>
            </a: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7"/>
          <p:cNvSpPr txBox="1"/>
          <p:nvPr/>
        </p:nvSpPr>
        <p:spPr>
          <a:xfrm>
            <a:off x="7429500" y="2124151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Deep Learning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7"/>
          <p:cNvSpPr txBox="1"/>
          <p:nvPr/>
        </p:nvSpPr>
        <p:spPr>
          <a:xfrm>
            <a:off x="7429500" y="2381098"/>
            <a:ext cx="39960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CNN을 활용하여 보드의 복잡한 패턴과 잠재적 위협을 시각적으로 인지하고 학습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7"/>
          <p:cNvSpPr txBox="1"/>
          <p:nvPr/>
        </p:nvSpPr>
        <p:spPr>
          <a:xfrm>
            <a:off x="7429500" y="2954426"/>
            <a:ext cx="147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 Logic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7"/>
          <p:cNvSpPr txBox="1"/>
          <p:nvPr/>
        </p:nvSpPr>
        <p:spPr>
          <a:xfrm>
            <a:off x="7429500" y="3211373"/>
            <a:ext cx="38916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Network 분리를 통해 학습의 안정성을 확보하고 Q-Value 과대평가 문제 해결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7"/>
          <p:cNvSpPr txBox="1"/>
          <p:nvPr/>
        </p:nvSpPr>
        <p:spPr>
          <a:xfrm>
            <a:off x="7429500" y="3784702"/>
            <a:ext cx="16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Embedded Inference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7"/>
          <p:cNvSpPr txBox="1"/>
          <p:nvPr/>
        </p:nvSpPr>
        <p:spPr>
          <a:xfrm>
            <a:off x="7429500" y="4042562"/>
            <a:ext cx="39675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NumPy 기반의 경량화된 순전파(Forward) 구현으로 외부 라이브러리 없이 Kaggle 환경 최적화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7"/>
          <p:cNvSpPr txBox="1"/>
          <p:nvPr/>
        </p:nvSpPr>
        <p:spPr>
          <a:xfrm>
            <a:off x="7429500" y="4615891"/>
            <a:ext cx="1962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Sparse Reward Handling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7"/>
          <p:cNvSpPr txBox="1"/>
          <p:nvPr/>
        </p:nvSpPr>
        <p:spPr>
          <a:xfrm>
            <a:off x="7429500" y="4872838"/>
            <a:ext cx="39201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희소한 보상 환경에서도 Experience Replay를 통해 효율적인 샘플링과 학습 수행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7"/>
          <p:cNvSpPr txBox="1"/>
          <p:nvPr/>
        </p:nvSpPr>
        <p:spPr>
          <a:xfrm>
            <a:off x="571500" y="914400"/>
            <a:ext cx="2986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State, Action, Reward 구조 심층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8"/>
          <p:cNvSpPr/>
          <p:nvPr/>
        </p:nvSpPr>
        <p:spPr>
          <a:xfrm>
            <a:off x="0" y="0"/>
            <a:ext cx="12191695" cy="69814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8"/>
          <p:cNvSpPr/>
          <p:nvPr/>
        </p:nvSpPr>
        <p:spPr>
          <a:xfrm>
            <a:off x="0" y="0"/>
            <a:ext cx="12191695" cy="69814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8"/>
          <p:cNvSpPr/>
          <p:nvPr/>
        </p:nvSpPr>
        <p:spPr>
          <a:xfrm>
            <a:off x="7905902" y="-1429207"/>
            <a:ext cx="5715000" cy="571500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8"/>
          <p:cNvSpPr txBox="1"/>
          <p:nvPr/>
        </p:nvSpPr>
        <p:spPr>
          <a:xfrm>
            <a:off x="571500" y="381305"/>
            <a:ext cx="9163202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보상 함수 기대 효과 및 설계 의도 Reward Design Analysis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8"/>
          <p:cNvSpPr txBox="1"/>
          <p:nvPr/>
        </p:nvSpPr>
        <p:spPr>
          <a:xfrm>
            <a:off x="571500" y="972007"/>
            <a:ext cx="4614977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없는 강화학습 에이전트를 위한 즉각적 피드백 시스템 설계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8"/>
          <p:cNvSpPr/>
          <p:nvPr/>
        </p:nvSpPr>
        <p:spPr>
          <a:xfrm>
            <a:off x="571500" y="1561795"/>
            <a:ext cx="5286146" cy="4943246"/>
          </a:xfrm>
          <a:prstGeom prst="roundRect">
            <a:avLst>
              <a:gd fmla="val 57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92100" rotWithShape="0" algn="bl" dir="5400000" dist="1016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28"/>
          <p:cNvSpPr/>
          <p:nvPr/>
        </p:nvSpPr>
        <p:spPr>
          <a:xfrm>
            <a:off x="866851" y="2456993"/>
            <a:ext cx="4695444" cy="1920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8"/>
          <p:cNvSpPr/>
          <p:nvPr/>
        </p:nvSpPr>
        <p:spPr>
          <a:xfrm>
            <a:off x="866851" y="1857146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0" name="Google Shape;8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579" y="1990649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28"/>
          <p:cNvSpPr/>
          <p:nvPr/>
        </p:nvSpPr>
        <p:spPr>
          <a:xfrm>
            <a:off x="866851" y="3181198"/>
            <a:ext cx="942746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8"/>
          <p:cNvSpPr/>
          <p:nvPr/>
        </p:nvSpPr>
        <p:spPr>
          <a:xfrm>
            <a:off x="1805940" y="3181198"/>
            <a:ext cx="1886407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8"/>
          <p:cNvSpPr/>
          <p:nvPr/>
        </p:nvSpPr>
        <p:spPr>
          <a:xfrm>
            <a:off x="3684118" y="3181198"/>
            <a:ext cx="1886407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8"/>
          <p:cNvSpPr/>
          <p:nvPr/>
        </p:nvSpPr>
        <p:spPr>
          <a:xfrm>
            <a:off x="866851" y="3905402"/>
            <a:ext cx="942746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8"/>
          <p:cNvSpPr/>
          <p:nvPr/>
        </p:nvSpPr>
        <p:spPr>
          <a:xfrm>
            <a:off x="1805940" y="3905402"/>
            <a:ext cx="1886407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8"/>
          <p:cNvSpPr/>
          <p:nvPr/>
        </p:nvSpPr>
        <p:spPr>
          <a:xfrm>
            <a:off x="3684118" y="3905402"/>
            <a:ext cx="1886407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28"/>
          <p:cNvSpPr/>
          <p:nvPr/>
        </p:nvSpPr>
        <p:spPr>
          <a:xfrm>
            <a:off x="866851" y="4824374"/>
            <a:ext cx="942746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8"/>
          <p:cNvSpPr/>
          <p:nvPr/>
        </p:nvSpPr>
        <p:spPr>
          <a:xfrm>
            <a:off x="1805940" y="4824374"/>
            <a:ext cx="1886407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8"/>
          <p:cNvSpPr/>
          <p:nvPr/>
        </p:nvSpPr>
        <p:spPr>
          <a:xfrm>
            <a:off x="3684118" y="4824374"/>
            <a:ext cx="1886407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8"/>
          <p:cNvSpPr/>
          <p:nvPr/>
        </p:nvSpPr>
        <p:spPr>
          <a:xfrm>
            <a:off x="866851" y="5524805"/>
            <a:ext cx="942746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28"/>
          <p:cNvSpPr/>
          <p:nvPr/>
        </p:nvSpPr>
        <p:spPr>
          <a:xfrm>
            <a:off x="1805940" y="5524805"/>
            <a:ext cx="1886407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8"/>
          <p:cNvSpPr/>
          <p:nvPr/>
        </p:nvSpPr>
        <p:spPr>
          <a:xfrm>
            <a:off x="3684118" y="5524805"/>
            <a:ext cx="1886407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28"/>
          <p:cNvSpPr/>
          <p:nvPr/>
        </p:nvSpPr>
        <p:spPr>
          <a:xfrm>
            <a:off x="6334049" y="1561795"/>
            <a:ext cx="5286146" cy="1876349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8"/>
          <p:cNvSpPr/>
          <p:nvPr/>
        </p:nvSpPr>
        <p:spPr>
          <a:xfrm>
            <a:off x="6334049" y="1561795"/>
            <a:ext cx="47549" cy="1876349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5" name="Google Shape;8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707" y="179588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28"/>
          <p:cNvSpPr txBox="1"/>
          <p:nvPr/>
        </p:nvSpPr>
        <p:spPr>
          <a:xfrm>
            <a:off x="6838798" y="1752905"/>
            <a:ext cx="2119579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설계 의도: 탐색 부재의 보완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8"/>
          <p:cNvSpPr/>
          <p:nvPr/>
        </p:nvSpPr>
        <p:spPr>
          <a:xfrm>
            <a:off x="6334049" y="3629254"/>
            <a:ext cx="5286146" cy="1647749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8"/>
          <p:cNvSpPr/>
          <p:nvPr/>
        </p:nvSpPr>
        <p:spPr>
          <a:xfrm>
            <a:off x="6334049" y="3629254"/>
            <a:ext cx="47549" cy="1647749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9" name="Google Shape;82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707" y="386242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28"/>
          <p:cNvSpPr txBox="1"/>
          <p:nvPr/>
        </p:nvSpPr>
        <p:spPr>
          <a:xfrm>
            <a:off x="6838798" y="3819449"/>
            <a:ext cx="291053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166534"/>
                </a:solidFill>
                <a:latin typeface="Noto Sans KR"/>
                <a:ea typeface="Noto Sans KR"/>
                <a:cs typeface="Noto Sans KR"/>
                <a:sym typeface="Noto Sans KR"/>
              </a:rPr>
              <a:t>방어적 플레이 유도 (Defensive Play)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8"/>
          <p:cNvSpPr/>
          <p:nvPr/>
        </p:nvSpPr>
        <p:spPr>
          <a:xfrm>
            <a:off x="6334049" y="5658307"/>
            <a:ext cx="5286146" cy="847649"/>
          </a:xfrm>
          <a:prstGeom prst="roundRect">
            <a:avLst>
              <a:gd fmla="val 9697" name="adj"/>
            </a:avLst>
          </a:prstGeom>
          <a:solidFill>
            <a:srgbClr val="FFFBEB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2" name="Google Shape;832;p28"/>
          <p:cNvPicPr preferRelativeResize="0"/>
          <p:nvPr/>
        </p:nvPicPr>
        <p:blipFill rotWithShape="1">
          <a:blip r:embed="rId6">
            <a:alphaModFix/>
          </a:blip>
          <a:srcRect b="0" l="-1773" r="-1773" t="0"/>
          <a:stretch/>
        </p:blipFill>
        <p:spPr>
          <a:xfrm>
            <a:off x="6458407" y="5810098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28"/>
          <p:cNvSpPr txBox="1"/>
          <p:nvPr/>
        </p:nvSpPr>
        <p:spPr>
          <a:xfrm>
            <a:off x="1466698" y="1914754"/>
            <a:ext cx="2048256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800"/>
              <a:buFont typeface="Noto Sans KR"/>
              <a:buNone/>
            </a:pPr>
            <a:r>
              <a:rPr b="1" i="0" lang="en-US" sz="18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보상 체계 비교 분석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8"/>
          <p:cNvSpPr txBox="1"/>
          <p:nvPr/>
        </p:nvSpPr>
        <p:spPr>
          <a:xfrm>
            <a:off x="981151" y="2876702"/>
            <a:ext cx="3483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유형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8"/>
          <p:cNvSpPr txBox="1"/>
          <p:nvPr/>
        </p:nvSpPr>
        <p:spPr>
          <a:xfrm>
            <a:off x="1920240" y="2876702"/>
            <a:ext cx="14529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Sparse Reward (희소)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8"/>
          <p:cNvSpPr txBox="1"/>
          <p:nvPr/>
        </p:nvSpPr>
        <p:spPr>
          <a:xfrm>
            <a:off x="3798418" y="2876702"/>
            <a:ext cx="14054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Dense Reward (밀집)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8"/>
          <p:cNvSpPr txBox="1"/>
          <p:nvPr/>
        </p:nvSpPr>
        <p:spPr>
          <a:xfrm>
            <a:off x="981151" y="3343046"/>
            <a:ext cx="37399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특징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8"/>
          <p:cNvSpPr txBox="1"/>
          <p:nvPr/>
        </p:nvSpPr>
        <p:spPr>
          <a:xfrm>
            <a:off x="1920240" y="3343046"/>
            <a:ext cx="1717243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방식 게임 종료 시에만 ±1 보상 부여 (승/패)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8"/>
          <p:cNvSpPr txBox="1"/>
          <p:nvPr/>
        </p:nvSpPr>
        <p:spPr>
          <a:xfrm>
            <a:off x="3798418" y="3343046"/>
            <a:ext cx="1717243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제안 방식 매 턴마다 행동에 대한 즉각적 피드백 제공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8"/>
          <p:cNvSpPr txBox="1"/>
          <p:nvPr/>
        </p:nvSpPr>
        <p:spPr>
          <a:xfrm>
            <a:off x="981151" y="4048049"/>
            <a:ext cx="50749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8"/>
          <p:cNvSpPr txBox="1"/>
          <p:nvPr/>
        </p:nvSpPr>
        <p:spPr>
          <a:xfrm>
            <a:off x="1920240" y="4048049"/>
            <a:ext cx="1755648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초반 무작위 탐색 시 학습 신호 부족, 수렴 속도 저하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8"/>
          <p:cNvSpPr txBox="1"/>
          <p:nvPr/>
        </p:nvSpPr>
        <p:spPr>
          <a:xfrm>
            <a:off x="3798418" y="4048049"/>
            <a:ext cx="1755648" cy="6291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잘못된 보상 설계 시 최적 정책 왜곡 가능성 (Reward Hacking)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8"/>
          <p:cNvSpPr txBox="1"/>
          <p:nvPr/>
        </p:nvSpPr>
        <p:spPr>
          <a:xfrm>
            <a:off x="981151" y="4967021"/>
            <a:ext cx="37399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효과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8"/>
          <p:cNvSpPr txBox="1"/>
          <p:nvPr/>
        </p:nvSpPr>
        <p:spPr>
          <a:xfrm>
            <a:off x="1920240" y="4967021"/>
            <a:ext cx="1717243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승리 목표 학습 가능하나 시간이 오래 걸림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8"/>
          <p:cNvSpPr txBox="1"/>
          <p:nvPr/>
        </p:nvSpPr>
        <p:spPr>
          <a:xfrm>
            <a:off x="3798418" y="4967021"/>
            <a:ext cx="1755648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생존 보상(+1/42)을 통해 방어적 플레이와 장기전 유도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8"/>
          <p:cNvSpPr txBox="1"/>
          <p:nvPr/>
        </p:nvSpPr>
        <p:spPr>
          <a:xfrm>
            <a:off x="6572707" y="2115007"/>
            <a:ext cx="4945990" cy="1114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DQN과 같은 Value-Based RL 에이전트는 MCTS와 달리 실시간 탐색(Search)을 수행하지 않</a:t>
            </a: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음</a:t>
            </a:r>
            <a:endParaRPr b="0" i="0" sz="1100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따라서 강제 수(Forced Move)와 같은 결정적 패턴을 스스로 학습하기 어</a:t>
            </a: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려움</a:t>
            </a: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0" i="0" sz="1100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이를 보완하기 위해 규칙 위반(-10)과 생존 보상 등 강력하고 즉각적인 피드백을 통해 기본적인 게임 규칙과 전술을 빠르게 내재화하도록 설계</a:t>
            </a: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8"/>
          <p:cNvSpPr txBox="1"/>
          <p:nvPr/>
        </p:nvSpPr>
        <p:spPr>
          <a:xfrm>
            <a:off x="6572707" y="4181551"/>
            <a:ext cx="4965192" cy="886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166534"/>
                </a:solidFill>
                <a:latin typeface="Noto Sans KR"/>
                <a:ea typeface="Noto Sans KR"/>
                <a:cs typeface="Noto Sans KR"/>
                <a:sym typeface="Noto Sans KR"/>
              </a:rPr>
              <a:t>ConnectX에서는 공격보다 수비 실패로 패배하는 경우가 많</a:t>
            </a:r>
            <a:r>
              <a:rPr lang="en-US" sz="1100">
                <a:solidFill>
                  <a:srgbClr val="166534"/>
                </a:solidFill>
                <a:latin typeface="Noto Sans KR"/>
                <a:ea typeface="Noto Sans KR"/>
                <a:cs typeface="Noto Sans KR"/>
                <a:sym typeface="Noto Sans KR"/>
              </a:rPr>
              <a:t>음</a:t>
            </a:r>
            <a:endParaRPr b="0" i="0" sz="1100" u="none" cap="none" strike="noStrike">
              <a:solidFill>
                <a:srgbClr val="166534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166534"/>
                </a:solidFill>
                <a:latin typeface="Noto Sans KR"/>
                <a:ea typeface="Noto Sans KR"/>
                <a:cs typeface="Noto Sans KR"/>
                <a:sym typeface="Noto Sans KR"/>
              </a:rPr>
              <a:t>매 턴마다 부여되는 미세한 생존 보상(+1/42)은 에이전트에게 "빨리 지는 것보다 버티는 것이 이득"이라는 신호를 주어, 상대의 공격을 적극적으로 차단하는 방어적 성향을 학습하게 </a:t>
            </a:r>
            <a:r>
              <a:rPr lang="en-US" sz="1100">
                <a:solidFill>
                  <a:srgbClr val="166534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8"/>
          <p:cNvSpPr txBox="1"/>
          <p:nvPr/>
        </p:nvSpPr>
        <p:spPr>
          <a:xfrm>
            <a:off x="6705295" y="5781751"/>
            <a:ext cx="4815230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92400E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인사이트: 탐색이 없는 모델-프리(Model-Free) 알고리즘은 희소 보상 환경에서 '전술적 함정'에 취약하므로, 보상 설형(Reward Shaping)이 학습의 나침반 역할을 해야 </a:t>
            </a:r>
            <a:r>
              <a:rPr lang="en-US" sz="1000">
                <a:solidFill>
                  <a:srgbClr val="92400E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9"/>
          <p:cNvSpPr/>
          <p:nvPr/>
        </p:nvSpPr>
        <p:spPr>
          <a:xfrm>
            <a:off x="7086600" y="-685800"/>
            <a:ext cx="5715000" cy="5715000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9"/>
          <p:cNvSpPr/>
          <p:nvPr/>
        </p:nvSpPr>
        <p:spPr>
          <a:xfrm>
            <a:off x="-609905" y="3733495"/>
            <a:ext cx="3810305" cy="3810305"/>
          </a:xfrm>
          <a:prstGeom prst="ellipse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9"/>
          <p:cNvSpPr/>
          <p:nvPr/>
        </p:nvSpPr>
        <p:spPr>
          <a:xfrm>
            <a:off x="761695" y="1638605"/>
            <a:ext cx="10668305" cy="1920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9"/>
          <p:cNvSpPr/>
          <p:nvPr/>
        </p:nvSpPr>
        <p:spPr>
          <a:xfrm>
            <a:off x="761695" y="2133295"/>
            <a:ext cx="5143500" cy="4153205"/>
          </a:xfrm>
          <a:prstGeom prst="roundRect">
            <a:avLst>
              <a:gd fmla="val 808" name="adj"/>
            </a:avLst>
          </a:prstGeom>
          <a:solidFill>
            <a:srgbClr val="FFFFFF"/>
          </a:solidFill>
          <a:ln cap="flat" cmpd="sng" w="508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  <a:effectLst>
            <a:outerShdw blurRad="292100" rotWithShape="0" algn="bl" dir="5400000" dist="1016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9"/>
          <p:cNvSpPr/>
          <p:nvPr/>
        </p:nvSpPr>
        <p:spPr>
          <a:xfrm>
            <a:off x="771754" y="3029407"/>
            <a:ext cx="512429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9"/>
          <p:cNvSpPr/>
          <p:nvPr/>
        </p:nvSpPr>
        <p:spPr>
          <a:xfrm>
            <a:off x="1057046" y="2409444"/>
            <a:ext cx="381305" cy="381305"/>
          </a:xfrm>
          <a:prstGeom prst="roundRect">
            <a:avLst>
              <a:gd fmla="val 47962" name="adj"/>
            </a:avLst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2" name="Google Shape;862;p29"/>
          <p:cNvPicPr preferRelativeResize="0"/>
          <p:nvPr/>
        </p:nvPicPr>
        <p:blipFill rotWithShape="1">
          <a:blip r:embed="rId3">
            <a:alphaModFix/>
          </a:blip>
          <a:srcRect b="0" l="-1773" r="-1773" t="0"/>
          <a:stretch/>
        </p:blipFill>
        <p:spPr>
          <a:xfrm>
            <a:off x="1181405" y="2514600"/>
            <a:ext cx="133502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29"/>
          <p:cNvSpPr txBox="1"/>
          <p:nvPr/>
        </p:nvSpPr>
        <p:spPr>
          <a:xfrm>
            <a:off x="1580998" y="2443277"/>
            <a:ext cx="3167482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Bellman Optimality Equation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9"/>
          <p:cNvSpPr/>
          <p:nvPr/>
        </p:nvSpPr>
        <p:spPr>
          <a:xfrm>
            <a:off x="1057046" y="4507992"/>
            <a:ext cx="4552798" cy="1324051"/>
          </a:xfrm>
          <a:prstGeom prst="roundRect">
            <a:avLst>
              <a:gd fmla="val 5962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29"/>
          <p:cNvSpPr/>
          <p:nvPr/>
        </p:nvSpPr>
        <p:spPr>
          <a:xfrm>
            <a:off x="6286500" y="2133295"/>
            <a:ext cx="5143500" cy="4153205"/>
          </a:xfrm>
          <a:prstGeom prst="roundRect">
            <a:avLst>
              <a:gd fmla="val 808" name="adj"/>
            </a:avLst>
          </a:prstGeom>
          <a:solidFill>
            <a:srgbClr val="FFFFFF"/>
          </a:solidFill>
          <a:ln cap="flat" cmpd="sng" w="508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292100" rotWithShape="0" algn="bl" dir="5400000" dist="1016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29"/>
          <p:cNvSpPr/>
          <p:nvPr/>
        </p:nvSpPr>
        <p:spPr>
          <a:xfrm>
            <a:off x="6295644" y="3029407"/>
            <a:ext cx="512429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29"/>
          <p:cNvSpPr/>
          <p:nvPr/>
        </p:nvSpPr>
        <p:spPr>
          <a:xfrm>
            <a:off x="6581851" y="2409444"/>
            <a:ext cx="381305" cy="381305"/>
          </a:xfrm>
          <a:prstGeom prst="roundRect">
            <a:avLst>
              <a:gd fmla="val 47962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8" name="Google Shape;86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7007" y="2514600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29"/>
          <p:cNvSpPr txBox="1"/>
          <p:nvPr/>
        </p:nvSpPr>
        <p:spPr>
          <a:xfrm>
            <a:off x="7105802" y="2443277"/>
            <a:ext cx="3195828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과대평가 (Overestimation) 문제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9"/>
          <p:cNvSpPr/>
          <p:nvPr/>
        </p:nvSpPr>
        <p:spPr>
          <a:xfrm>
            <a:off x="6581851" y="4848149"/>
            <a:ext cx="4552798" cy="1143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9"/>
          <p:cNvSpPr/>
          <p:nvPr/>
        </p:nvSpPr>
        <p:spPr>
          <a:xfrm>
            <a:off x="6581851" y="4848149"/>
            <a:ext cx="47549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2" name="Google Shape;872;p29"/>
          <p:cNvPicPr preferRelativeResize="0"/>
          <p:nvPr/>
        </p:nvPicPr>
        <p:blipFill rotWithShape="1">
          <a:blip r:embed="rId5">
            <a:alphaModFix/>
          </a:blip>
          <a:srcRect b="0" l="-33" r="-32" t="0"/>
          <a:stretch/>
        </p:blipFill>
        <p:spPr>
          <a:xfrm>
            <a:off x="6819595" y="5076749"/>
            <a:ext cx="171907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29"/>
          <p:cNvSpPr txBox="1"/>
          <p:nvPr/>
        </p:nvSpPr>
        <p:spPr>
          <a:xfrm>
            <a:off x="7067398" y="5038344"/>
            <a:ext cx="7242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B91C1C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한계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9"/>
          <p:cNvSpPr txBox="1"/>
          <p:nvPr/>
        </p:nvSpPr>
        <p:spPr>
          <a:xfrm>
            <a:off x="761695" y="571500"/>
            <a:ext cx="14054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DEEP Q-NETWORK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9"/>
          <p:cNvSpPr txBox="1"/>
          <p:nvPr/>
        </p:nvSpPr>
        <p:spPr>
          <a:xfrm>
            <a:off x="761695" y="857707"/>
            <a:ext cx="5710428" cy="58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DQN 타겟 계산과 과대평가 문제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9"/>
          <p:cNvSpPr txBox="1"/>
          <p:nvPr/>
        </p:nvSpPr>
        <p:spPr>
          <a:xfrm>
            <a:off x="1057046" y="3405226"/>
            <a:ext cx="4646066" cy="7909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DQN의 학습 목표는 현재 상태에서 선택한 행동의 Q값이 '보상 + 미래의 최대 가치'와 같아지도록 하는 것</a:t>
            </a:r>
            <a:endParaRPr b="0" i="0" sz="12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이를 위해 타겟 네트워크를 활용</a:t>
            </a: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9"/>
          <p:cNvSpPr txBox="1"/>
          <p:nvPr/>
        </p:nvSpPr>
        <p:spPr>
          <a:xfrm>
            <a:off x="1378001" y="4812487"/>
            <a:ext cx="4121201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100"/>
              <a:buFont typeface="Noto Sans KR"/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Y = r + γ · maxa' Qtarget(s', a')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9"/>
          <p:cNvSpPr txBox="1"/>
          <p:nvPr/>
        </p:nvSpPr>
        <p:spPr>
          <a:xfrm>
            <a:off x="1895551" y="5329123"/>
            <a:ext cx="29772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r: 보상, γ: 할인율(0.99), s': 다음 상태, a': 다음 행동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9"/>
          <p:cNvSpPr txBox="1"/>
          <p:nvPr/>
        </p:nvSpPr>
        <p:spPr>
          <a:xfrm>
            <a:off x="6581851" y="3333902"/>
            <a:ext cx="4560113" cy="7909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DQN은 타겟 계산 시 max 연산자를 사용</a:t>
            </a: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sz="12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이는 Q값의 추정 오차로 인해 특정 행동의 가치를 실제보다 높게 평가하는 편향(Bias)을 발생시키며, 학습 불안정의 원인이 </a:t>
            </a: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29"/>
          <p:cNvSpPr txBox="1"/>
          <p:nvPr/>
        </p:nvSpPr>
        <p:spPr>
          <a:xfrm>
            <a:off x="6819595" y="5352898"/>
            <a:ext cx="4184294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7F1D1D"/>
                </a:solidFill>
                <a:latin typeface="Noto Sans KR"/>
                <a:ea typeface="Noto Sans KR"/>
                <a:cs typeface="Noto Sans KR"/>
                <a:sym typeface="Noto Sans KR"/>
              </a:rPr>
              <a:t>"낙관적인 가치 추정은 에이전트가 차선의 정책으로 수렴하게 만</a:t>
            </a:r>
            <a:r>
              <a:rPr lang="en-US" sz="1100">
                <a:solidFill>
                  <a:srgbClr val="7F1D1D"/>
                </a:solidFill>
                <a:latin typeface="Noto Sans KR"/>
                <a:ea typeface="Noto Sans KR"/>
                <a:cs typeface="Noto Sans KR"/>
                <a:sym typeface="Noto Sans KR"/>
              </a:rPr>
              <a:t>듦</a:t>
            </a:r>
            <a:r>
              <a:rPr b="0" i="0" lang="en-US" sz="1100" u="none" cap="none" strike="noStrike">
                <a:solidFill>
                  <a:srgbClr val="7F1D1D"/>
                </a:solidFill>
                <a:latin typeface="Noto Sans KR"/>
                <a:ea typeface="Noto Sans KR"/>
                <a:cs typeface="Noto Sans KR"/>
                <a:sym typeface="Noto Sans KR"/>
              </a:rPr>
              <a:t>" </a:t>
            </a:r>
            <a:endParaRPr b="0" i="0" sz="1100" u="none" cap="none" strike="noStrike">
              <a:solidFill>
                <a:srgbClr val="7F1D1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100"/>
              <a:buFont typeface="Noto Sans KR"/>
              <a:buNone/>
            </a:pPr>
            <a:r>
              <a:rPr b="0" i="0" lang="en-US" sz="1100" u="none" cap="none" strike="noStrike">
                <a:solidFill>
                  <a:srgbClr val="7F1D1D"/>
                </a:solidFill>
                <a:latin typeface="Noto Sans KR"/>
                <a:ea typeface="Noto Sans KR"/>
                <a:cs typeface="Noto Sans KR"/>
                <a:sym typeface="Noto Sans KR"/>
              </a:rPr>
              <a:t>→ Double DQN 도입의 직접적인 배경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30"/>
          <p:cNvSpPr/>
          <p:nvPr/>
        </p:nvSpPr>
        <p:spPr>
          <a:xfrm>
            <a:off x="7925105" y="0"/>
            <a:ext cx="426750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0"/>
          <p:cNvSpPr txBox="1"/>
          <p:nvPr/>
        </p:nvSpPr>
        <p:spPr>
          <a:xfrm>
            <a:off x="571500" y="381305"/>
            <a:ext cx="442935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DQN 학습 루프 Training Loop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0"/>
          <p:cNvSpPr txBox="1"/>
          <p:nvPr/>
        </p:nvSpPr>
        <p:spPr>
          <a:xfrm>
            <a:off x="571500" y="914400"/>
            <a:ext cx="3167482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강화학습 에이전트의 순차적 학습 프로세스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0"/>
          <p:cNvSpPr/>
          <p:nvPr/>
        </p:nvSpPr>
        <p:spPr>
          <a:xfrm>
            <a:off x="1047902" y="1714500"/>
            <a:ext cx="10096805" cy="384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0"/>
          <p:cNvSpPr/>
          <p:nvPr/>
        </p:nvSpPr>
        <p:spPr>
          <a:xfrm>
            <a:off x="571500" y="1333195"/>
            <a:ext cx="2542946" cy="457200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30"/>
          <p:cNvSpPr/>
          <p:nvPr/>
        </p:nvSpPr>
        <p:spPr>
          <a:xfrm>
            <a:off x="1651406" y="1533449"/>
            <a:ext cx="381305" cy="381305"/>
          </a:xfrm>
          <a:prstGeom prst="ellipse">
            <a:avLst/>
          </a:prstGeom>
          <a:solidFill>
            <a:srgbClr val="3B82F6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0"/>
          <p:cNvSpPr txBox="1"/>
          <p:nvPr/>
        </p:nvSpPr>
        <p:spPr>
          <a:xfrm>
            <a:off x="1791310" y="1595628"/>
            <a:ext cx="23408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0"/>
          <p:cNvSpPr/>
          <p:nvPr/>
        </p:nvSpPr>
        <p:spPr>
          <a:xfrm>
            <a:off x="771754" y="3400654"/>
            <a:ext cx="2143354" cy="1920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0"/>
          <p:cNvSpPr/>
          <p:nvPr/>
        </p:nvSpPr>
        <p:spPr>
          <a:xfrm>
            <a:off x="771754" y="3562502"/>
            <a:ext cx="2143354" cy="2143354"/>
          </a:xfrm>
          <a:prstGeom prst="roundRect">
            <a:avLst>
              <a:gd fmla="val 151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7" name="Google Shape;89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302" y="212415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30"/>
          <p:cNvSpPr txBox="1"/>
          <p:nvPr/>
        </p:nvSpPr>
        <p:spPr>
          <a:xfrm>
            <a:off x="1502359" y="2476195"/>
            <a:ext cx="81473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행동 선택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0"/>
          <p:cNvSpPr txBox="1"/>
          <p:nvPr/>
        </p:nvSpPr>
        <p:spPr>
          <a:xfrm>
            <a:off x="883310" y="2771546"/>
            <a:ext cx="2017166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Epsilon-Greedy 정책으로 탐험(Random)과 활용(Max Q) 균형 조절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0"/>
          <p:cNvSpPr txBox="1"/>
          <p:nvPr/>
        </p:nvSpPr>
        <p:spPr>
          <a:xfrm>
            <a:off x="895198" y="3685946"/>
            <a:ext cx="10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# Epsilon Decay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0"/>
          <p:cNvSpPr txBox="1"/>
          <p:nvPr/>
        </p:nvSpPr>
        <p:spPr>
          <a:xfrm>
            <a:off x="895198" y="3843223"/>
            <a:ext cx="14028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epsilon = epsilon_by_step(step)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0"/>
          <p:cNvSpPr txBox="1"/>
          <p:nvPr/>
        </p:nvSpPr>
        <p:spPr>
          <a:xfrm>
            <a:off x="895198" y="4472330"/>
            <a:ext cx="4032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else: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0"/>
          <p:cNvSpPr txBox="1"/>
          <p:nvPr/>
        </p:nvSpPr>
        <p:spPr>
          <a:xfrm>
            <a:off x="895198" y="4315054"/>
            <a:ext cx="15939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action = random_choice()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0"/>
          <p:cNvSpPr txBox="1"/>
          <p:nvPr/>
        </p:nvSpPr>
        <p:spPr>
          <a:xfrm>
            <a:off x="895198" y="4157777"/>
            <a:ext cx="1907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if random.random() &lt; epsilon: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0"/>
          <p:cNvSpPr txBox="1"/>
          <p:nvPr/>
        </p:nvSpPr>
        <p:spPr>
          <a:xfrm>
            <a:off x="895198" y="4629607"/>
            <a:ext cx="10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# Greedy Action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0"/>
          <p:cNvSpPr txBox="1"/>
          <p:nvPr/>
        </p:nvSpPr>
        <p:spPr>
          <a:xfrm>
            <a:off x="895198" y="4785970"/>
            <a:ext cx="19743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action = q_net(state).argmax()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0"/>
          <p:cNvSpPr/>
          <p:nvPr/>
        </p:nvSpPr>
        <p:spPr>
          <a:xfrm>
            <a:off x="3407054" y="1333195"/>
            <a:ext cx="2542946" cy="457200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0"/>
          <p:cNvSpPr/>
          <p:nvPr/>
        </p:nvSpPr>
        <p:spPr>
          <a:xfrm>
            <a:off x="4487875" y="1533449"/>
            <a:ext cx="381305" cy="381305"/>
          </a:xfrm>
          <a:prstGeom prst="ellipse">
            <a:avLst/>
          </a:prstGeom>
          <a:solidFill>
            <a:srgbClr val="10B981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0"/>
          <p:cNvSpPr txBox="1"/>
          <p:nvPr/>
        </p:nvSpPr>
        <p:spPr>
          <a:xfrm>
            <a:off x="4627778" y="1595628"/>
            <a:ext cx="23408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0"/>
          <p:cNvSpPr/>
          <p:nvPr/>
        </p:nvSpPr>
        <p:spPr>
          <a:xfrm>
            <a:off x="3607308" y="3400654"/>
            <a:ext cx="2143354" cy="1920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0"/>
          <p:cNvSpPr/>
          <p:nvPr/>
        </p:nvSpPr>
        <p:spPr>
          <a:xfrm>
            <a:off x="3607308" y="3562502"/>
            <a:ext cx="2143354" cy="2143354"/>
          </a:xfrm>
          <a:prstGeom prst="roundRect">
            <a:avLst>
              <a:gd fmla="val 151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2" name="Google Shape;912;p30"/>
          <p:cNvPicPr preferRelativeResize="0"/>
          <p:nvPr/>
        </p:nvPicPr>
        <p:blipFill rotWithShape="1">
          <a:blip r:embed="rId4">
            <a:alphaModFix/>
          </a:blip>
          <a:srcRect b="0" l="-56" r="-57" t="0"/>
          <a:stretch/>
        </p:blipFill>
        <p:spPr>
          <a:xfrm>
            <a:off x="4578401" y="2124151"/>
            <a:ext cx="200254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30"/>
          <p:cNvSpPr txBox="1"/>
          <p:nvPr/>
        </p:nvSpPr>
        <p:spPr>
          <a:xfrm>
            <a:off x="3990442" y="2476195"/>
            <a:ext cx="1510589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경험 저장 &amp; 샘플링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0"/>
          <p:cNvSpPr txBox="1"/>
          <p:nvPr/>
        </p:nvSpPr>
        <p:spPr>
          <a:xfrm>
            <a:off x="3657600" y="2771546"/>
            <a:ext cx="2141525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전이(s,a,r,s')를 버퍼에 저장하고 무작위 배치 샘플링으로 학습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0"/>
          <p:cNvSpPr txBox="1"/>
          <p:nvPr/>
        </p:nvSpPr>
        <p:spPr>
          <a:xfrm>
            <a:off x="3731666" y="3685946"/>
            <a:ext cx="1212494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# Store Transition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0"/>
          <p:cNvSpPr txBox="1"/>
          <p:nvPr/>
        </p:nvSpPr>
        <p:spPr>
          <a:xfrm>
            <a:off x="3731666" y="3843223"/>
            <a:ext cx="1841602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buffer.push(s, a, r, next_s, done)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0"/>
          <p:cNvSpPr txBox="1"/>
          <p:nvPr/>
        </p:nvSpPr>
        <p:spPr>
          <a:xfrm>
            <a:off x="3731666" y="4157777"/>
            <a:ext cx="1907438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if len(buffer) &gt;= BATCH_SIZE: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0"/>
          <p:cNvSpPr txBox="1"/>
          <p:nvPr/>
        </p:nvSpPr>
        <p:spPr>
          <a:xfrm>
            <a:off x="3731666" y="4315054"/>
            <a:ext cx="1155802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# Random Sampling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0"/>
          <p:cNvSpPr txBox="1"/>
          <p:nvPr/>
        </p:nvSpPr>
        <p:spPr>
          <a:xfrm>
            <a:off x="3731666" y="4472330"/>
            <a:ext cx="1841602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batch = buffer.sample(BATCH)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0"/>
          <p:cNvSpPr txBox="1"/>
          <p:nvPr/>
        </p:nvSpPr>
        <p:spPr>
          <a:xfrm>
            <a:off x="3731666" y="4629607"/>
            <a:ext cx="1717243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optimize_dqn(q_net, batch)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0"/>
          <p:cNvSpPr/>
          <p:nvPr/>
        </p:nvSpPr>
        <p:spPr>
          <a:xfrm>
            <a:off x="6243523" y="1333195"/>
            <a:ext cx="2542946" cy="457200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30"/>
          <p:cNvSpPr/>
          <p:nvPr/>
        </p:nvSpPr>
        <p:spPr>
          <a:xfrm>
            <a:off x="7323430" y="1533449"/>
            <a:ext cx="381305" cy="381305"/>
          </a:xfrm>
          <a:prstGeom prst="ellipse">
            <a:avLst/>
          </a:prstGeom>
          <a:solidFill>
            <a:srgbClr val="F59E0B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30"/>
          <p:cNvSpPr txBox="1"/>
          <p:nvPr/>
        </p:nvSpPr>
        <p:spPr>
          <a:xfrm>
            <a:off x="7463333" y="1595628"/>
            <a:ext cx="23408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0"/>
          <p:cNvSpPr/>
          <p:nvPr/>
        </p:nvSpPr>
        <p:spPr>
          <a:xfrm>
            <a:off x="6443777" y="3400654"/>
            <a:ext cx="2143354" cy="1920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30"/>
          <p:cNvSpPr/>
          <p:nvPr/>
        </p:nvSpPr>
        <p:spPr>
          <a:xfrm>
            <a:off x="6443777" y="3562502"/>
            <a:ext cx="2143354" cy="2143354"/>
          </a:xfrm>
          <a:prstGeom prst="roundRect">
            <a:avLst>
              <a:gd fmla="val 151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6" name="Google Shape;926;p30"/>
          <p:cNvPicPr preferRelativeResize="0"/>
          <p:nvPr/>
        </p:nvPicPr>
        <p:blipFill rotWithShape="1">
          <a:blip r:embed="rId5">
            <a:alphaModFix/>
          </a:blip>
          <a:srcRect b="0" l="-133" r="-133" t="0"/>
          <a:stretch/>
        </p:blipFill>
        <p:spPr>
          <a:xfrm>
            <a:off x="7428586" y="2124151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30"/>
          <p:cNvSpPr txBox="1"/>
          <p:nvPr/>
        </p:nvSpPr>
        <p:spPr>
          <a:xfrm>
            <a:off x="6825996" y="2476195"/>
            <a:ext cx="1510589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손실 계산 &amp; 역전파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0"/>
          <p:cNvSpPr txBox="1"/>
          <p:nvPr/>
        </p:nvSpPr>
        <p:spPr>
          <a:xfrm>
            <a:off x="6473038" y="2771546"/>
            <a:ext cx="2179015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TD Error(예측값 - 타겟값)를 최소화하도록 네트워크 업데이트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0"/>
          <p:cNvSpPr txBox="1"/>
          <p:nvPr/>
        </p:nvSpPr>
        <p:spPr>
          <a:xfrm>
            <a:off x="6567221" y="3685946"/>
            <a:ext cx="1469441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# Calculate Loss (MSE)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0"/>
          <p:cNvSpPr txBox="1"/>
          <p:nvPr/>
        </p:nvSpPr>
        <p:spPr>
          <a:xfrm>
            <a:off x="6567221" y="3843223"/>
            <a:ext cx="1783994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loss = F.mse_loss(q_values, targets)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0"/>
          <p:cNvSpPr txBox="1"/>
          <p:nvPr/>
        </p:nvSpPr>
        <p:spPr>
          <a:xfrm>
            <a:off x="6567221" y="4157777"/>
            <a:ext cx="1155802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# Backpropagation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0"/>
          <p:cNvSpPr txBox="1"/>
          <p:nvPr/>
        </p:nvSpPr>
        <p:spPr>
          <a:xfrm>
            <a:off x="6567221" y="4315054"/>
            <a:ext cx="1402690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optimizer.zero_grad()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0"/>
          <p:cNvSpPr txBox="1"/>
          <p:nvPr/>
        </p:nvSpPr>
        <p:spPr>
          <a:xfrm>
            <a:off x="6567221" y="4472330"/>
            <a:ext cx="1031443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loss.backward()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0"/>
          <p:cNvSpPr txBox="1"/>
          <p:nvPr/>
        </p:nvSpPr>
        <p:spPr>
          <a:xfrm>
            <a:off x="6567221" y="4629607"/>
            <a:ext cx="1089050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optimizer.step()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0"/>
          <p:cNvSpPr/>
          <p:nvPr/>
        </p:nvSpPr>
        <p:spPr>
          <a:xfrm>
            <a:off x="9079078" y="1333195"/>
            <a:ext cx="2542946" cy="457200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90500" rotWithShape="0" algn="bl" dir="5400000" dist="381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0"/>
          <p:cNvSpPr/>
          <p:nvPr/>
        </p:nvSpPr>
        <p:spPr>
          <a:xfrm>
            <a:off x="10158984" y="1533449"/>
            <a:ext cx="381305" cy="381305"/>
          </a:xfrm>
          <a:prstGeom prst="ellipse">
            <a:avLst/>
          </a:prstGeom>
          <a:solidFill>
            <a:srgbClr val="8B5CF6"/>
          </a:solidFill>
          <a:ln cap="flat" cmpd="sng" w="508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254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0"/>
          <p:cNvSpPr txBox="1"/>
          <p:nvPr/>
        </p:nvSpPr>
        <p:spPr>
          <a:xfrm>
            <a:off x="10298887" y="1595628"/>
            <a:ext cx="234086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0"/>
          <p:cNvSpPr/>
          <p:nvPr/>
        </p:nvSpPr>
        <p:spPr>
          <a:xfrm>
            <a:off x="9279331" y="3400654"/>
            <a:ext cx="2143354" cy="1920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0"/>
          <p:cNvSpPr/>
          <p:nvPr/>
        </p:nvSpPr>
        <p:spPr>
          <a:xfrm>
            <a:off x="9279331" y="3562502"/>
            <a:ext cx="2143354" cy="2143354"/>
          </a:xfrm>
          <a:prstGeom prst="roundRect">
            <a:avLst>
              <a:gd fmla="val 1517" name="adj"/>
            </a:avLst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0" name="Google Shape;94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35794" y="212415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30"/>
          <p:cNvSpPr txBox="1"/>
          <p:nvPr/>
        </p:nvSpPr>
        <p:spPr>
          <a:xfrm>
            <a:off x="9931298" y="2476195"/>
            <a:ext cx="96743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타겟 동기화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0"/>
          <p:cNvSpPr txBox="1"/>
          <p:nvPr/>
        </p:nvSpPr>
        <p:spPr>
          <a:xfrm>
            <a:off x="9284818" y="2771546"/>
            <a:ext cx="2226564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안정화를 위해 일정 주기마다 Target Network 가중치 업데이트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0"/>
          <p:cNvSpPr txBox="1"/>
          <p:nvPr/>
        </p:nvSpPr>
        <p:spPr>
          <a:xfrm>
            <a:off x="9402775" y="3685946"/>
            <a:ext cx="897941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# Hard Update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0"/>
          <p:cNvSpPr txBox="1"/>
          <p:nvPr/>
        </p:nvSpPr>
        <p:spPr>
          <a:xfrm>
            <a:off x="9402775" y="3843223"/>
            <a:ext cx="1783994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if step % TARGET_SYNC == 0: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0"/>
          <p:cNvSpPr txBox="1"/>
          <p:nvPr/>
        </p:nvSpPr>
        <p:spPr>
          <a:xfrm>
            <a:off x="9402775" y="4000500"/>
            <a:ext cx="1783994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target_net.load_state_dict(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0"/>
          <p:cNvSpPr txBox="1"/>
          <p:nvPr/>
        </p:nvSpPr>
        <p:spPr>
          <a:xfrm>
            <a:off x="9402775" y="4157777"/>
            <a:ext cx="1212494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q_net.state_dict()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0"/>
          <p:cNvSpPr txBox="1"/>
          <p:nvPr/>
        </p:nvSpPr>
        <p:spPr>
          <a:xfrm>
            <a:off x="9402775" y="4315054"/>
            <a:ext cx="145390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0"/>
          <p:cNvSpPr txBox="1"/>
          <p:nvPr/>
        </p:nvSpPr>
        <p:spPr>
          <a:xfrm>
            <a:off x="9402775" y="4472330"/>
            <a:ext cx="1402690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00"/>
              <a:buFont typeface="Fira Code"/>
              <a:buNone/>
            </a:pPr>
            <a:r>
              <a:rPr b="0" i="0" lang="en-US" sz="8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# Stabilizes Training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31"/>
          <p:cNvSpPr txBox="1"/>
          <p:nvPr/>
        </p:nvSpPr>
        <p:spPr>
          <a:xfrm>
            <a:off x="-1064700" y="17400"/>
            <a:ext cx="106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C93F"/>
                </a:solidFill>
              </a:rPr>
              <a:t>현지추가</a:t>
            </a:r>
            <a:endParaRPr b="1" sz="3000">
              <a:solidFill>
                <a:srgbClr val="27C9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955" name="Google Shape;955;p31"/>
          <p:cNvSpPr txBox="1"/>
          <p:nvPr/>
        </p:nvSpPr>
        <p:spPr>
          <a:xfrm>
            <a:off x="571500" y="603963"/>
            <a:ext cx="10179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DQN: 네트워크 구조</a:t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t/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t/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6" name="Google Shape;956;p31"/>
          <p:cNvSpPr txBox="1"/>
          <p:nvPr/>
        </p:nvSpPr>
        <p:spPr>
          <a:xfrm>
            <a:off x="571500" y="893521"/>
            <a:ext cx="68718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네트워크 구조 (CNN Architecture)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7" name="Google Shape;957;p31"/>
          <p:cNvSpPr/>
          <p:nvPr/>
        </p:nvSpPr>
        <p:spPr>
          <a:xfrm>
            <a:off x="571500" y="1781249"/>
            <a:ext cx="4229100" cy="338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8" name="Google Shape;95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49" y="20574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31"/>
          <p:cNvSpPr txBox="1"/>
          <p:nvPr/>
        </p:nvSpPr>
        <p:spPr>
          <a:xfrm>
            <a:off x="1152152" y="2009850"/>
            <a:ext cx="1702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문제 해결 </a:t>
            </a: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1"/>
          <p:cNvSpPr/>
          <p:nvPr/>
        </p:nvSpPr>
        <p:spPr>
          <a:xfrm>
            <a:off x="5276925" y="11622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1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1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31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1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1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31"/>
          <p:cNvSpPr txBox="1"/>
          <p:nvPr/>
        </p:nvSpPr>
        <p:spPr>
          <a:xfrm>
            <a:off x="847650" y="2583020"/>
            <a:ext cx="3820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특징: 6 × 7 보드판의 시각적 패턴을 인식하기 위해 합성곱 신경망(CNN) 사용.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구조: Conv2d(32) → Conv2d(64) → Flatten → Linear(Action 7).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967" name="Google Shape;967;p31"/>
          <p:cNvSpPr txBox="1"/>
          <p:nvPr/>
        </p:nvSpPr>
        <p:spPr>
          <a:xfrm>
            <a:off x="5395525" y="1628850"/>
            <a:ext cx="6248400" cy="4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QNetwork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Module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HAS_TORCH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object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1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__init__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action_dim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5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(초기화 생략)...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cnn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Sequential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1. 특징 추출 (Feature Extraction)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Conv2d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32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kernel_size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stride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),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ReLU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(),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Conv2d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32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64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kernel_size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stride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),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ReLU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(),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Flatten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(),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)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2. 행동 가치 추정 (Q-Value Estimation)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fc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1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Linear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64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1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1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action_dim</a:t>
            </a:r>
            <a:r>
              <a:rPr lang="en-US" sz="11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1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1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8" name="Google Shape;968;p31"/>
          <p:cNvSpPr txBox="1"/>
          <p:nvPr/>
        </p:nvSpPr>
        <p:spPr>
          <a:xfrm>
            <a:off x="6115507" y="1266444"/>
            <a:ext cx="20244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</a:t>
            </a:r>
            <a:r>
              <a:rPr lang="en-US" sz="10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drl_dqn.py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32"/>
          <p:cNvSpPr txBox="1"/>
          <p:nvPr/>
        </p:nvSpPr>
        <p:spPr>
          <a:xfrm>
            <a:off x="-1064700" y="17400"/>
            <a:ext cx="106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C93F"/>
                </a:solidFill>
              </a:rPr>
              <a:t>현지추가</a:t>
            </a:r>
            <a:endParaRPr b="1" sz="3000">
              <a:solidFill>
                <a:srgbClr val="27C9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975" name="Google Shape;975;p32"/>
          <p:cNvSpPr txBox="1"/>
          <p:nvPr/>
        </p:nvSpPr>
        <p:spPr>
          <a:xfrm>
            <a:off x="571500" y="603963"/>
            <a:ext cx="10179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DQN: 타겟 계산</a:t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t/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t/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6" name="Google Shape;976;p32"/>
          <p:cNvSpPr txBox="1"/>
          <p:nvPr/>
        </p:nvSpPr>
        <p:spPr>
          <a:xfrm>
            <a:off x="571500" y="893521"/>
            <a:ext cx="68718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DQN 타겟 계산 (Bellman Optimality Equation)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7" name="Google Shape;977;p32"/>
          <p:cNvSpPr/>
          <p:nvPr/>
        </p:nvSpPr>
        <p:spPr>
          <a:xfrm>
            <a:off x="571500" y="1781249"/>
            <a:ext cx="4229100" cy="338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8" name="Google Shape;97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49" y="20574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32"/>
          <p:cNvSpPr txBox="1"/>
          <p:nvPr/>
        </p:nvSpPr>
        <p:spPr>
          <a:xfrm>
            <a:off x="1152152" y="2009850"/>
            <a:ext cx="1702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문제 해결 </a:t>
            </a: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2"/>
          <p:cNvSpPr/>
          <p:nvPr/>
        </p:nvSpPr>
        <p:spPr>
          <a:xfrm>
            <a:off x="5276925" y="11622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2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2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2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2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2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2"/>
          <p:cNvSpPr txBox="1"/>
          <p:nvPr/>
        </p:nvSpPr>
        <p:spPr>
          <a:xfrm>
            <a:off x="847650" y="2583020"/>
            <a:ext cx="3820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핵심: 다음 상태(s')에서 가장 높은 Q값(max)을 직접 사용하여 타겟을 설정함.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수식: Y = r + γ max_a' Q_target(s', a')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한계: 특정 행동의 가치를 과대평가(Overestimation)하는 경향이 있음 (Double DQN 도입의 계기).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987" name="Google Shape;987;p32"/>
          <p:cNvSpPr txBox="1"/>
          <p:nvPr/>
        </p:nvSpPr>
        <p:spPr>
          <a:xfrm>
            <a:off x="5395525" y="1628850"/>
            <a:ext cx="62484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optimize_dqn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q_net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QNetwork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target_net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QNetwork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batch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Transition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optimizer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torch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.optim.Optimizer,) -&gt;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... (데이터 로딩 생략) ...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with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torch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no_grad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():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Target Network에서 다음 상태의 최대 Q값(Max Q) 계산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max_next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target_net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next_states_t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).max(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dim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keepdim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)[</a:t>
            </a:r>
            <a:r>
              <a:rPr lang="en-US" sz="13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벨만 방정식(Bellman Equation)에 따른 타겟값 설정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rewards_t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GAMMA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max_next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masks_t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예측값(Q)과 타겟값(Y)의 차이(MSE)로 학습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loss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mse_loss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q_values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# ... (역전파) ...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8" name="Google Shape;988;p32"/>
          <p:cNvSpPr txBox="1"/>
          <p:nvPr/>
        </p:nvSpPr>
        <p:spPr>
          <a:xfrm>
            <a:off x="6115507" y="1266444"/>
            <a:ext cx="20244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</a:t>
            </a:r>
            <a:r>
              <a:rPr lang="en-US" sz="10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drl_dqn.py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33"/>
          <p:cNvSpPr txBox="1"/>
          <p:nvPr/>
        </p:nvSpPr>
        <p:spPr>
          <a:xfrm>
            <a:off x="-1064700" y="17400"/>
            <a:ext cx="106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C93F"/>
                </a:solidFill>
              </a:rPr>
              <a:t>현지추가</a:t>
            </a:r>
            <a:endParaRPr b="1" sz="3000">
              <a:solidFill>
                <a:srgbClr val="27C9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995" name="Google Shape;995;p33"/>
          <p:cNvSpPr txBox="1"/>
          <p:nvPr/>
        </p:nvSpPr>
        <p:spPr>
          <a:xfrm>
            <a:off x="571500" y="603963"/>
            <a:ext cx="10179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DQN: 학습 루프</a:t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t/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t/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6" name="Google Shape;996;p33"/>
          <p:cNvSpPr txBox="1"/>
          <p:nvPr/>
        </p:nvSpPr>
        <p:spPr>
          <a:xfrm>
            <a:off x="571500" y="893521"/>
            <a:ext cx="68718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루프 (Training Loop)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t/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7" name="Google Shape;997;p33"/>
          <p:cNvSpPr/>
          <p:nvPr/>
        </p:nvSpPr>
        <p:spPr>
          <a:xfrm>
            <a:off x="571500" y="1781249"/>
            <a:ext cx="4229100" cy="338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8" name="Google Shape;99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49" y="20574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33"/>
          <p:cNvSpPr txBox="1"/>
          <p:nvPr/>
        </p:nvSpPr>
        <p:spPr>
          <a:xfrm>
            <a:off x="1152152" y="2009850"/>
            <a:ext cx="1702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문제 해결 </a:t>
            </a: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3"/>
          <p:cNvSpPr/>
          <p:nvPr/>
        </p:nvSpPr>
        <p:spPr>
          <a:xfrm>
            <a:off x="5276925" y="11622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33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33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3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3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3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33"/>
          <p:cNvSpPr txBox="1"/>
          <p:nvPr/>
        </p:nvSpPr>
        <p:spPr>
          <a:xfrm>
            <a:off x="847650" y="2583020"/>
            <a:ext cx="3820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Epsilon-Greedy: 초기에는 무작위 탐색(ε=0.1)을 하다가 점차 최적 행동 선택 비율을 높임.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Target Sync: 학습 안정화를 위해 일정 주기(TARGET_SYNC)마다 Target Network를 업데이트함.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1007" name="Google Shape;1007;p33"/>
          <p:cNvSpPr txBox="1"/>
          <p:nvPr/>
        </p:nvSpPr>
        <p:spPr>
          <a:xfrm>
            <a:off x="5395525" y="1628850"/>
            <a:ext cx="6248400" cy="4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train_dqn_agent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episodes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3000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-&gt;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QNetwork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... (생략) ...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episode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range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episodes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# 탐험(Exploration) 비율 감소 (Decay)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epsilon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epsilon_by_step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global_step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... (행동 선택 및 환경 상호작용) ...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# Experience Replay: 버퍼에서 샘플링하여 학습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len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buffer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&gt;=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max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BATCH_SIZE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MIN_REPLAY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batch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buffer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sample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BATCH_SIZE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optimize_dqn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q_net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target_net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batch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optimizer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# Target Network 동기화 (Soft/Hard Update)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episode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%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TARGET_SYNC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target_net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.load_state_dict(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q_net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.state_dict())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8" name="Google Shape;1008;p33"/>
          <p:cNvSpPr txBox="1"/>
          <p:nvPr/>
        </p:nvSpPr>
        <p:spPr>
          <a:xfrm>
            <a:off x="6115507" y="1266444"/>
            <a:ext cx="20244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</a:t>
            </a:r>
            <a:r>
              <a:rPr lang="en-US" sz="10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drl_dqn.py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4"/>
          <p:cNvSpPr/>
          <p:nvPr/>
        </p:nvSpPr>
        <p:spPr>
          <a:xfrm>
            <a:off x="5486400" y="0"/>
            <a:ext cx="67052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4"/>
          <p:cNvSpPr txBox="1"/>
          <p:nvPr/>
        </p:nvSpPr>
        <p:spPr>
          <a:xfrm>
            <a:off x="571500" y="381305"/>
            <a:ext cx="7296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DQN: 타겟 계산 개선 Overestimation 해결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4"/>
          <p:cNvSpPr txBox="1"/>
          <p:nvPr/>
        </p:nvSpPr>
        <p:spPr>
          <a:xfrm>
            <a:off x="571500" y="914400"/>
            <a:ext cx="410108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행동 선택(Selection)과 가치 평가(Evaluation)의 분리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4"/>
          <p:cNvSpPr/>
          <p:nvPr/>
        </p:nvSpPr>
        <p:spPr>
          <a:xfrm>
            <a:off x="571500" y="1781251"/>
            <a:ext cx="4229100" cy="159105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4"/>
          <p:cNvSpPr/>
          <p:nvPr/>
        </p:nvSpPr>
        <p:spPr>
          <a:xfrm>
            <a:off x="571500" y="1781251"/>
            <a:ext cx="47549" cy="159105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1" name="Google Shape;102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49" y="20574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34"/>
          <p:cNvSpPr txBox="1"/>
          <p:nvPr/>
        </p:nvSpPr>
        <p:spPr>
          <a:xfrm>
            <a:off x="1152153" y="2009850"/>
            <a:ext cx="2024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문제 해결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4"/>
          <p:cNvSpPr/>
          <p:nvPr/>
        </p:nvSpPr>
        <p:spPr>
          <a:xfrm>
            <a:off x="571500" y="3655771"/>
            <a:ext cx="4229100" cy="629107"/>
          </a:xfrm>
          <a:prstGeom prst="roundRect">
            <a:avLst>
              <a:gd fmla="val 17618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34"/>
          <p:cNvSpPr/>
          <p:nvPr/>
        </p:nvSpPr>
        <p:spPr>
          <a:xfrm>
            <a:off x="571500" y="4375404"/>
            <a:ext cx="4229100" cy="629107"/>
          </a:xfrm>
          <a:prstGeom prst="roundRect">
            <a:avLst>
              <a:gd fmla="val 17618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4"/>
          <p:cNvSpPr/>
          <p:nvPr/>
        </p:nvSpPr>
        <p:spPr>
          <a:xfrm>
            <a:off x="571500" y="5143500"/>
            <a:ext cx="4229100" cy="504749"/>
          </a:xfrm>
          <a:prstGeom prst="roundRect">
            <a:avLst>
              <a:gd fmla="val 27345" name="adj"/>
            </a:avLst>
          </a:prstGeom>
          <a:solidFill>
            <a:srgbClr val="F0F4F8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4"/>
          <p:cNvSpPr/>
          <p:nvPr/>
        </p:nvSpPr>
        <p:spPr>
          <a:xfrm>
            <a:off x="5277002" y="1143000"/>
            <a:ext cx="6344107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optimize_double_dqn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q_net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QNetwork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target_net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QNetwork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batch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Transition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optimizer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torch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.optim.Optimizer):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... (전처리 코드 생략) …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# 타겟 값 계산 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with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torch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no_grad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행동 선택 (Action Selection) : Online Network 사용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next_q_online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q_net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next_states_t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next_actions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next_q_online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.argmax(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dim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keepdim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가치 평가 (Value Evaluation) : Target Network 사용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next_q_target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target_net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next_states_t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Target Net에서 Online Net이 선택한 행동의 Q값 가져옴.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next_values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next_q_target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.gather(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next_actions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벨만 방정식 적용 (TD Target)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rewards_t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GAMMA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next_values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masks_t</a:t>
            </a:r>
            <a:endParaRPr sz="120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loss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mse_loss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q_values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#... (역전파 코드 생략)...</a:t>
            </a:r>
            <a:endParaRPr sz="1200"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7" name="Google Shape;1027;p34"/>
          <p:cNvSpPr/>
          <p:nvPr/>
        </p:nvSpPr>
        <p:spPr>
          <a:xfrm>
            <a:off x="5277002" y="1143000"/>
            <a:ext cx="6344107" cy="43799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34"/>
          <p:cNvSpPr/>
          <p:nvPr/>
        </p:nvSpPr>
        <p:spPr>
          <a:xfrm>
            <a:off x="5277002" y="1571854"/>
            <a:ext cx="6344107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4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4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4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34"/>
          <p:cNvSpPr txBox="1"/>
          <p:nvPr/>
        </p:nvSpPr>
        <p:spPr>
          <a:xfrm>
            <a:off x="847649" y="2410358"/>
            <a:ext cx="3820363" cy="724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기본 DQN은 최댓값(max) 연산으로 인해 Q값을 과대평가하는 경향이 있</a:t>
            </a:r>
            <a:r>
              <a:rPr lang="en-US" sz="12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음</a:t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DQN은 두 개의 네트워크를 사용하여 이 편향을 제</a:t>
            </a:r>
            <a:r>
              <a:rPr lang="en-US" sz="12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거함</a:t>
            </a:r>
            <a:r>
              <a:rPr b="0" i="0" lang="en-US" sz="12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3" name="Google Shape;1033;p34"/>
          <p:cNvPicPr preferRelativeResize="0"/>
          <p:nvPr/>
        </p:nvPicPr>
        <p:blipFill rotWithShape="1">
          <a:blip r:embed="rId4">
            <a:alphaModFix/>
          </a:blip>
          <a:srcRect b="-1086" l="0" r="0" t="-1086"/>
          <a:stretch/>
        </p:blipFill>
        <p:spPr>
          <a:xfrm>
            <a:off x="666598" y="3829507"/>
            <a:ext cx="1051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34"/>
          <p:cNvSpPr txBox="1"/>
          <p:nvPr/>
        </p:nvSpPr>
        <p:spPr>
          <a:xfrm>
            <a:off x="866851" y="3750869"/>
            <a:ext cx="1762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1. 행동 선택 (Selection)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4"/>
          <p:cNvSpPr txBox="1"/>
          <p:nvPr/>
        </p:nvSpPr>
        <p:spPr>
          <a:xfrm>
            <a:off x="866851" y="3988613"/>
            <a:ext cx="28721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Online Network(θ)가 최적의 행동을 선택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6" name="Google Shape;103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598" y="4549140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34"/>
          <p:cNvSpPr txBox="1"/>
          <p:nvPr/>
        </p:nvSpPr>
        <p:spPr>
          <a:xfrm>
            <a:off x="933602" y="4470502"/>
            <a:ext cx="18672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2. 가치 평가 (Evaluation)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4"/>
          <p:cNvSpPr txBox="1"/>
          <p:nvPr/>
        </p:nvSpPr>
        <p:spPr>
          <a:xfrm>
            <a:off x="933602" y="4709160"/>
            <a:ext cx="329092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Network(θ')가 선택된 행동의 가치를 평가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4"/>
          <p:cNvSpPr txBox="1"/>
          <p:nvPr/>
        </p:nvSpPr>
        <p:spPr>
          <a:xfrm>
            <a:off x="1005840" y="5305349"/>
            <a:ext cx="3462833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Fira Code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Fira Code"/>
                <a:ea typeface="Fira Code"/>
                <a:cs typeface="Fira Code"/>
                <a:sym typeface="Fira Code"/>
              </a:rPr>
              <a:t>Y = R + γ · Q'(s', argmax Q(s', a; θ); θ')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4"/>
          <p:cNvSpPr txBox="1"/>
          <p:nvPr/>
        </p:nvSpPr>
        <p:spPr>
          <a:xfrm>
            <a:off x="6115507" y="1266444"/>
            <a:ext cx="202448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submission_drl_double.py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35"/>
          <p:cNvSpPr txBox="1"/>
          <p:nvPr/>
        </p:nvSpPr>
        <p:spPr>
          <a:xfrm>
            <a:off x="-1064700" y="17400"/>
            <a:ext cx="106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C93F"/>
                </a:solidFill>
              </a:rPr>
              <a:t>현지추가</a:t>
            </a:r>
            <a:endParaRPr b="1" sz="3000">
              <a:solidFill>
                <a:srgbClr val="27C9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1047" name="Google Shape;1047;p35"/>
          <p:cNvSpPr txBox="1"/>
          <p:nvPr/>
        </p:nvSpPr>
        <p:spPr>
          <a:xfrm>
            <a:off x="571500" y="381300"/>
            <a:ext cx="10179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DQN: </a:t>
            </a: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CNN 네트워크 구조 (Neural Network Architecture)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5"/>
          <p:cNvSpPr txBox="1"/>
          <p:nvPr/>
        </p:nvSpPr>
        <p:spPr>
          <a:xfrm>
            <a:off x="571500" y="914400"/>
            <a:ext cx="4101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보드 상태를 이미지처럼 인식하여 특징을 추출함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t/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9" name="Google Shape;1049;p35"/>
          <p:cNvSpPr/>
          <p:nvPr/>
        </p:nvSpPr>
        <p:spPr>
          <a:xfrm>
            <a:off x="571500" y="1781251"/>
            <a:ext cx="4229100" cy="15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5"/>
          <p:cNvSpPr/>
          <p:nvPr/>
        </p:nvSpPr>
        <p:spPr>
          <a:xfrm>
            <a:off x="571500" y="1781251"/>
            <a:ext cx="47400" cy="1591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1" name="Google Shape;10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49" y="20574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35"/>
          <p:cNvSpPr txBox="1"/>
          <p:nvPr/>
        </p:nvSpPr>
        <p:spPr>
          <a:xfrm>
            <a:off x="1152152" y="2009850"/>
            <a:ext cx="1702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문제 해결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5"/>
          <p:cNvSpPr/>
          <p:nvPr/>
        </p:nvSpPr>
        <p:spPr>
          <a:xfrm>
            <a:off x="571500" y="3655771"/>
            <a:ext cx="4229100" cy="629100"/>
          </a:xfrm>
          <a:prstGeom prst="roundRect">
            <a:avLst>
              <a:gd fmla="val 17618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5400000" dist="254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35"/>
          <p:cNvSpPr/>
          <p:nvPr/>
        </p:nvSpPr>
        <p:spPr>
          <a:xfrm>
            <a:off x="5276925" y="11622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35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35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35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35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35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35"/>
          <p:cNvSpPr txBox="1"/>
          <p:nvPr/>
        </p:nvSpPr>
        <p:spPr>
          <a:xfrm>
            <a:off x="847649" y="2410358"/>
            <a:ext cx="38205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2개의 Conv Layer를 통해 가로/세로/대각선 패턴을 학습함.</a:t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1061" name="Google Shape;1061;p35"/>
          <p:cNvPicPr preferRelativeResize="0"/>
          <p:nvPr/>
        </p:nvPicPr>
        <p:blipFill rotWithShape="1">
          <a:blip r:embed="rId4">
            <a:alphaModFix/>
          </a:blip>
          <a:srcRect b="-1093" l="0" r="0" t="-1083"/>
          <a:stretch/>
        </p:blipFill>
        <p:spPr>
          <a:xfrm>
            <a:off x="666598" y="3829507"/>
            <a:ext cx="1051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35"/>
          <p:cNvSpPr txBox="1"/>
          <p:nvPr/>
        </p:nvSpPr>
        <p:spPr>
          <a:xfrm>
            <a:off x="866849" y="3750876"/>
            <a:ext cx="3601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입력: (1, 6, 7) 형태의 보드 상태</a:t>
            </a:r>
            <a:endParaRPr b="1" sz="1200">
              <a:solidFill>
                <a:srgbClr val="2D374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2D3748"/>
                </a:solidFill>
                <a:latin typeface="Noto Sans KR"/>
                <a:ea typeface="Noto Sans KR"/>
                <a:cs typeface="Noto Sans KR"/>
                <a:sym typeface="Noto Sans KR"/>
              </a:rPr>
              <a:t>출력: 7개의 열(Column) 각각에 대한 Q-Value</a:t>
            </a:r>
            <a:endParaRPr b="1" sz="1200">
              <a:solidFill>
                <a:srgbClr val="2D374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t/>
            </a:r>
            <a:endParaRPr b="1" sz="1200">
              <a:solidFill>
                <a:srgbClr val="2D374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Noto Sans KR"/>
              <a:buNone/>
            </a:pPr>
            <a:r>
              <a:t/>
            </a:r>
            <a:endParaRPr b="1" sz="1200">
              <a:solidFill>
                <a:srgbClr val="2D374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3" name="Google Shape;1063;p35"/>
          <p:cNvSpPr txBox="1"/>
          <p:nvPr/>
        </p:nvSpPr>
        <p:spPr>
          <a:xfrm>
            <a:off x="866850" y="3988629"/>
            <a:ext cx="3933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특징 추출: 3x3 필터를 사용하여 4목 게임의 </a:t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핵심인 연속된 돌의 패턴을 파악함</a:t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t/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4" name="Google Shape;1064;p35"/>
          <p:cNvSpPr txBox="1"/>
          <p:nvPr/>
        </p:nvSpPr>
        <p:spPr>
          <a:xfrm>
            <a:off x="6115507" y="1266444"/>
            <a:ext cx="20244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submission_drl_double.py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35"/>
          <p:cNvSpPr txBox="1"/>
          <p:nvPr/>
        </p:nvSpPr>
        <p:spPr>
          <a:xfrm>
            <a:off x="5381775" y="1628850"/>
            <a:ext cx="5849100" cy="43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QNetwork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Module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if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HAS_TORCH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else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object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__init__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action_dim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):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# ... (초기화 생략) ...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cnn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Sequential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# 첫 번째 합성곱 층: 채널 1 -&gt; 32, 커널 3x3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Conv2d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32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kernel_size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stride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),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ReLU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(),</a:t>
            </a: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활성화 함수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# 두 번째 합성곱 층: 채널 32 -&gt; 64, 커널 3x3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Conv2d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32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64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kernel_size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stride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),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ReLU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(),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   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Flatten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(),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# 1차원 벡터로 변환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)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# 완전 연결 층 (Fully Connected): 행동 개수(7개)만큼 출력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fc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Linear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64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action_dim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forward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torch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.Tensor) -&gt;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torch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.Tensor: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# CNN -&gt; FC 순전파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fc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cnn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))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36"/>
          <p:cNvSpPr txBox="1"/>
          <p:nvPr/>
        </p:nvSpPr>
        <p:spPr>
          <a:xfrm>
            <a:off x="-1064700" y="17400"/>
            <a:ext cx="106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C93F"/>
                </a:solidFill>
              </a:rPr>
              <a:t>현지추가</a:t>
            </a:r>
            <a:endParaRPr b="1" sz="3000">
              <a:solidFill>
                <a:srgbClr val="27C9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1072" name="Google Shape;1072;p36"/>
          <p:cNvSpPr txBox="1"/>
          <p:nvPr/>
        </p:nvSpPr>
        <p:spPr>
          <a:xfrm>
            <a:off x="571500" y="381300"/>
            <a:ext cx="10179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DQN: </a:t>
            </a: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추론 전용 정책 (Embedded Policy for Kaggle)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6"/>
          <p:cNvSpPr txBox="1"/>
          <p:nvPr/>
        </p:nvSpPr>
        <p:spPr>
          <a:xfrm>
            <a:off x="571500" y="893519"/>
            <a:ext cx="54696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학습된 PyTorch 가중치를 NumPy로 변환하여 제출 환경에서 실행함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t/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t/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4" name="Google Shape;1074;p36"/>
          <p:cNvSpPr/>
          <p:nvPr/>
        </p:nvSpPr>
        <p:spPr>
          <a:xfrm>
            <a:off x="571500" y="1781251"/>
            <a:ext cx="4229100" cy="1591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36"/>
          <p:cNvSpPr/>
          <p:nvPr/>
        </p:nvSpPr>
        <p:spPr>
          <a:xfrm>
            <a:off x="571500" y="1781251"/>
            <a:ext cx="47400" cy="1591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6" name="Google Shape;107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49" y="20574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36"/>
          <p:cNvSpPr txBox="1"/>
          <p:nvPr/>
        </p:nvSpPr>
        <p:spPr>
          <a:xfrm>
            <a:off x="1152152" y="2009850"/>
            <a:ext cx="1702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문제 해결 </a:t>
            </a: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6"/>
          <p:cNvSpPr/>
          <p:nvPr/>
        </p:nvSpPr>
        <p:spPr>
          <a:xfrm>
            <a:off x="5276925" y="11622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36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36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36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36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36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36"/>
          <p:cNvSpPr txBox="1"/>
          <p:nvPr/>
        </p:nvSpPr>
        <p:spPr>
          <a:xfrm>
            <a:off x="847650" y="2583027"/>
            <a:ext cx="38205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</a:rPr>
              <a:t>• </a:t>
            </a:r>
            <a:r>
              <a:rPr lang="en-US" sz="1050">
                <a:solidFill>
                  <a:srgbClr val="4C4C4D"/>
                </a:solidFill>
              </a:rPr>
              <a:t>Kaggle 환경 제약(라이브러리 로딩 시간, 파일 크기 등)을 극복하기 위해 구현함</a:t>
            </a:r>
            <a:endParaRPr sz="1050">
              <a:solidFill>
                <a:srgbClr val="4C4C4D"/>
              </a:solidFill>
            </a:endParaRPr>
          </a:p>
          <a:p>
            <a:pPr indent="0" lvl="0" marL="0" rtl="0" algn="l">
              <a:lnSpc>
                <a:spcPct val="14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dk1"/>
                </a:solidFill>
              </a:rPr>
              <a:t>•</a:t>
            </a:r>
            <a:r>
              <a:rPr lang="en-US" sz="1050">
                <a:solidFill>
                  <a:srgbClr val="4C4C4D"/>
                </a:solidFill>
              </a:rPr>
              <a:t>torch.nn.Conv2d 등의 연산을 self._conv 메서드와 np 연산으로 직접 구현하여 이식성을 높임</a:t>
            </a:r>
            <a:endParaRPr sz="1050">
              <a:solidFill>
                <a:srgbClr val="4C4C4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2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5" name="Google Shape;1085;p36"/>
          <p:cNvSpPr txBox="1"/>
          <p:nvPr/>
        </p:nvSpPr>
        <p:spPr>
          <a:xfrm>
            <a:off x="6115507" y="1266444"/>
            <a:ext cx="20244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submission_drl_double.py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6"/>
          <p:cNvSpPr txBox="1"/>
          <p:nvPr/>
        </p:nvSpPr>
        <p:spPr>
          <a:xfrm>
            <a:off x="5456000" y="1628850"/>
            <a:ext cx="5849100" cy="44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class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EmbeddedPolicy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__init__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literal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Dict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str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List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]):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# 학습된 가중치(Dictionary)를 NumPy 배열로 로드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np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asarray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literal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CE9178"/>
                </a:solidFill>
                <a:latin typeface="Fira Code"/>
                <a:ea typeface="Fira Code"/>
                <a:cs typeface="Fira Code"/>
                <a:sym typeface="Fira Code"/>
              </a:rPr>
              <a:t>"cnn.0.weight"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dtype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np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float32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# ... (나머지 가중치 로드 생략) ...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act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state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np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ndarray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playable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List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]) -&gt;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# NumPy 연산만으로 CNN 순전파(Forward) 구현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state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astype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np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float32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_conv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w1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수동 Conv 연산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np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maximum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out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# ReLU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# ... (중략) ...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logits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fc_w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@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reshape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fc_b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# 불가능한 행동 마스킹 후 최적 행동 선택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masked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np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full_like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logits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np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inf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masked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playable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logits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[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playable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]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np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argmax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masked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))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7"/>
          <p:cNvSpPr txBox="1"/>
          <p:nvPr/>
        </p:nvSpPr>
        <p:spPr>
          <a:xfrm>
            <a:off x="-1064700" y="17400"/>
            <a:ext cx="106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C93F"/>
                </a:solidFill>
              </a:rPr>
              <a:t>현지추가</a:t>
            </a:r>
            <a:endParaRPr b="1" sz="3000">
              <a:solidFill>
                <a:srgbClr val="27C9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1093" name="Google Shape;1093;p37"/>
          <p:cNvSpPr txBox="1"/>
          <p:nvPr/>
        </p:nvSpPr>
        <p:spPr>
          <a:xfrm>
            <a:off x="571500" y="381300"/>
            <a:ext cx="10179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Dueling DQN: 네트워크 구조 (Target Calculation)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7"/>
          <p:cNvSpPr txBox="1"/>
          <p:nvPr/>
        </p:nvSpPr>
        <p:spPr>
          <a:xfrm>
            <a:off x="571500" y="893521"/>
            <a:ext cx="68718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하나의 신경망 내부를 두 개의 줄기(Stream)로 분리하는 구조적 특징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t/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t/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5" name="Google Shape;1095;p37"/>
          <p:cNvSpPr/>
          <p:nvPr/>
        </p:nvSpPr>
        <p:spPr>
          <a:xfrm>
            <a:off x="571500" y="1781249"/>
            <a:ext cx="4229100" cy="338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6" name="Google Shape;109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49" y="20574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37"/>
          <p:cNvSpPr txBox="1"/>
          <p:nvPr/>
        </p:nvSpPr>
        <p:spPr>
          <a:xfrm>
            <a:off x="1152152" y="2009850"/>
            <a:ext cx="1702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문제 해결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7"/>
          <p:cNvSpPr/>
          <p:nvPr/>
        </p:nvSpPr>
        <p:spPr>
          <a:xfrm>
            <a:off x="5276925" y="11622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37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37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37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37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37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37"/>
          <p:cNvSpPr txBox="1"/>
          <p:nvPr/>
        </p:nvSpPr>
        <p:spPr>
          <a:xfrm>
            <a:off x="847650" y="2583020"/>
            <a:ext cx="3820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CNN으로 특징을 추출한 후, 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상태 가치(V)와 행동 이점(A)을 각각 별도로 계산함.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기존 DQN은 Q값 하나만 출력하지만, 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Dueling DQN은 V(s)와 A(s,a)로 역할을 분담함.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행동 간의 차이가 미미한 상태에서도 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V(s) 학습을 통해 효율적인 업데이트가 가능함.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1105" name="Google Shape;1105;p37"/>
          <p:cNvSpPr txBox="1"/>
          <p:nvPr/>
        </p:nvSpPr>
        <p:spPr>
          <a:xfrm>
            <a:off x="5395525" y="1628850"/>
            <a:ext cx="6248400" cy="45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DuelingQNetwork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4FC1FF"/>
                </a:solidFill>
                <a:latin typeface="Courier New"/>
                <a:ea typeface="Courier New"/>
                <a:cs typeface="Courier New"/>
                <a:sym typeface="Courier New"/>
              </a:rPr>
              <a:t>HAS_TORCH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3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3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__init__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action_dim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# ... (CNN 층 정의 생략) ...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# Stream 1: State Value (V) - 상태 자체의 좋고 나쁨 평가 (출력 1개)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fc_value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Linear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Linear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# Stream 2: Action Advantage (A) - 각 행동의 상대적 우위 평가 (출력 7개)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fc_adv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Linear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CCCC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adv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nn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300">
                <a:solidFill>
                  <a:srgbClr val="4EC9B0"/>
                </a:solidFill>
                <a:latin typeface="Courier New"/>
                <a:ea typeface="Courier New"/>
                <a:cs typeface="Courier New"/>
                <a:sym typeface="Courier New"/>
              </a:rPr>
              <a:t>Linear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3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action_dim</a:t>
            </a:r>
            <a:r>
              <a:rPr lang="en-US" sz="1300">
                <a:solidFill>
                  <a:srgbClr val="CCCCC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06" name="Google Shape;1106;p37"/>
          <p:cNvSpPr txBox="1"/>
          <p:nvPr/>
        </p:nvSpPr>
        <p:spPr>
          <a:xfrm>
            <a:off x="6115507" y="1266444"/>
            <a:ext cx="20244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submission_drl_</a:t>
            </a:r>
            <a:r>
              <a:rPr lang="en-US" sz="1000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dueling</a:t>
            </a: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8"/>
          <p:cNvSpPr txBox="1"/>
          <p:nvPr/>
        </p:nvSpPr>
        <p:spPr>
          <a:xfrm>
            <a:off x="-1064700" y="17400"/>
            <a:ext cx="106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C93F"/>
                </a:solidFill>
              </a:rPr>
              <a:t>현지추가</a:t>
            </a:r>
            <a:endParaRPr b="1" sz="3000">
              <a:solidFill>
                <a:srgbClr val="27C9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1113" name="Google Shape;1113;p38"/>
          <p:cNvSpPr txBox="1"/>
          <p:nvPr/>
        </p:nvSpPr>
        <p:spPr>
          <a:xfrm>
            <a:off x="571500" y="566852"/>
            <a:ext cx="10179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Dueling DQN: 결합 층</a:t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t/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4" name="Google Shape;1114;p38"/>
          <p:cNvSpPr txBox="1"/>
          <p:nvPr/>
        </p:nvSpPr>
        <p:spPr>
          <a:xfrm>
            <a:off x="571500" y="893521"/>
            <a:ext cx="68718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분리된 V와 A를 다시 합쳐 최종 Q값을 도출하는 과정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t/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t/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5" name="Google Shape;1115;p38"/>
          <p:cNvSpPr/>
          <p:nvPr/>
        </p:nvSpPr>
        <p:spPr>
          <a:xfrm>
            <a:off x="571500" y="1781249"/>
            <a:ext cx="4229100" cy="338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6" name="Google Shape;111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49" y="20574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38"/>
          <p:cNvSpPr txBox="1"/>
          <p:nvPr/>
        </p:nvSpPr>
        <p:spPr>
          <a:xfrm>
            <a:off x="1152152" y="2009850"/>
            <a:ext cx="1702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문제 해결 </a:t>
            </a: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8"/>
          <p:cNvSpPr/>
          <p:nvPr/>
        </p:nvSpPr>
        <p:spPr>
          <a:xfrm>
            <a:off x="5276925" y="11622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38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38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38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38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38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38"/>
          <p:cNvSpPr txBox="1"/>
          <p:nvPr/>
        </p:nvSpPr>
        <p:spPr>
          <a:xfrm>
            <a:off x="847650" y="2583020"/>
            <a:ext cx="3820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평균을 빼주는 연산(Mean Subtraction)을 통해 식별성(Identifiability) 문제를 해결함.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단순히 V + A를 하면 V와 A의 값이 유일하게 결정되지 않음.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A의 평균을 0으로 만들어 V가 진정한 상태 가치를 나타내도록 강제함.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1125" name="Google Shape;1125;p38"/>
          <p:cNvSpPr txBox="1"/>
          <p:nvPr/>
        </p:nvSpPr>
        <p:spPr>
          <a:xfrm>
            <a:off x="5395525" y="1628850"/>
            <a:ext cx="6248400" cy="38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3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forward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torch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.Tensor) -&gt;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torch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.Tensor: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type: ignore[override]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feat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cnn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x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relu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fc_value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feat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relu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fc_adv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feat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))</a:t>
            </a:r>
            <a:endParaRPr sz="13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value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스칼라 값 (Batch, 1)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self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adv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# 벡터 값 (Batch, 7)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3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</a:t>
            </a:r>
            <a:r>
              <a:rPr lang="en-US" sz="13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# 결합 공식: Q(s,a) = V(s) + (A(s,a) - mean(A(s,a)))</a:t>
            </a:r>
            <a:endParaRPr sz="13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v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-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a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.mean(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dim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3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keepdim</a:t>
            </a:r>
            <a:r>
              <a:rPr lang="en-US" sz="13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3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13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3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6" name="Google Shape;1126;p38"/>
          <p:cNvSpPr txBox="1"/>
          <p:nvPr/>
        </p:nvSpPr>
        <p:spPr>
          <a:xfrm>
            <a:off x="6115507" y="1266444"/>
            <a:ext cx="20244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submission_drl_double.py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39"/>
          <p:cNvSpPr txBox="1"/>
          <p:nvPr/>
        </p:nvSpPr>
        <p:spPr>
          <a:xfrm>
            <a:off x="-1064700" y="17400"/>
            <a:ext cx="106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C93F"/>
                </a:solidFill>
              </a:rPr>
              <a:t>현지추가</a:t>
            </a:r>
            <a:endParaRPr b="1" sz="3000">
              <a:solidFill>
                <a:srgbClr val="27C9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1133" name="Google Shape;1133;p39"/>
          <p:cNvSpPr txBox="1"/>
          <p:nvPr/>
        </p:nvSpPr>
        <p:spPr>
          <a:xfrm>
            <a:off x="571500" y="455521"/>
            <a:ext cx="101793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Dueling DQN: Double DQN 방식 적용</a:t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t/>
            </a:r>
            <a:endParaRPr b="1" sz="2400">
              <a:solidFill>
                <a:srgbClr val="2C3E5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4" name="Google Shape;1134;p39"/>
          <p:cNvSpPr txBox="1"/>
          <p:nvPr/>
        </p:nvSpPr>
        <p:spPr>
          <a:xfrm>
            <a:off x="571500" y="893521"/>
            <a:ext cx="68718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Dueling 구조를 사용하더라도 학습 방법은 Double DQN 방식을 채택하여 안정성을 높임</a:t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t/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Noto Sans KR"/>
              <a:buNone/>
            </a:pPr>
            <a:r>
              <a:t/>
            </a:r>
            <a:endParaRPr sz="1300">
              <a:solidFill>
                <a:srgbClr val="5D6D7E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5" name="Google Shape;1135;p39"/>
          <p:cNvSpPr/>
          <p:nvPr/>
        </p:nvSpPr>
        <p:spPr>
          <a:xfrm>
            <a:off x="571500" y="1781249"/>
            <a:ext cx="4229100" cy="3383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381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6" name="Google Shape;113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649" y="205740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39"/>
          <p:cNvSpPr txBox="1"/>
          <p:nvPr/>
        </p:nvSpPr>
        <p:spPr>
          <a:xfrm>
            <a:off x="1152152" y="2009850"/>
            <a:ext cx="1702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90E2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문제 해결 </a:t>
            </a:r>
            <a:r>
              <a:rPr b="1" lang="en-US" sz="1500">
                <a:solidFill>
                  <a:srgbClr val="4A90E2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9"/>
          <p:cNvSpPr/>
          <p:nvPr/>
        </p:nvSpPr>
        <p:spPr>
          <a:xfrm>
            <a:off x="5276925" y="1162200"/>
            <a:ext cx="6344100" cy="5143500"/>
          </a:xfrm>
          <a:prstGeom prst="roundRect">
            <a:avLst>
              <a:gd fmla="val 395" name="adj"/>
            </a:avLst>
          </a:prstGeom>
          <a:solidFill>
            <a:srgbClr val="1E293B"/>
          </a:solidFill>
          <a:ln>
            <a:noFill/>
          </a:ln>
          <a:effectLst>
            <a:outerShdw blurRad="292100" rotWithShape="0" algn="bl" dir="5400000" dist="101600">
              <a:srgbClr val="000000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39"/>
          <p:cNvSpPr/>
          <p:nvPr/>
        </p:nvSpPr>
        <p:spPr>
          <a:xfrm>
            <a:off x="5277002" y="1143000"/>
            <a:ext cx="6344100" cy="43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39"/>
          <p:cNvSpPr/>
          <p:nvPr/>
        </p:nvSpPr>
        <p:spPr>
          <a:xfrm>
            <a:off x="5277002" y="1571854"/>
            <a:ext cx="6344100" cy="9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39"/>
          <p:cNvSpPr/>
          <p:nvPr/>
        </p:nvSpPr>
        <p:spPr>
          <a:xfrm>
            <a:off x="5467198" y="1300277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39"/>
          <p:cNvSpPr/>
          <p:nvPr/>
        </p:nvSpPr>
        <p:spPr>
          <a:xfrm>
            <a:off x="5658307" y="1300277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39"/>
          <p:cNvSpPr/>
          <p:nvPr/>
        </p:nvSpPr>
        <p:spPr>
          <a:xfrm>
            <a:off x="5848502" y="1300277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39"/>
          <p:cNvSpPr txBox="1"/>
          <p:nvPr/>
        </p:nvSpPr>
        <p:spPr>
          <a:xfrm>
            <a:off x="847650" y="2583020"/>
            <a:ext cx="3820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핵심 포인트: Dueling 아키텍처 위에서 Double DQN의 오차 계산 방식을 그대로 사용함.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구조는 Dueling, 학습법은 Double DQN을 결합한 형태임(Dueling Double DQN).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rPr lang="en-US" sz="1050">
                <a:solidFill>
                  <a:schemeClr val="dk1"/>
                </a:solidFill>
              </a:rPr>
              <a:t>과대평가 방지(Double)와 학습 효율성 증대(Dueling) 효과를 동시에 얻음.</a:t>
            </a:r>
            <a:endParaRPr sz="10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Noto Sans KR"/>
              <a:buNone/>
            </a:pPr>
            <a:r>
              <a:t/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1145" name="Google Shape;1145;p39"/>
          <p:cNvSpPr txBox="1"/>
          <p:nvPr/>
        </p:nvSpPr>
        <p:spPr>
          <a:xfrm>
            <a:off x="5395525" y="1628850"/>
            <a:ext cx="6248400" cy="45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optimize_double_dueling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q_net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DuelingQNetwork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target_net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DuelingQNetwork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batch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Transition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optimizer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torch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.optim.Optimizer,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 -&gt;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200">
              <a:solidFill>
                <a:srgbClr val="569CD6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# ... (중략) ...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-US" sz="1200">
                <a:solidFill>
                  <a:srgbClr val="C586C0"/>
                </a:solidFill>
                <a:latin typeface="Fira Code"/>
                <a:ea typeface="Fira Code"/>
                <a:cs typeface="Fira Code"/>
                <a:sym typeface="Fira Code"/>
              </a:rPr>
              <a:t>with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torch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</a:t>
            </a:r>
            <a:r>
              <a:rPr lang="en-US" sz="12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no_grad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():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# Dueling Net으로 행동 선택 (Selection)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next_q_online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q_net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next_states_t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next_actions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next_q_online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.argmax(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dim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keepdim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569CD6"/>
                </a:solidFill>
                <a:latin typeface="Fira Code"/>
                <a:ea typeface="Fira Code"/>
                <a:cs typeface="Fira Code"/>
                <a:sym typeface="Fira Code"/>
              </a:rPr>
              <a:t>True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rPr lang="en-US" sz="1200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        # Target Net으로 가치 평가 (Evaluation)</a:t>
            </a:r>
            <a:endParaRPr sz="1200">
              <a:solidFill>
                <a:srgbClr val="6A9955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next_values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next_q_target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.gather(</a:t>
            </a:r>
            <a:r>
              <a:rPr lang="en-US" sz="1200">
                <a:solidFill>
                  <a:srgbClr val="B5CEA8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next_actions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)</a:t>
            </a:r>
            <a:endParaRPr sz="1200">
              <a:solidFill>
                <a:srgbClr val="CCCCCC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      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targets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rewards_t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4FC1FF"/>
                </a:solidFill>
                <a:latin typeface="Fira Code"/>
                <a:ea typeface="Fira Code"/>
                <a:cs typeface="Fira Code"/>
                <a:sym typeface="Fira Code"/>
              </a:rPr>
              <a:t>GAMMA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4D4D4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next_values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*</a:t>
            </a:r>
            <a:r>
              <a:rPr lang="en-US" sz="1200">
                <a:solidFill>
                  <a:srgbClr val="CCCCCC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>
                <a:solidFill>
                  <a:srgbClr val="9CDCFE"/>
                </a:solidFill>
                <a:latin typeface="Fira Code"/>
                <a:ea typeface="Fira Code"/>
                <a:cs typeface="Fira Code"/>
                <a:sym typeface="Fira Code"/>
              </a:rPr>
              <a:t>masks_t</a:t>
            </a:r>
            <a:endParaRPr sz="1200">
              <a:solidFill>
                <a:srgbClr val="9CDCFE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Fira Code"/>
              <a:buNone/>
            </a:pPr>
            <a:r>
              <a:t/>
            </a:r>
            <a:endParaRPr sz="1200">
              <a:solidFill>
                <a:srgbClr val="E2E8F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6" name="Google Shape;1146;p39"/>
          <p:cNvSpPr txBox="1"/>
          <p:nvPr/>
        </p:nvSpPr>
        <p:spPr>
          <a:xfrm>
            <a:off x="6115507" y="1266444"/>
            <a:ext cx="2024400" cy="1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Fira Code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submission_drl_double.py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4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40"/>
          <p:cNvSpPr/>
          <p:nvPr/>
        </p:nvSpPr>
        <p:spPr>
          <a:xfrm>
            <a:off x="0" y="0"/>
            <a:ext cx="48764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40"/>
          <p:cNvSpPr/>
          <p:nvPr/>
        </p:nvSpPr>
        <p:spPr>
          <a:xfrm>
            <a:off x="4876495" y="0"/>
            <a:ext cx="75895" cy="6858000"/>
          </a:xfrm>
          <a:prstGeom prst="rect">
            <a:avLst/>
          </a:prstGeom>
          <a:solidFill>
            <a:srgbClr val="E27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40"/>
          <p:cNvSpPr/>
          <p:nvPr/>
        </p:nvSpPr>
        <p:spPr>
          <a:xfrm>
            <a:off x="5639105" y="1571854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40"/>
          <p:cNvSpPr/>
          <p:nvPr/>
        </p:nvSpPr>
        <p:spPr>
          <a:xfrm>
            <a:off x="5934456" y="1867205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FF4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8" name="Google Shape;1158;p40"/>
          <p:cNvPicPr preferRelativeResize="0"/>
          <p:nvPr/>
        </p:nvPicPr>
        <p:blipFill rotWithShape="1">
          <a:blip r:embed="rId3">
            <a:alphaModFix/>
          </a:blip>
          <a:srcRect b="-45" l="0" r="0" t="-44"/>
          <a:stretch/>
        </p:blipFill>
        <p:spPr>
          <a:xfrm>
            <a:off x="6043270" y="1867205"/>
            <a:ext cx="25694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40"/>
          <p:cNvSpPr/>
          <p:nvPr/>
        </p:nvSpPr>
        <p:spPr>
          <a:xfrm>
            <a:off x="8677656" y="1571854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40"/>
          <p:cNvSpPr/>
          <p:nvPr/>
        </p:nvSpPr>
        <p:spPr>
          <a:xfrm>
            <a:off x="8973007" y="1867205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FF4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1" name="Google Shape;116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6451" y="186720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40"/>
          <p:cNvSpPr/>
          <p:nvPr/>
        </p:nvSpPr>
        <p:spPr>
          <a:xfrm>
            <a:off x="5639105" y="3571646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40"/>
          <p:cNvSpPr/>
          <p:nvPr/>
        </p:nvSpPr>
        <p:spPr>
          <a:xfrm>
            <a:off x="5934456" y="3866998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FF4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4" name="Google Shape;116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7900" y="38669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40"/>
          <p:cNvSpPr/>
          <p:nvPr/>
        </p:nvSpPr>
        <p:spPr>
          <a:xfrm>
            <a:off x="8677656" y="3571646"/>
            <a:ext cx="2752344" cy="1714500"/>
          </a:xfrm>
          <a:prstGeom prst="roundRect">
            <a:avLst>
              <a:gd fmla="val 474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40"/>
          <p:cNvSpPr/>
          <p:nvPr/>
        </p:nvSpPr>
        <p:spPr>
          <a:xfrm>
            <a:off x="8973007" y="3866998"/>
            <a:ext cx="476402" cy="228600"/>
          </a:xfrm>
          <a:prstGeom prst="roundRect">
            <a:avLst>
              <a:gd fmla="val 200000" name="adj"/>
            </a:avLst>
          </a:prstGeom>
          <a:solidFill>
            <a:srgbClr val="FFF4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7" name="Google Shape;1167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96451" y="386699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40"/>
          <p:cNvSpPr txBox="1"/>
          <p:nvPr/>
        </p:nvSpPr>
        <p:spPr>
          <a:xfrm>
            <a:off x="5934456" y="2286000"/>
            <a:ext cx="905256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승률 비교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40"/>
          <p:cNvSpPr txBox="1"/>
          <p:nvPr/>
        </p:nvSpPr>
        <p:spPr>
          <a:xfrm>
            <a:off x="5934456" y="2648102"/>
            <a:ext cx="13002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선공/후공 조건에서의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40"/>
          <p:cNvSpPr txBox="1"/>
          <p:nvPr/>
        </p:nvSpPr>
        <p:spPr>
          <a:xfrm>
            <a:off x="5934456" y="2848356"/>
            <a:ext cx="15672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알고리즘별 승리 확률 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40"/>
          <p:cNvSpPr txBox="1"/>
          <p:nvPr/>
        </p:nvSpPr>
        <p:spPr>
          <a:xfrm>
            <a:off x="8973007" y="2286000"/>
            <a:ext cx="1248156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강제수 대응률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40"/>
          <p:cNvSpPr txBox="1"/>
          <p:nvPr/>
        </p:nvSpPr>
        <p:spPr>
          <a:xfrm>
            <a:off x="8973007" y="2648102"/>
            <a:ext cx="182422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즉각적인 승리/차단 상황에서의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40"/>
          <p:cNvSpPr txBox="1"/>
          <p:nvPr/>
        </p:nvSpPr>
        <p:spPr>
          <a:xfrm>
            <a:off x="8973007" y="2848356"/>
            <a:ext cx="131947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대응 성공률 정량 평가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40"/>
          <p:cNvSpPr txBox="1"/>
          <p:nvPr/>
        </p:nvSpPr>
        <p:spPr>
          <a:xfrm>
            <a:off x="5934456" y="4286707"/>
            <a:ext cx="1162202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비용 vs 성능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40"/>
          <p:cNvSpPr txBox="1"/>
          <p:nvPr/>
        </p:nvSpPr>
        <p:spPr>
          <a:xfrm>
            <a:off x="5934456" y="4647895"/>
            <a:ext cx="200527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의사결정 시간과 탐색 노드 수 대비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40"/>
          <p:cNvSpPr txBox="1"/>
          <p:nvPr/>
        </p:nvSpPr>
        <p:spPr>
          <a:xfrm>
            <a:off x="5934456" y="4848149"/>
            <a:ext cx="14054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트레이드오프 분석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40"/>
          <p:cNvSpPr txBox="1"/>
          <p:nvPr/>
        </p:nvSpPr>
        <p:spPr>
          <a:xfrm>
            <a:off x="8973007" y="4286707"/>
            <a:ext cx="1381658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DQN 비교 분석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40"/>
          <p:cNvSpPr txBox="1"/>
          <p:nvPr/>
        </p:nvSpPr>
        <p:spPr>
          <a:xfrm>
            <a:off x="8973007" y="4647895"/>
            <a:ext cx="14438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기반 에이전트 간의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40"/>
          <p:cNvSpPr txBox="1"/>
          <p:nvPr/>
        </p:nvSpPr>
        <p:spPr>
          <a:xfrm>
            <a:off x="8973007" y="4848149"/>
            <a:ext cx="16056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Noto Sans KR"/>
                <a:ea typeface="Noto Sans KR"/>
                <a:cs typeface="Noto Sans KR"/>
                <a:sym typeface="Noto Sans KR"/>
              </a:rPr>
              <a:t>상대적 성능 및 한계점 고찰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40"/>
          <p:cNvSpPr txBox="1"/>
          <p:nvPr/>
        </p:nvSpPr>
        <p:spPr>
          <a:xfrm>
            <a:off x="476402" y="1457554"/>
            <a:ext cx="2257654" cy="1657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0"/>
              <a:buFont typeface="Noto Sans KR"/>
              <a:buNone/>
            </a:pPr>
            <a:r>
              <a:rPr b="1" i="0" lang="en-US" sz="9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40"/>
          <p:cNvSpPr/>
          <p:nvPr/>
        </p:nvSpPr>
        <p:spPr>
          <a:xfrm>
            <a:off x="571500" y="1447495"/>
            <a:ext cx="114300" cy="114300"/>
          </a:xfrm>
          <a:prstGeom prst="ellipse">
            <a:avLst/>
          </a:prstGeom>
          <a:solidFill>
            <a:srgbClr val="E27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40"/>
          <p:cNvSpPr txBox="1"/>
          <p:nvPr/>
        </p:nvSpPr>
        <p:spPr>
          <a:xfrm>
            <a:off x="571500" y="1762049"/>
            <a:ext cx="3152851" cy="2371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4200"/>
              <a:buFont typeface="Noto Sans KR"/>
              <a:buNone/>
            </a:pPr>
            <a:r>
              <a:rPr b="1" i="0" lang="en-US" sz="42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및 결과 Results &amp; Analysis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40"/>
          <p:cNvSpPr txBox="1"/>
          <p:nvPr/>
        </p:nvSpPr>
        <p:spPr>
          <a:xfrm>
            <a:off x="571500" y="4381805"/>
            <a:ext cx="2410358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800"/>
              <a:buFont typeface="Noto Sans KR"/>
              <a:buNone/>
            </a:pPr>
            <a:r>
              <a:rPr b="0" i="0" lang="en-US" sz="18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탐색과 학습 알고리즘의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40"/>
          <p:cNvSpPr txBox="1"/>
          <p:nvPr/>
        </p:nvSpPr>
        <p:spPr>
          <a:xfrm>
            <a:off x="571500" y="4724705"/>
            <a:ext cx="2619756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800"/>
              <a:buFont typeface="Noto Sans KR"/>
              <a:buNone/>
            </a:pPr>
            <a:r>
              <a:rPr b="0" i="0" lang="en-US" sz="18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성능을 검증하고 비교하는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40"/>
          <p:cNvSpPr txBox="1"/>
          <p:nvPr/>
        </p:nvSpPr>
        <p:spPr>
          <a:xfrm>
            <a:off x="571500" y="5067605"/>
            <a:ext cx="1772107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800"/>
              <a:buFont typeface="Noto Sans KR"/>
              <a:buNone/>
            </a:pPr>
            <a:r>
              <a:rPr b="0" i="0" lang="en-US" sz="18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기반 분석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4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4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41"/>
          <p:cNvSpPr/>
          <p:nvPr/>
        </p:nvSpPr>
        <p:spPr>
          <a:xfrm>
            <a:off x="8534095" y="0"/>
            <a:ext cx="36576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41"/>
          <p:cNvSpPr txBox="1"/>
          <p:nvPr/>
        </p:nvSpPr>
        <p:spPr>
          <a:xfrm>
            <a:off x="761695" y="476402"/>
            <a:ext cx="6620256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설계 및 방법론 Experimental Setup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41"/>
          <p:cNvSpPr txBox="1"/>
          <p:nvPr/>
        </p:nvSpPr>
        <p:spPr>
          <a:xfrm>
            <a:off x="761695" y="1067105"/>
            <a:ext cx="378653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공정한 비교를 위한 체계적인 대전 환경 및 평가지표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41"/>
          <p:cNvSpPr/>
          <p:nvPr/>
        </p:nvSpPr>
        <p:spPr>
          <a:xfrm>
            <a:off x="1714500" y="2752344"/>
            <a:ext cx="8762695" cy="3840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41"/>
          <p:cNvSpPr/>
          <p:nvPr/>
        </p:nvSpPr>
        <p:spPr>
          <a:xfrm>
            <a:off x="761695" y="5991149"/>
            <a:ext cx="10668305" cy="485546"/>
          </a:xfrm>
          <a:prstGeom prst="roundRect">
            <a:avLst>
              <a:gd fmla="val 14771" name="adj"/>
            </a:avLst>
          </a:prstGeom>
          <a:solidFill>
            <a:srgbClr val="F8FAFC"/>
          </a:solidFill>
          <a:ln>
            <a:noFill/>
          </a:ln>
          <a:effectLst>
            <a:outerShdw blurRad="508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41"/>
          <p:cNvSpPr/>
          <p:nvPr/>
        </p:nvSpPr>
        <p:spPr>
          <a:xfrm>
            <a:off x="761695" y="5991149"/>
            <a:ext cx="47549" cy="48554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9" name="Google Shape;119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902" y="613928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41"/>
          <p:cNvSpPr txBox="1"/>
          <p:nvPr/>
        </p:nvSpPr>
        <p:spPr>
          <a:xfrm>
            <a:off x="1380744" y="6133795"/>
            <a:ext cx="108173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신뢰도 확보 전략: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41"/>
          <p:cNvSpPr txBox="1"/>
          <p:nvPr/>
        </p:nvSpPr>
        <p:spPr>
          <a:xfrm>
            <a:off x="2358238" y="6133795"/>
            <a:ext cx="802568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DQN 등 학습 기반 에이전트는 초기화 시드(Seed)를 변경하며 반복 실험하여 통계적 변동성을 최소화하고, 평균 성능과 표준편차를 함께 보고함.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41"/>
          <p:cNvSpPr/>
          <p:nvPr/>
        </p:nvSpPr>
        <p:spPr>
          <a:xfrm>
            <a:off x="1429207" y="1990649"/>
            <a:ext cx="1524305" cy="1524305"/>
          </a:xfrm>
          <a:prstGeom prst="ellipse">
            <a:avLst/>
          </a:prstGeom>
          <a:solidFill>
            <a:srgbClr val="FFFFFF"/>
          </a:solidFill>
          <a:ln cap="flat" cmpd="sng" w="50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3" name="Google Shape;120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2302" y="226679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41"/>
          <p:cNvSpPr txBox="1"/>
          <p:nvPr/>
        </p:nvSpPr>
        <p:spPr>
          <a:xfrm>
            <a:off x="1676248" y="2838298"/>
            <a:ext cx="11577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STEP 1. ENVIRONMENT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41"/>
          <p:cNvSpPr/>
          <p:nvPr/>
        </p:nvSpPr>
        <p:spPr>
          <a:xfrm>
            <a:off x="952800" y="3743548"/>
            <a:ext cx="2476200" cy="1596000"/>
          </a:xfrm>
          <a:prstGeom prst="roundRect">
            <a:avLst>
              <a:gd fmla="val 773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41"/>
          <p:cNvSpPr/>
          <p:nvPr/>
        </p:nvSpPr>
        <p:spPr>
          <a:xfrm>
            <a:off x="2180844" y="3666744"/>
            <a:ext cx="152705" cy="152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41"/>
          <p:cNvSpPr txBox="1"/>
          <p:nvPr/>
        </p:nvSpPr>
        <p:spPr>
          <a:xfrm>
            <a:off x="1453896" y="3943807"/>
            <a:ext cx="1605686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Kaggle ConnectX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41"/>
          <p:cNvSpPr txBox="1"/>
          <p:nvPr/>
        </p:nvSpPr>
        <p:spPr>
          <a:xfrm>
            <a:off x="1155802" y="4286707"/>
            <a:ext cx="2177186" cy="409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표준 6x7 보드 환경 완전 정보 및 결정적 전이 동일 하드웨어 조건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41"/>
          <p:cNvSpPr/>
          <p:nvPr/>
        </p:nvSpPr>
        <p:spPr>
          <a:xfrm>
            <a:off x="4032504" y="1990649"/>
            <a:ext cx="1524305" cy="1524305"/>
          </a:xfrm>
          <a:prstGeom prst="ellipse">
            <a:avLst/>
          </a:prstGeom>
          <a:solidFill>
            <a:srgbClr val="FFFFFF"/>
          </a:solidFill>
          <a:ln cap="flat" cmpd="sng" w="50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0" name="Google Shape;1210;p41"/>
          <p:cNvPicPr preferRelativeResize="0"/>
          <p:nvPr/>
        </p:nvPicPr>
        <p:blipFill rotWithShape="1">
          <a:blip r:embed="rId5">
            <a:alphaModFix/>
          </a:blip>
          <a:srcRect b="0" l="-56" r="-57" t="0"/>
          <a:stretch/>
        </p:blipFill>
        <p:spPr>
          <a:xfrm>
            <a:off x="4593946" y="2266798"/>
            <a:ext cx="4005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41"/>
          <p:cNvSpPr txBox="1"/>
          <p:nvPr/>
        </p:nvSpPr>
        <p:spPr>
          <a:xfrm>
            <a:off x="4317644" y="2838298"/>
            <a:ext cx="1252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STEP 2. LEAGUE MATCH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41"/>
          <p:cNvSpPr/>
          <p:nvPr/>
        </p:nvSpPr>
        <p:spPr>
          <a:xfrm>
            <a:off x="3556100" y="3743549"/>
            <a:ext cx="2476200" cy="1596000"/>
          </a:xfrm>
          <a:prstGeom prst="roundRect">
            <a:avLst>
              <a:gd fmla="val 773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41"/>
          <p:cNvSpPr/>
          <p:nvPr/>
        </p:nvSpPr>
        <p:spPr>
          <a:xfrm>
            <a:off x="4785055" y="3666744"/>
            <a:ext cx="152705" cy="152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41"/>
          <p:cNvSpPr txBox="1"/>
          <p:nvPr/>
        </p:nvSpPr>
        <p:spPr>
          <a:xfrm>
            <a:off x="4224528" y="3943807"/>
            <a:ext cx="127193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Round-Robin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41"/>
          <p:cNvSpPr txBox="1"/>
          <p:nvPr/>
        </p:nvSpPr>
        <p:spPr>
          <a:xfrm>
            <a:off x="3834079" y="4286707"/>
            <a:ext cx="2024482" cy="409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알고리즘 조합 대전 선공/후공 각 40판 총 80게임/Pair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41"/>
          <p:cNvSpPr/>
          <p:nvPr/>
        </p:nvSpPr>
        <p:spPr>
          <a:xfrm>
            <a:off x="6635801" y="1990649"/>
            <a:ext cx="1524305" cy="1524305"/>
          </a:xfrm>
          <a:prstGeom prst="ellipse">
            <a:avLst/>
          </a:prstGeom>
          <a:solidFill>
            <a:srgbClr val="FFFFFF"/>
          </a:solidFill>
          <a:ln cap="flat" cmpd="sng" w="50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7" name="Google Shape;1217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8896" y="236738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41"/>
          <p:cNvSpPr txBox="1"/>
          <p:nvPr/>
        </p:nvSpPr>
        <p:spPr>
          <a:xfrm>
            <a:off x="6792163" y="2938882"/>
            <a:ext cx="131947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STEP 3. 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41"/>
          <p:cNvSpPr/>
          <p:nvPr/>
        </p:nvSpPr>
        <p:spPr>
          <a:xfrm>
            <a:off x="6159398" y="3743554"/>
            <a:ext cx="2476195" cy="1533449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41"/>
          <p:cNvSpPr/>
          <p:nvPr/>
        </p:nvSpPr>
        <p:spPr>
          <a:xfrm>
            <a:off x="7388352" y="3666744"/>
            <a:ext cx="152705" cy="152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41"/>
          <p:cNvSpPr txBox="1"/>
          <p:nvPr/>
        </p:nvSpPr>
        <p:spPr>
          <a:xfrm>
            <a:off x="6836969" y="3943807"/>
            <a:ext cx="1252728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Performance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41"/>
          <p:cNvSpPr txBox="1"/>
          <p:nvPr/>
        </p:nvSpPr>
        <p:spPr>
          <a:xfrm>
            <a:off x="6992417" y="4276649"/>
            <a:ext cx="1067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선공/후공 승률</a:t>
            </a:r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41"/>
          <p:cNvSpPr txBox="1"/>
          <p:nvPr/>
        </p:nvSpPr>
        <p:spPr>
          <a:xfrm>
            <a:off x="6992417" y="4543654"/>
            <a:ext cx="10003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강제수 대응률</a:t>
            </a:r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41"/>
          <p:cNvSpPr txBox="1"/>
          <p:nvPr/>
        </p:nvSpPr>
        <p:spPr>
          <a:xfrm>
            <a:off x="6992417" y="4809744"/>
            <a:ext cx="10479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b="0" i="0" lang="en-US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게임 길이</a:t>
            </a:r>
            <a:endParaRPr b="0" i="0" sz="10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41"/>
          <p:cNvSpPr/>
          <p:nvPr/>
        </p:nvSpPr>
        <p:spPr>
          <a:xfrm>
            <a:off x="9239098" y="1990649"/>
            <a:ext cx="1524305" cy="1524305"/>
          </a:xfrm>
          <a:prstGeom prst="ellipse">
            <a:avLst/>
          </a:prstGeom>
          <a:solidFill>
            <a:srgbClr val="FFFFFF"/>
          </a:solidFill>
          <a:ln cap="flat" cmpd="sng" w="508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6" name="Google Shape;1226;p41"/>
          <p:cNvPicPr preferRelativeResize="0"/>
          <p:nvPr/>
        </p:nvPicPr>
        <p:blipFill rotWithShape="1">
          <a:blip r:embed="rId7">
            <a:alphaModFix/>
          </a:blip>
          <a:srcRect b="0" l="-56" r="-57" t="0"/>
          <a:stretch/>
        </p:blipFill>
        <p:spPr>
          <a:xfrm>
            <a:off x="9801454" y="2266798"/>
            <a:ext cx="400507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41"/>
          <p:cNvSpPr txBox="1"/>
          <p:nvPr/>
        </p:nvSpPr>
        <p:spPr>
          <a:xfrm>
            <a:off x="9553727" y="2838298"/>
            <a:ext cx="1062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STEP 4. COST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41"/>
          <p:cNvSpPr/>
          <p:nvPr/>
        </p:nvSpPr>
        <p:spPr>
          <a:xfrm>
            <a:off x="8762700" y="3743549"/>
            <a:ext cx="2476200" cy="1533600"/>
          </a:xfrm>
          <a:prstGeom prst="roundRect">
            <a:avLst>
              <a:gd fmla="val 773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41"/>
          <p:cNvSpPr/>
          <p:nvPr/>
        </p:nvSpPr>
        <p:spPr>
          <a:xfrm>
            <a:off x="9991649" y="3666744"/>
            <a:ext cx="152705" cy="1527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41"/>
          <p:cNvSpPr txBox="1"/>
          <p:nvPr/>
        </p:nvSpPr>
        <p:spPr>
          <a:xfrm>
            <a:off x="9575597" y="3943807"/>
            <a:ext cx="986638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Efficiency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41"/>
          <p:cNvSpPr txBox="1"/>
          <p:nvPr/>
        </p:nvSpPr>
        <p:spPr>
          <a:xfrm>
            <a:off x="8972093" y="4286707"/>
            <a:ext cx="2167128" cy="409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턴당 의사결정 시간(ms) 평균 탐색 노드 수 자원 효율성 평가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2"/>
          <p:cNvSpPr/>
          <p:nvPr/>
        </p:nvSpPr>
        <p:spPr>
          <a:xfrm>
            <a:off x="0" y="0"/>
            <a:ext cx="121917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25400">
              <a:srgbClr val="000000">
                <a:alpha val="27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42"/>
          <p:cNvSpPr/>
          <p:nvPr/>
        </p:nvSpPr>
        <p:spPr>
          <a:xfrm>
            <a:off x="571496" y="1329053"/>
            <a:ext cx="3429000" cy="1171200"/>
          </a:xfrm>
          <a:prstGeom prst="roundRect">
            <a:avLst>
              <a:gd fmla="val 761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42"/>
          <p:cNvSpPr/>
          <p:nvPr/>
        </p:nvSpPr>
        <p:spPr>
          <a:xfrm>
            <a:off x="571496" y="1519553"/>
            <a:ext cx="38400" cy="1171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42"/>
          <p:cNvSpPr/>
          <p:nvPr/>
        </p:nvSpPr>
        <p:spPr>
          <a:xfrm>
            <a:off x="762606" y="1480843"/>
            <a:ext cx="228600" cy="228600"/>
          </a:xfrm>
          <a:prstGeom prst="ellipse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1" name="Google Shape;124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298" y="153845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42"/>
          <p:cNvSpPr txBox="1"/>
          <p:nvPr/>
        </p:nvSpPr>
        <p:spPr>
          <a:xfrm>
            <a:off x="1086297" y="1478624"/>
            <a:ext cx="235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턴 수: 안정적인 경기 운영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42"/>
          <p:cNvSpPr/>
          <p:nvPr/>
        </p:nvSpPr>
        <p:spPr>
          <a:xfrm>
            <a:off x="6094677" y="1351942"/>
            <a:ext cx="3429000" cy="1171200"/>
          </a:xfrm>
          <a:prstGeom prst="roundRect">
            <a:avLst>
              <a:gd fmla="val 761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42"/>
          <p:cNvSpPr/>
          <p:nvPr/>
        </p:nvSpPr>
        <p:spPr>
          <a:xfrm>
            <a:off x="6132777" y="1590067"/>
            <a:ext cx="38400" cy="1171200"/>
          </a:xfrm>
          <a:prstGeom prst="rect">
            <a:avLst/>
          </a:prstGeom>
          <a:solidFill>
            <a:srgbClr val="E27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42"/>
          <p:cNvSpPr/>
          <p:nvPr/>
        </p:nvSpPr>
        <p:spPr>
          <a:xfrm>
            <a:off x="6285787" y="1494208"/>
            <a:ext cx="228600" cy="228600"/>
          </a:xfrm>
          <a:prstGeom prst="ellipse">
            <a:avLst/>
          </a:prstGeom>
          <a:solidFill>
            <a:srgbClr val="FFF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6" name="Google Shape;124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2479" y="155181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42"/>
          <p:cNvSpPr txBox="1"/>
          <p:nvPr/>
        </p:nvSpPr>
        <p:spPr>
          <a:xfrm>
            <a:off x="6609479" y="1539630"/>
            <a:ext cx="1890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승리/방어 성공률: 완벽한 결정력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42"/>
          <p:cNvSpPr txBox="1"/>
          <p:nvPr/>
        </p:nvSpPr>
        <p:spPr>
          <a:xfrm>
            <a:off x="772125" y="1722500"/>
            <a:ext cx="48918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최장 플레이 타임: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모델이 포함된 매치업에서 평균 25턴으로 가장 긴 게임 턴 수를 기록함.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높은 방어력: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턴 수가 길다는 것은 공격에 무너지지 않고 경기를 이끌어가는 생존 능력을 보여줌.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지속 가능한 퍼포먼스: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장기적인 수 싸움에서 유리한 고지를 점할 수 있다고 판단하여 채택함.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9" name="Google Shape;1249;p42"/>
          <p:cNvSpPr txBox="1"/>
          <p:nvPr/>
        </p:nvSpPr>
        <p:spPr>
          <a:xfrm>
            <a:off x="6285775" y="1761500"/>
            <a:ext cx="53022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압도적인 승리 확정률: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필승 시나리오에서 타 모델(80%, 17%)을 제치고 유일하게 100%의 성공률을 달성함.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확실한 마무리 능력: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승리 기회가 포착되었을 때, 실책 없이 게임을 끝내는 신뢰도 높은 결정력을 입증함.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t/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공격 중심의 최적화: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방어 성공률은 다소 낮으나, 기회를 100% 살리는 공격 효율성을 높게 평가하여 최종 선정함.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0" name="Google Shape;1250;p42"/>
          <p:cNvSpPr/>
          <p:nvPr/>
        </p:nvSpPr>
        <p:spPr>
          <a:xfrm>
            <a:off x="571500" y="2928617"/>
            <a:ext cx="5355000" cy="3805800"/>
          </a:xfrm>
          <a:prstGeom prst="roundRect">
            <a:avLst>
              <a:gd fmla="val 4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42"/>
          <p:cNvSpPr txBox="1"/>
          <p:nvPr/>
        </p:nvSpPr>
        <p:spPr>
          <a:xfrm>
            <a:off x="571505" y="332776"/>
            <a:ext cx="90744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DQN 알고리즘 비교 및 최적 모델 도출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42"/>
          <p:cNvSpPr txBox="1"/>
          <p:nvPr/>
        </p:nvSpPr>
        <p:spPr>
          <a:xfrm>
            <a:off x="-1064700" y="17400"/>
            <a:ext cx="106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C93F"/>
                </a:solidFill>
              </a:rPr>
              <a:t>현지</a:t>
            </a:r>
            <a:r>
              <a:rPr b="1" lang="en-US" sz="3000">
                <a:solidFill>
                  <a:srgbClr val="27C93F"/>
                </a:solidFill>
              </a:rPr>
              <a:t>추가</a:t>
            </a:r>
            <a:endParaRPr b="1" sz="3000">
              <a:solidFill>
                <a:srgbClr val="27C9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1253" name="Google Shape;1253;p42"/>
          <p:cNvSpPr txBox="1"/>
          <p:nvPr/>
        </p:nvSpPr>
        <p:spPr>
          <a:xfrm>
            <a:off x="5786282" y="485471"/>
            <a:ext cx="3891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DQN을 최종 모델로 채택한 근거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42"/>
          <p:cNvSpPr/>
          <p:nvPr/>
        </p:nvSpPr>
        <p:spPr>
          <a:xfrm>
            <a:off x="6149704" y="2916442"/>
            <a:ext cx="5355000" cy="3805800"/>
          </a:xfrm>
          <a:prstGeom prst="roundRect">
            <a:avLst>
              <a:gd fmla="val 4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5" name="Google Shape;1255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3692" y="3299924"/>
            <a:ext cx="5302276" cy="323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42"/>
          <p:cNvSpPr/>
          <p:nvPr/>
        </p:nvSpPr>
        <p:spPr>
          <a:xfrm>
            <a:off x="5618566" y="480974"/>
            <a:ext cx="28200" cy="2568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7" name="Google Shape;1257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900" y="3375669"/>
            <a:ext cx="5198825" cy="30712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10"/>
              </a:srgbClr>
            </a:outerShdw>
          </a:effec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3"/>
          <p:cNvSpPr/>
          <p:nvPr/>
        </p:nvSpPr>
        <p:spPr>
          <a:xfrm>
            <a:off x="0" y="0"/>
            <a:ext cx="121917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25400">
              <a:srgbClr val="000000">
                <a:alpha val="27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3"/>
          <p:cNvSpPr/>
          <p:nvPr/>
        </p:nvSpPr>
        <p:spPr>
          <a:xfrm>
            <a:off x="8197596" y="1190549"/>
            <a:ext cx="3429000" cy="1171346"/>
          </a:xfrm>
          <a:prstGeom prst="roundRect">
            <a:avLst>
              <a:gd fmla="val 7616" name="adj"/>
            </a:avLst>
          </a:prstGeom>
          <a:solidFill>
            <a:srgbClr val="F0FFF4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3"/>
          <p:cNvSpPr/>
          <p:nvPr/>
        </p:nvSpPr>
        <p:spPr>
          <a:xfrm>
            <a:off x="8197596" y="1190549"/>
            <a:ext cx="38405" cy="1171346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3"/>
          <p:cNvSpPr/>
          <p:nvPr/>
        </p:nvSpPr>
        <p:spPr>
          <a:xfrm>
            <a:off x="8388706" y="1343254"/>
            <a:ext cx="228600" cy="228600"/>
          </a:xfrm>
          <a:prstGeom prst="ellipse">
            <a:avLst/>
          </a:prstGeom>
          <a:solidFill>
            <a:srgbClr val="F0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9" name="Google Shape;1269;p43"/>
          <p:cNvPicPr preferRelativeResize="0"/>
          <p:nvPr/>
        </p:nvPicPr>
        <p:blipFill rotWithShape="1">
          <a:blip r:embed="rId3">
            <a:alphaModFix/>
          </a:blip>
          <a:srcRect b="0" l="-1911" r="-1910" t="0"/>
          <a:stretch/>
        </p:blipFill>
        <p:spPr>
          <a:xfrm>
            <a:off x="8436254" y="1399946"/>
            <a:ext cx="133502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0" name="Google Shape;1270;p43"/>
          <p:cNvSpPr txBox="1"/>
          <p:nvPr/>
        </p:nvSpPr>
        <p:spPr>
          <a:xfrm>
            <a:off x="8712403" y="1350569"/>
            <a:ext cx="132679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MTD(f)의 높은 변동성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43"/>
          <p:cNvSpPr/>
          <p:nvPr/>
        </p:nvSpPr>
        <p:spPr>
          <a:xfrm>
            <a:off x="8197596" y="2510028"/>
            <a:ext cx="3429000" cy="1171346"/>
          </a:xfrm>
          <a:prstGeom prst="roundRect">
            <a:avLst>
              <a:gd fmla="val 761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43"/>
          <p:cNvSpPr/>
          <p:nvPr/>
        </p:nvSpPr>
        <p:spPr>
          <a:xfrm>
            <a:off x="8197596" y="2510028"/>
            <a:ext cx="38405" cy="117134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43"/>
          <p:cNvSpPr/>
          <p:nvPr/>
        </p:nvSpPr>
        <p:spPr>
          <a:xfrm>
            <a:off x="8388706" y="2661818"/>
            <a:ext cx="228600" cy="228600"/>
          </a:xfrm>
          <a:prstGeom prst="ellipse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4" name="Google Shape;127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5398" y="2719426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43"/>
          <p:cNvSpPr txBox="1"/>
          <p:nvPr/>
        </p:nvSpPr>
        <p:spPr>
          <a:xfrm>
            <a:off x="8712397" y="2669124"/>
            <a:ext cx="235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N-head의 장기전 운영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43"/>
          <p:cNvSpPr/>
          <p:nvPr/>
        </p:nvSpPr>
        <p:spPr>
          <a:xfrm>
            <a:off x="8197596" y="3829507"/>
            <a:ext cx="3429000" cy="1171346"/>
          </a:xfrm>
          <a:prstGeom prst="roundRect">
            <a:avLst>
              <a:gd fmla="val 761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43"/>
          <p:cNvSpPr/>
          <p:nvPr/>
        </p:nvSpPr>
        <p:spPr>
          <a:xfrm>
            <a:off x="8197596" y="3829507"/>
            <a:ext cx="38405" cy="1171346"/>
          </a:xfrm>
          <a:prstGeom prst="rect">
            <a:avLst/>
          </a:prstGeom>
          <a:solidFill>
            <a:srgbClr val="E27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43"/>
          <p:cNvSpPr/>
          <p:nvPr/>
        </p:nvSpPr>
        <p:spPr>
          <a:xfrm>
            <a:off x="8388706" y="3981298"/>
            <a:ext cx="228600" cy="228600"/>
          </a:xfrm>
          <a:prstGeom prst="ellipse">
            <a:avLst/>
          </a:prstGeom>
          <a:solidFill>
            <a:srgbClr val="FFF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9" name="Google Shape;127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5398" y="403890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43"/>
          <p:cNvSpPr txBox="1"/>
          <p:nvPr/>
        </p:nvSpPr>
        <p:spPr>
          <a:xfrm>
            <a:off x="8712398" y="3988620"/>
            <a:ext cx="1890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DQN(Double)의 빠른 전개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43"/>
          <p:cNvSpPr/>
          <p:nvPr/>
        </p:nvSpPr>
        <p:spPr>
          <a:xfrm>
            <a:off x="8197596" y="5148072"/>
            <a:ext cx="3429000" cy="1171346"/>
          </a:xfrm>
          <a:prstGeom prst="roundRect">
            <a:avLst>
              <a:gd fmla="val 761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43"/>
          <p:cNvSpPr/>
          <p:nvPr/>
        </p:nvSpPr>
        <p:spPr>
          <a:xfrm>
            <a:off x="8197596" y="5148072"/>
            <a:ext cx="38405" cy="117134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43"/>
          <p:cNvSpPr/>
          <p:nvPr/>
        </p:nvSpPr>
        <p:spPr>
          <a:xfrm>
            <a:off x="8388706" y="5300777"/>
            <a:ext cx="228600" cy="228600"/>
          </a:xfrm>
          <a:prstGeom prst="ellipse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4" name="Google Shape;1284;p43"/>
          <p:cNvPicPr preferRelativeResize="0"/>
          <p:nvPr/>
        </p:nvPicPr>
        <p:blipFill rotWithShape="1">
          <a:blip r:embed="rId6">
            <a:alphaModFix/>
          </a:blip>
          <a:srcRect b="-80" l="0" r="0" t="-80"/>
          <a:stretch/>
        </p:blipFill>
        <p:spPr>
          <a:xfrm>
            <a:off x="8431682" y="5357470"/>
            <a:ext cx="14264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43"/>
          <p:cNvSpPr txBox="1"/>
          <p:nvPr/>
        </p:nvSpPr>
        <p:spPr>
          <a:xfrm>
            <a:off x="8712397" y="5308099"/>
            <a:ext cx="2779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 AlphaZero, One-head의 효율적 밸런스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43"/>
          <p:cNvSpPr txBox="1"/>
          <p:nvPr/>
        </p:nvSpPr>
        <p:spPr>
          <a:xfrm>
            <a:off x="8388706" y="1647749"/>
            <a:ext cx="3131820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</a:t>
            </a: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26.9수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의 긴 호흡과 넓은 표준편차를 보이며,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정해진 패턴이 아닌 상황에 따라 유연하게 대처함.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승리 시나리오를 탐색하며 게임을 주도적으로 이끌어 나감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43"/>
          <p:cNvSpPr txBox="1"/>
          <p:nvPr/>
        </p:nvSpPr>
        <p:spPr>
          <a:xfrm>
            <a:off x="8388706" y="2967228"/>
            <a:ext cx="3103474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</a:t>
            </a: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28.9수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로 가장 긴 승부를 펼치며, 상대의 공격을 끝까지 방어해내는 끈기 있는 플레이 스타일을 보여줌.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패턴 매칭을 넘어 복잡한 수 싸움을 유도하는 심층적인 전략성을 확인함.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43"/>
          <p:cNvSpPr txBox="1"/>
          <p:nvPr/>
        </p:nvSpPr>
        <p:spPr>
          <a:xfrm>
            <a:off x="8388700" y="4286699"/>
            <a:ext cx="33294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</a:t>
            </a: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13.2수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로 게임을 빠르게 전개하는 속도감 있는 특성을 보임.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단위 시간당 더 많은 에피소드를 소화할 수 있어,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학습 단계에서 빠른 피드백을 통한 모델 개선 가능성을 보여줌.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43"/>
          <p:cNvSpPr txBox="1"/>
          <p:nvPr/>
        </p:nvSpPr>
        <p:spPr>
          <a:xfrm>
            <a:off x="8388706" y="5605272"/>
            <a:ext cx="3170225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AlphaZero(23.5수)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와 </a:t>
            </a: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One-head(21.6수)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는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공수 밸런스가 잘 잡힌 안정적인 게임 길이를 유지함.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불필요한 장기전을 피하고 최적의 경로를 탐색하는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효율적인 의사결정 프로세스를 갖춘 것으로 평가됨.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43"/>
          <p:cNvSpPr/>
          <p:nvPr/>
        </p:nvSpPr>
        <p:spPr>
          <a:xfrm>
            <a:off x="571500" y="1190549"/>
            <a:ext cx="7248449" cy="5333695"/>
          </a:xfrm>
          <a:prstGeom prst="roundRect">
            <a:avLst>
              <a:gd fmla="val 4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43"/>
          <p:cNvSpPr txBox="1"/>
          <p:nvPr/>
        </p:nvSpPr>
        <p:spPr>
          <a:xfrm>
            <a:off x="571505" y="332776"/>
            <a:ext cx="90744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알고리즘별 평균 게임 길이 분석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2" name="Google Shape;1292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4675" y="1304700"/>
            <a:ext cx="7075275" cy="5036318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43"/>
          <p:cNvSpPr txBox="1"/>
          <p:nvPr/>
        </p:nvSpPr>
        <p:spPr>
          <a:xfrm>
            <a:off x="-1064700" y="17400"/>
            <a:ext cx="106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F4444"/>
                </a:solidFill>
              </a:rPr>
              <a:t>현지수정</a:t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1294" name="Google Shape;1294;p43"/>
          <p:cNvSpPr txBox="1"/>
          <p:nvPr/>
        </p:nvSpPr>
        <p:spPr>
          <a:xfrm>
            <a:off x="4651002" y="547871"/>
            <a:ext cx="3891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알고리즘별 평균 종료 턴(Turns) 비교 및 안정성 평가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4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4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254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4"/>
          <p:cNvSpPr/>
          <p:nvPr/>
        </p:nvSpPr>
        <p:spPr>
          <a:xfrm>
            <a:off x="8197596" y="1333195"/>
            <a:ext cx="3429000" cy="1485900"/>
          </a:xfrm>
          <a:prstGeom prst="roundRect">
            <a:avLst>
              <a:gd fmla="val 4734" name="adj"/>
            </a:avLst>
          </a:prstGeom>
          <a:solidFill>
            <a:srgbClr val="F0FFF4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4"/>
          <p:cNvSpPr/>
          <p:nvPr/>
        </p:nvSpPr>
        <p:spPr>
          <a:xfrm>
            <a:off x="8197596" y="1333195"/>
            <a:ext cx="38405" cy="1485900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4"/>
          <p:cNvSpPr/>
          <p:nvPr/>
        </p:nvSpPr>
        <p:spPr>
          <a:xfrm>
            <a:off x="8426196" y="1524305"/>
            <a:ext cx="228600" cy="228600"/>
          </a:xfrm>
          <a:prstGeom prst="ellipse">
            <a:avLst/>
          </a:prstGeom>
          <a:solidFill>
            <a:srgbClr val="F0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6" name="Google Shape;130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3803" y="1580998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44"/>
          <p:cNvSpPr txBox="1"/>
          <p:nvPr/>
        </p:nvSpPr>
        <p:spPr>
          <a:xfrm>
            <a:off x="8749894" y="1524305"/>
            <a:ext cx="10003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전술적 완벽성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44"/>
          <p:cNvSpPr/>
          <p:nvPr/>
        </p:nvSpPr>
        <p:spPr>
          <a:xfrm>
            <a:off x="10497312" y="1533449"/>
            <a:ext cx="933602" cy="209398"/>
          </a:xfrm>
          <a:prstGeom prst="roundRect">
            <a:avLst>
              <a:gd fmla="val 79396" name="adj"/>
            </a:avLst>
          </a:prstGeom>
          <a:solidFill>
            <a:srgbClr val="C6F6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44"/>
          <p:cNvSpPr/>
          <p:nvPr/>
        </p:nvSpPr>
        <p:spPr>
          <a:xfrm>
            <a:off x="8197596" y="3010205"/>
            <a:ext cx="3429000" cy="1485900"/>
          </a:xfrm>
          <a:prstGeom prst="roundRect">
            <a:avLst>
              <a:gd fmla="val 473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44"/>
          <p:cNvSpPr/>
          <p:nvPr/>
        </p:nvSpPr>
        <p:spPr>
          <a:xfrm>
            <a:off x="8197596" y="3010205"/>
            <a:ext cx="38405" cy="14859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44"/>
          <p:cNvSpPr/>
          <p:nvPr/>
        </p:nvSpPr>
        <p:spPr>
          <a:xfrm>
            <a:off x="8426196" y="3200400"/>
            <a:ext cx="228600" cy="228600"/>
          </a:xfrm>
          <a:prstGeom prst="ellipse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2" name="Google Shape;131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3803" y="3258007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44"/>
          <p:cNvSpPr txBox="1"/>
          <p:nvPr/>
        </p:nvSpPr>
        <p:spPr>
          <a:xfrm>
            <a:off x="8749894" y="32004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N-Head의 역설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44"/>
          <p:cNvSpPr/>
          <p:nvPr/>
        </p:nvSpPr>
        <p:spPr>
          <a:xfrm>
            <a:off x="10581437" y="3209544"/>
            <a:ext cx="857707" cy="209398"/>
          </a:xfrm>
          <a:prstGeom prst="roundRect">
            <a:avLst>
              <a:gd fmla="val 79396" name="adj"/>
            </a:avLst>
          </a:prstGeom>
          <a:solidFill>
            <a:srgbClr val="FEFC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44"/>
          <p:cNvSpPr/>
          <p:nvPr/>
        </p:nvSpPr>
        <p:spPr>
          <a:xfrm>
            <a:off x="8197596" y="4686300"/>
            <a:ext cx="3429000" cy="1485900"/>
          </a:xfrm>
          <a:prstGeom prst="roundRect">
            <a:avLst>
              <a:gd fmla="val 473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44"/>
          <p:cNvSpPr/>
          <p:nvPr/>
        </p:nvSpPr>
        <p:spPr>
          <a:xfrm>
            <a:off x="8197596" y="4686300"/>
            <a:ext cx="38405" cy="1485900"/>
          </a:xfrm>
          <a:prstGeom prst="rect">
            <a:avLst/>
          </a:prstGeom>
          <a:solidFill>
            <a:srgbClr val="E27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44"/>
          <p:cNvSpPr/>
          <p:nvPr/>
        </p:nvSpPr>
        <p:spPr>
          <a:xfrm>
            <a:off x="8426196" y="4876495"/>
            <a:ext cx="228600" cy="228600"/>
          </a:xfrm>
          <a:prstGeom prst="ellipse">
            <a:avLst/>
          </a:prstGeom>
          <a:solidFill>
            <a:srgbClr val="FF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8" name="Google Shape;1318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3803" y="4934102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44"/>
          <p:cNvSpPr txBox="1"/>
          <p:nvPr/>
        </p:nvSpPr>
        <p:spPr>
          <a:xfrm>
            <a:off x="8749894" y="4876495"/>
            <a:ext cx="11055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DQN 전술 부재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44"/>
          <p:cNvSpPr/>
          <p:nvPr/>
        </p:nvSpPr>
        <p:spPr>
          <a:xfrm>
            <a:off x="10649102" y="4886554"/>
            <a:ext cx="790956" cy="209398"/>
          </a:xfrm>
          <a:prstGeom prst="roundRect">
            <a:avLst>
              <a:gd fmla="val 79396" name="adj"/>
            </a:avLst>
          </a:prstGeom>
          <a:solidFill>
            <a:srgbClr val="FED7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44"/>
          <p:cNvSpPr txBox="1"/>
          <p:nvPr/>
        </p:nvSpPr>
        <p:spPr>
          <a:xfrm>
            <a:off x="10573207" y="1552651"/>
            <a:ext cx="86685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543D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22543D"/>
                </a:solidFill>
                <a:latin typeface="Noto Sans KR"/>
                <a:ea typeface="Noto Sans KR"/>
                <a:cs typeface="Noto Sans KR"/>
                <a:sym typeface="Noto Sans KR"/>
              </a:rPr>
              <a:t>100% Success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44"/>
          <p:cNvSpPr txBox="1"/>
          <p:nvPr/>
        </p:nvSpPr>
        <p:spPr>
          <a:xfrm>
            <a:off x="8426196" y="1828800"/>
            <a:ext cx="3081528" cy="7909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AlphaZero, MTD(f), One-head는 강제 승리와 </a:t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강제 차단 테스트에서 모두 </a:t>
            </a:r>
            <a:r>
              <a:rPr b="1"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100%</a:t>
            </a: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성공률을 달성함. </a:t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위기 상황 감지와 승리 기회 포착에 있어 </a:t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전술적 완성도를 갖추었음을 입증함.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44"/>
          <p:cNvSpPr txBox="1"/>
          <p:nvPr/>
        </p:nvSpPr>
        <p:spPr>
          <a:xfrm>
            <a:off x="10712152" y="3228746"/>
            <a:ext cx="7911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4210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744210"/>
                </a:solidFill>
                <a:latin typeface="Noto Sans KR"/>
                <a:ea typeface="Noto Sans KR"/>
                <a:cs typeface="Noto Sans KR"/>
                <a:sym typeface="Noto Sans KR"/>
              </a:rPr>
              <a:t>Block 8</a:t>
            </a:r>
            <a:r>
              <a:rPr b="1" lang="en-US" sz="900">
                <a:solidFill>
                  <a:srgbClr val="744210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1" i="0" lang="en-US" sz="900" u="none" cap="none" strike="noStrike">
                <a:solidFill>
                  <a:srgbClr val="744210"/>
                </a:solidFill>
                <a:latin typeface="Noto Sans KR"/>
                <a:ea typeface="Noto Sans KR"/>
                <a:cs typeface="Noto Sans KR"/>
                <a:sym typeface="Noto Sans KR"/>
              </a:rPr>
              <a:t>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44"/>
          <p:cNvSpPr txBox="1"/>
          <p:nvPr/>
        </p:nvSpPr>
        <p:spPr>
          <a:xfrm>
            <a:off x="8426196" y="3504895"/>
            <a:ext cx="3053182" cy="7909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N-head는 </a:t>
            </a:r>
            <a:r>
              <a:rPr b="1"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98%</a:t>
            </a: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의 높은 강제 승리 확률을 보였으나, </a:t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강제 차단율은</a:t>
            </a:r>
            <a:r>
              <a:rPr b="1"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82%</a:t>
            </a: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로 비교군 대비 다소 낮게 나타남. </a:t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공격적인 수 읽기에 집중하느라 상대의 결정적인 위협인 강제수를 일부 놓치는 경향을 확인함.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44"/>
          <p:cNvSpPr txBox="1"/>
          <p:nvPr/>
        </p:nvSpPr>
        <p:spPr>
          <a:xfrm>
            <a:off x="10779818" y="4905756"/>
            <a:ext cx="724200" cy="16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2727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822727"/>
                </a:solidFill>
                <a:latin typeface="Noto Sans KR"/>
                <a:ea typeface="Noto Sans KR"/>
                <a:cs typeface="Noto Sans KR"/>
                <a:sym typeface="Noto Sans KR"/>
              </a:rPr>
              <a:t>Block </a:t>
            </a:r>
            <a:r>
              <a:rPr b="1" lang="en-US" sz="900">
                <a:solidFill>
                  <a:srgbClr val="822727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r>
              <a:rPr b="1" i="0" lang="en-US" sz="900" u="none" cap="none" strike="noStrike">
                <a:solidFill>
                  <a:srgbClr val="822727"/>
                </a:solidFill>
                <a:latin typeface="Noto Sans KR"/>
                <a:ea typeface="Noto Sans KR"/>
                <a:cs typeface="Noto Sans KR"/>
                <a:sym typeface="Noto Sans KR"/>
              </a:rPr>
              <a:t>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44"/>
          <p:cNvSpPr txBox="1"/>
          <p:nvPr/>
        </p:nvSpPr>
        <p:spPr>
          <a:xfrm>
            <a:off x="8426196" y="5181905"/>
            <a:ext cx="3100730" cy="7909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DQN은 강제 승리 </a:t>
            </a:r>
            <a:r>
              <a:rPr b="1"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0%, </a:t>
            </a:r>
            <a:endParaRPr b="1"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강제 차단 </a:t>
            </a:r>
            <a:r>
              <a:rPr b="1"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3%</a:t>
            </a: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로 유의미한 전술적 대응을 보여주지 못함. </a:t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별도의 탐색 과정 없이 신경망의 가치 판단만으로는 </a:t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4목 게임의 치명적인 수 읽기 패턴을 학습하기 어려움.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44"/>
          <p:cNvSpPr/>
          <p:nvPr/>
        </p:nvSpPr>
        <p:spPr>
          <a:xfrm>
            <a:off x="571500" y="1333195"/>
            <a:ext cx="7248449" cy="5143500"/>
          </a:xfrm>
          <a:prstGeom prst="roundRect">
            <a:avLst>
              <a:gd fmla="val 52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44"/>
          <p:cNvSpPr/>
          <p:nvPr/>
        </p:nvSpPr>
        <p:spPr>
          <a:xfrm>
            <a:off x="3175711" y="480974"/>
            <a:ext cx="28346" cy="256946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44"/>
          <p:cNvSpPr txBox="1"/>
          <p:nvPr/>
        </p:nvSpPr>
        <p:spPr>
          <a:xfrm>
            <a:off x="571500" y="390450"/>
            <a:ext cx="24606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강제수 대응률 분석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44"/>
          <p:cNvSpPr txBox="1"/>
          <p:nvPr/>
        </p:nvSpPr>
        <p:spPr>
          <a:xfrm>
            <a:off x="3347618" y="480974"/>
            <a:ext cx="5319979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알고리즘별 강제 승리(Forced Win) 및 강제 차단(Forced Block) 성공률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44"/>
          <p:cNvSpPr txBox="1"/>
          <p:nvPr/>
        </p:nvSpPr>
        <p:spPr>
          <a:xfrm>
            <a:off x="-1064700" y="0"/>
            <a:ext cx="106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F4444"/>
                </a:solidFill>
              </a:rPr>
              <a:t>현지수정</a:t>
            </a:r>
            <a:endParaRPr b="1" sz="3000">
              <a:solidFill>
                <a:srgbClr val="EF4444"/>
              </a:solidFill>
            </a:endParaRPr>
          </a:p>
        </p:txBody>
      </p:sp>
      <p:pic>
        <p:nvPicPr>
          <p:cNvPr id="1332" name="Google Shape;1332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1706729"/>
            <a:ext cx="7248450" cy="4479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4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4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45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254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45"/>
          <p:cNvSpPr/>
          <p:nvPr/>
        </p:nvSpPr>
        <p:spPr>
          <a:xfrm>
            <a:off x="8209371" y="2547058"/>
            <a:ext cx="3429000" cy="1114800"/>
          </a:xfrm>
          <a:prstGeom prst="roundRect">
            <a:avLst>
              <a:gd fmla="val 841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45"/>
          <p:cNvSpPr/>
          <p:nvPr/>
        </p:nvSpPr>
        <p:spPr>
          <a:xfrm>
            <a:off x="8209371" y="2547058"/>
            <a:ext cx="38400" cy="1114800"/>
          </a:xfrm>
          <a:prstGeom prst="rect">
            <a:avLst/>
          </a:prstGeom>
          <a:solidFill>
            <a:srgbClr val="E27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45"/>
          <p:cNvSpPr/>
          <p:nvPr/>
        </p:nvSpPr>
        <p:spPr>
          <a:xfrm>
            <a:off x="8400481" y="2699763"/>
            <a:ext cx="228600" cy="228600"/>
          </a:xfrm>
          <a:prstGeom prst="ellipse">
            <a:avLst/>
          </a:prstGeom>
          <a:solidFill>
            <a:srgbClr val="FFF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4" name="Google Shape;1344;p45"/>
          <p:cNvPicPr preferRelativeResize="0"/>
          <p:nvPr/>
        </p:nvPicPr>
        <p:blipFill rotWithShape="1">
          <a:blip r:embed="rId3">
            <a:alphaModFix/>
          </a:blip>
          <a:srcRect b="0" l="-133" r="-133" t="0"/>
          <a:stretch/>
        </p:blipFill>
        <p:spPr>
          <a:xfrm>
            <a:off x="8471804" y="2757370"/>
            <a:ext cx="8595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45"/>
          <p:cNvSpPr txBox="1"/>
          <p:nvPr/>
        </p:nvSpPr>
        <p:spPr>
          <a:xfrm>
            <a:off x="8724178" y="2707078"/>
            <a:ext cx="1546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N-Step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45"/>
          <p:cNvSpPr/>
          <p:nvPr/>
        </p:nvSpPr>
        <p:spPr>
          <a:xfrm>
            <a:off x="8197596" y="1363982"/>
            <a:ext cx="3429000" cy="1114800"/>
          </a:xfrm>
          <a:prstGeom prst="roundRect">
            <a:avLst>
              <a:gd fmla="val 8414" name="adj"/>
            </a:avLst>
          </a:prstGeom>
          <a:solidFill>
            <a:srgbClr val="F0FFF4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45"/>
          <p:cNvSpPr/>
          <p:nvPr/>
        </p:nvSpPr>
        <p:spPr>
          <a:xfrm>
            <a:off x="8197596" y="1363982"/>
            <a:ext cx="38400" cy="1114800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45"/>
          <p:cNvSpPr/>
          <p:nvPr/>
        </p:nvSpPr>
        <p:spPr>
          <a:xfrm>
            <a:off x="8388706" y="1516686"/>
            <a:ext cx="228600" cy="228600"/>
          </a:xfrm>
          <a:prstGeom prst="ellipse">
            <a:avLst/>
          </a:prstGeom>
          <a:solidFill>
            <a:srgbClr val="F0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9" name="Google Shape;1349;p45"/>
          <p:cNvPicPr preferRelativeResize="0"/>
          <p:nvPr/>
        </p:nvPicPr>
        <p:blipFill rotWithShape="1">
          <a:blip r:embed="rId4">
            <a:alphaModFix/>
          </a:blip>
          <a:srcRect b="0" l="-2571" r="-2570" t="0"/>
          <a:stretch/>
        </p:blipFill>
        <p:spPr>
          <a:xfrm>
            <a:off x="8421620" y="1575729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45"/>
          <p:cNvSpPr txBox="1"/>
          <p:nvPr/>
        </p:nvSpPr>
        <p:spPr>
          <a:xfrm>
            <a:off x="8712403" y="1523087"/>
            <a:ext cx="137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MTD(f): </a:t>
            </a: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후공 강자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45"/>
          <p:cNvSpPr/>
          <p:nvPr/>
        </p:nvSpPr>
        <p:spPr>
          <a:xfrm>
            <a:off x="8197596" y="3821278"/>
            <a:ext cx="3429000" cy="1114654"/>
          </a:xfrm>
          <a:prstGeom prst="roundRect">
            <a:avLst>
              <a:gd fmla="val 841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45"/>
          <p:cNvSpPr/>
          <p:nvPr/>
        </p:nvSpPr>
        <p:spPr>
          <a:xfrm>
            <a:off x="8197596" y="3821278"/>
            <a:ext cx="38405" cy="111465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45"/>
          <p:cNvSpPr/>
          <p:nvPr/>
        </p:nvSpPr>
        <p:spPr>
          <a:xfrm>
            <a:off x="8388706" y="3973982"/>
            <a:ext cx="228600" cy="228600"/>
          </a:xfrm>
          <a:prstGeom prst="ellipse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4" name="Google Shape;1354;p45"/>
          <p:cNvPicPr preferRelativeResize="0"/>
          <p:nvPr/>
        </p:nvPicPr>
        <p:blipFill rotWithShape="1">
          <a:blip r:embed="rId5">
            <a:alphaModFix/>
          </a:blip>
          <a:srcRect b="-80" l="0" r="0" t="-80"/>
          <a:stretch/>
        </p:blipFill>
        <p:spPr>
          <a:xfrm>
            <a:off x="8431682" y="4031590"/>
            <a:ext cx="14264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45"/>
          <p:cNvSpPr txBox="1"/>
          <p:nvPr/>
        </p:nvSpPr>
        <p:spPr>
          <a:xfrm>
            <a:off x="8712397" y="3981300"/>
            <a:ext cx="2415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AlphaZero-style / </a:t>
            </a: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One 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45"/>
          <p:cNvSpPr/>
          <p:nvPr/>
        </p:nvSpPr>
        <p:spPr>
          <a:xfrm>
            <a:off x="8197596" y="5065776"/>
            <a:ext cx="3429000" cy="1314907"/>
          </a:xfrm>
          <a:prstGeom prst="roundRect">
            <a:avLst>
              <a:gd fmla="val 604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45"/>
          <p:cNvSpPr/>
          <p:nvPr/>
        </p:nvSpPr>
        <p:spPr>
          <a:xfrm>
            <a:off x="8197596" y="5065776"/>
            <a:ext cx="38405" cy="1314907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45"/>
          <p:cNvSpPr/>
          <p:nvPr/>
        </p:nvSpPr>
        <p:spPr>
          <a:xfrm>
            <a:off x="8388706" y="5318150"/>
            <a:ext cx="228600" cy="228600"/>
          </a:xfrm>
          <a:prstGeom prst="ellipse">
            <a:avLst/>
          </a:prstGeom>
          <a:solidFill>
            <a:srgbClr val="FA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9" name="Google Shape;1359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4484" y="537484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45"/>
          <p:cNvSpPr txBox="1"/>
          <p:nvPr/>
        </p:nvSpPr>
        <p:spPr>
          <a:xfrm>
            <a:off x="8710574" y="5218481"/>
            <a:ext cx="200345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DQN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45"/>
          <p:cNvSpPr txBox="1"/>
          <p:nvPr/>
        </p:nvSpPr>
        <p:spPr>
          <a:xfrm>
            <a:off x="8400481" y="2975912"/>
            <a:ext cx="3141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깊이 있는 탐색을 시도했으나 효율적인 방어 규칙이 부족하여 성공/후공의 강제수에 완벽히 대응하지 못한 한계계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45"/>
          <p:cNvSpPr txBox="1"/>
          <p:nvPr/>
        </p:nvSpPr>
        <p:spPr>
          <a:xfrm>
            <a:off x="8388706" y="1792835"/>
            <a:ext cx="31035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Transposition Table</a:t>
            </a: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b="1"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전략전 우선 순위</a:t>
            </a: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 결합을 통해 선공의 이점을 무력화하고 오히려 후공에서 가장 안정적인 성능</a:t>
            </a:r>
            <a:endParaRPr b="1"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3" name="Google Shape;1363;p45"/>
          <p:cNvSpPr txBox="1"/>
          <p:nvPr/>
        </p:nvSpPr>
        <p:spPr>
          <a:xfrm>
            <a:off x="8388706" y="4250131"/>
            <a:ext cx="3170225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휴리스틱 기반 MCTS를 통해 유망한 경로만 선별적으로 탐색하는 Zlphazero 스타일 에이전트와 한수만 바라보는 One Step 에이전트는 중간 수준의 성능을 보임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45"/>
          <p:cNvSpPr txBox="1"/>
          <p:nvPr/>
        </p:nvSpPr>
        <p:spPr>
          <a:xfrm>
            <a:off x="8388706" y="5693969"/>
            <a:ext cx="3131820" cy="534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10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탐색이 배제되어 있는 순수 모델이기 때문에 강제수 학습에 실패하여 탐색 기반 에이전트 상대로 전패 함.</a:t>
            </a:r>
            <a:endParaRPr sz="10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5" name="Google Shape;1365;p45"/>
          <p:cNvSpPr/>
          <p:nvPr/>
        </p:nvSpPr>
        <p:spPr>
          <a:xfrm>
            <a:off x="571500" y="1333195"/>
            <a:ext cx="7248449" cy="5143500"/>
          </a:xfrm>
          <a:prstGeom prst="roundRect">
            <a:avLst>
              <a:gd fmla="val 52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45"/>
          <p:cNvSpPr/>
          <p:nvPr/>
        </p:nvSpPr>
        <p:spPr>
          <a:xfrm>
            <a:off x="4222528" y="480974"/>
            <a:ext cx="28200" cy="2568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45"/>
          <p:cNvSpPr txBox="1"/>
          <p:nvPr/>
        </p:nvSpPr>
        <p:spPr>
          <a:xfrm>
            <a:off x="571500" y="390450"/>
            <a:ext cx="3507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 별 선공 후공</a:t>
            </a: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 비교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45"/>
          <p:cNvSpPr txBox="1"/>
          <p:nvPr/>
        </p:nvSpPr>
        <p:spPr>
          <a:xfrm>
            <a:off x="4394435" y="480974"/>
            <a:ext cx="3786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 에이전트 별 선공 후공에 따른 결과 비교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45"/>
          <p:cNvSpPr txBox="1"/>
          <p:nvPr/>
        </p:nvSpPr>
        <p:spPr>
          <a:xfrm>
            <a:off x="-1064700" y="17400"/>
            <a:ext cx="106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F4444"/>
                </a:solidFill>
              </a:rPr>
              <a:t>현지수정</a:t>
            </a:r>
            <a:endParaRPr b="1" sz="3000">
              <a:solidFill>
                <a:srgbClr val="EF4444"/>
              </a:solidFill>
            </a:endParaRPr>
          </a:p>
        </p:txBody>
      </p:sp>
      <p:graphicFrame>
        <p:nvGraphicFramePr>
          <p:cNvPr id="1370" name="Google Shape;1370;p45"/>
          <p:cNvGraphicFramePr/>
          <p:nvPr/>
        </p:nvGraphicFramePr>
        <p:xfrm>
          <a:off x="957163" y="193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{2F3346D1-35D2-41AD-ADBB-92703AF26ED0}</a:tableStyleId>
              </a:tblPr>
              <a:tblGrid>
                <a:gridCol w="1416425"/>
                <a:gridCol w="1289925"/>
                <a:gridCol w="1289925"/>
                <a:gridCol w="1289925"/>
                <a:gridCol w="1289925"/>
              </a:tblGrid>
              <a:tr h="60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선공 승리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승률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후공 승리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AE6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승률</a:t>
                      </a:r>
                      <a:endParaRPr b="1"/>
                    </a:p>
                  </a:txBody>
                  <a:tcPr marT="91425" marB="91425" marR="91425" marL="91425" anchor="ctr">
                    <a:solidFill>
                      <a:srgbClr val="BAE6FD"/>
                    </a:solidFill>
                  </a:tcPr>
                </a:tc>
              </a:tr>
              <a:tr h="60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One step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53%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48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%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60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N step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60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%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29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73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%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60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MTD(f)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90E2"/>
                          </a:solidFill>
                        </a:rPr>
                        <a:t>29</a:t>
                      </a:r>
                      <a:endParaRPr b="1">
                        <a:solidFill>
                          <a:srgbClr val="4A90E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90E2"/>
                          </a:solidFill>
                        </a:rPr>
                        <a:t>73</a:t>
                      </a:r>
                      <a:r>
                        <a:rPr b="1" lang="en-US">
                          <a:solidFill>
                            <a:srgbClr val="4A90E2"/>
                          </a:solidFill>
                        </a:rPr>
                        <a:t>%</a:t>
                      </a:r>
                      <a:endParaRPr b="1">
                        <a:solidFill>
                          <a:srgbClr val="4A90E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90E2"/>
                          </a:solidFill>
                        </a:rPr>
                        <a:t>39</a:t>
                      </a:r>
                      <a:endParaRPr b="1">
                        <a:solidFill>
                          <a:srgbClr val="4A90E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rgbClr val="4A90E2"/>
                          </a:solidFill>
                        </a:rPr>
                        <a:t>98</a:t>
                      </a:r>
                      <a:r>
                        <a:rPr b="1" lang="en-US">
                          <a:solidFill>
                            <a:srgbClr val="4A90E2"/>
                          </a:solidFill>
                        </a:rPr>
                        <a:t>%</a:t>
                      </a:r>
                      <a:endParaRPr b="1">
                        <a:solidFill>
                          <a:srgbClr val="4A90E2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60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Alphazero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21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53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%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43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%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60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DQN_double</a:t>
                      </a:r>
                      <a:endParaRPr b="1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%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%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4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4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46"/>
          <p:cNvSpPr/>
          <p:nvPr/>
        </p:nvSpPr>
        <p:spPr>
          <a:xfrm>
            <a:off x="0" y="0"/>
            <a:ext cx="121917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25400">
              <a:srgbClr val="000000">
                <a:alpha val="27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46"/>
          <p:cNvSpPr/>
          <p:nvPr/>
        </p:nvSpPr>
        <p:spPr>
          <a:xfrm>
            <a:off x="8197596" y="1333195"/>
            <a:ext cx="3429000" cy="1114800"/>
          </a:xfrm>
          <a:prstGeom prst="roundRect">
            <a:avLst>
              <a:gd fmla="val 841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46"/>
          <p:cNvSpPr/>
          <p:nvPr/>
        </p:nvSpPr>
        <p:spPr>
          <a:xfrm>
            <a:off x="8197596" y="1333195"/>
            <a:ext cx="38400" cy="1114800"/>
          </a:xfrm>
          <a:prstGeom prst="rect">
            <a:avLst/>
          </a:prstGeom>
          <a:solidFill>
            <a:srgbClr val="E27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46"/>
          <p:cNvSpPr/>
          <p:nvPr/>
        </p:nvSpPr>
        <p:spPr>
          <a:xfrm>
            <a:off x="8388706" y="1485900"/>
            <a:ext cx="228600" cy="228600"/>
          </a:xfrm>
          <a:prstGeom prst="ellipse">
            <a:avLst/>
          </a:prstGeom>
          <a:solidFill>
            <a:srgbClr val="FFF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2" name="Google Shape;1382;p46"/>
          <p:cNvPicPr preferRelativeResize="0"/>
          <p:nvPr/>
        </p:nvPicPr>
        <p:blipFill rotWithShape="1">
          <a:blip r:embed="rId3">
            <a:alphaModFix/>
          </a:blip>
          <a:srcRect b="0" l="-130" r="-140" t="0"/>
          <a:stretch/>
        </p:blipFill>
        <p:spPr>
          <a:xfrm>
            <a:off x="8460029" y="1543507"/>
            <a:ext cx="8595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3" name="Google Shape;1383;p46"/>
          <p:cNvSpPr txBox="1"/>
          <p:nvPr/>
        </p:nvSpPr>
        <p:spPr>
          <a:xfrm>
            <a:off x="8712403" y="1493215"/>
            <a:ext cx="1546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N-Step: 가장 느린 탐색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46"/>
          <p:cNvSpPr/>
          <p:nvPr/>
        </p:nvSpPr>
        <p:spPr>
          <a:xfrm>
            <a:off x="10661188" y="1482437"/>
            <a:ext cx="796500" cy="200400"/>
          </a:xfrm>
          <a:prstGeom prst="roundRect">
            <a:avLst>
              <a:gd fmla="val 86975" name="adj"/>
            </a:avLst>
          </a:prstGeom>
          <a:solidFill>
            <a:srgbClr val="FED7D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46"/>
          <p:cNvSpPr/>
          <p:nvPr/>
        </p:nvSpPr>
        <p:spPr>
          <a:xfrm>
            <a:off x="8197596" y="2577694"/>
            <a:ext cx="3429000" cy="1114800"/>
          </a:xfrm>
          <a:prstGeom prst="roundRect">
            <a:avLst>
              <a:gd fmla="val 8414" name="adj"/>
            </a:avLst>
          </a:prstGeom>
          <a:solidFill>
            <a:srgbClr val="F0FFF4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46"/>
          <p:cNvSpPr/>
          <p:nvPr/>
        </p:nvSpPr>
        <p:spPr>
          <a:xfrm>
            <a:off x="8197596" y="2577694"/>
            <a:ext cx="38400" cy="1114800"/>
          </a:xfrm>
          <a:prstGeom prst="rect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46"/>
          <p:cNvSpPr/>
          <p:nvPr/>
        </p:nvSpPr>
        <p:spPr>
          <a:xfrm>
            <a:off x="8388706" y="2730398"/>
            <a:ext cx="228600" cy="228600"/>
          </a:xfrm>
          <a:prstGeom prst="ellipse">
            <a:avLst/>
          </a:prstGeom>
          <a:solidFill>
            <a:srgbClr val="F0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8" name="Google Shape;1388;p46"/>
          <p:cNvPicPr preferRelativeResize="0"/>
          <p:nvPr/>
        </p:nvPicPr>
        <p:blipFill rotWithShape="1">
          <a:blip r:embed="rId4">
            <a:alphaModFix/>
          </a:blip>
          <a:srcRect b="0" l="-2575" r="-2565" t="0"/>
          <a:stretch/>
        </p:blipFill>
        <p:spPr>
          <a:xfrm>
            <a:off x="8449970" y="2787091"/>
            <a:ext cx="10515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46"/>
          <p:cNvSpPr txBox="1"/>
          <p:nvPr/>
        </p:nvSpPr>
        <p:spPr>
          <a:xfrm>
            <a:off x="8712403" y="2736799"/>
            <a:ext cx="137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MTD(f): 높은 효율성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46"/>
          <p:cNvSpPr/>
          <p:nvPr/>
        </p:nvSpPr>
        <p:spPr>
          <a:xfrm>
            <a:off x="10487350" y="2723625"/>
            <a:ext cx="990300" cy="200100"/>
          </a:xfrm>
          <a:prstGeom prst="roundRect">
            <a:avLst>
              <a:gd fmla="val 86975" name="adj"/>
            </a:avLst>
          </a:prstGeom>
          <a:solidFill>
            <a:srgbClr val="C6F6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46"/>
          <p:cNvSpPr/>
          <p:nvPr/>
        </p:nvSpPr>
        <p:spPr>
          <a:xfrm>
            <a:off x="8197596" y="3821278"/>
            <a:ext cx="3429000" cy="1114800"/>
          </a:xfrm>
          <a:prstGeom prst="roundRect">
            <a:avLst>
              <a:gd fmla="val 841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46"/>
          <p:cNvSpPr/>
          <p:nvPr/>
        </p:nvSpPr>
        <p:spPr>
          <a:xfrm>
            <a:off x="8197596" y="3821278"/>
            <a:ext cx="38400" cy="11148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46"/>
          <p:cNvSpPr/>
          <p:nvPr/>
        </p:nvSpPr>
        <p:spPr>
          <a:xfrm>
            <a:off x="8388706" y="3973982"/>
            <a:ext cx="228600" cy="228600"/>
          </a:xfrm>
          <a:prstGeom prst="ellipse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4" name="Google Shape;1394;p46"/>
          <p:cNvPicPr preferRelativeResize="0"/>
          <p:nvPr/>
        </p:nvPicPr>
        <p:blipFill rotWithShape="1">
          <a:blip r:embed="rId5">
            <a:alphaModFix/>
          </a:blip>
          <a:srcRect b="-80" l="0" r="0" t="-80"/>
          <a:stretch/>
        </p:blipFill>
        <p:spPr>
          <a:xfrm>
            <a:off x="8431682" y="4031590"/>
            <a:ext cx="142646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46"/>
          <p:cNvSpPr txBox="1"/>
          <p:nvPr/>
        </p:nvSpPr>
        <p:spPr>
          <a:xfrm>
            <a:off x="8712403" y="3981298"/>
            <a:ext cx="122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AlphaZero-style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46"/>
          <p:cNvSpPr/>
          <p:nvPr/>
        </p:nvSpPr>
        <p:spPr>
          <a:xfrm>
            <a:off x="10560700" y="3990450"/>
            <a:ext cx="916800" cy="200400"/>
          </a:xfrm>
          <a:prstGeom prst="roundRect">
            <a:avLst>
              <a:gd fmla="val 86975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46"/>
          <p:cNvSpPr/>
          <p:nvPr/>
        </p:nvSpPr>
        <p:spPr>
          <a:xfrm>
            <a:off x="8197596" y="5065776"/>
            <a:ext cx="3429000" cy="1314900"/>
          </a:xfrm>
          <a:prstGeom prst="roundRect">
            <a:avLst>
              <a:gd fmla="val 6047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46"/>
          <p:cNvSpPr/>
          <p:nvPr/>
        </p:nvSpPr>
        <p:spPr>
          <a:xfrm>
            <a:off x="8197596" y="5065776"/>
            <a:ext cx="38400" cy="13149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46"/>
          <p:cNvSpPr/>
          <p:nvPr/>
        </p:nvSpPr>
        <p:spPr>
          <a:xfrm>
            <a:off x="8388706" y="5318150"/>
            <a:ext cx="228600" cy="228600"/>
          </a:xfrm>
          <a:prstGeom prst="ellipse">
            <a:avLst/>
          </a:prstGeom>
          <a:solidFill>
            <a:srgbClr val="FAF5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0" name="Google Shape;1400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4484" y="537484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46"/>
          <p:cNvSpPr txBox="1"/>
          <p:nvPr/>
        </p:nvSpPr>
        <p:spPr>
          <a:xfrm>
            <a:off x="8710574" y="5218481"/>
            <a:ext cx="20034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즉각적 추론 (One-head)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46"/>
          <p:cNvSpPr/>
          <p:nvPr/>
        </p:nvSpPr>
        <p:spPr>
          <a:xfrm>
            <a:off x="10913375" y="5360375"/>
            <a:ext cx="568200" cy="152700"/>
          </a:xfrm>
          <a:prstGeom prst="roundRect">
            <a:avLst>
              <a:gd fmla="val 28080" name="adj"/>
            </a:avLst>
          </a:prstGeom>
          <a:solidFill>
            <a:srgbClr val="C6F6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46"/>
          <p:cNvSpPr txBox="1"/>
          <p:nvPr/>
        </p:nvSpPr>
        <p:spPr>
          <a:xfrm>
            <a:off x="10727699" y="1521553"/>
            <a:ext cx="752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2727"/>
              </a:buClr>
              <a:buSzPts val="800"/>
              <a:buFont typeface="Noto Sans KR"/>
              <a:buNone/>
            </a:pPr>
            <a:r>
              <a:rPr b="1" lang="en-US" sz="800">
                <a:solidFill>
                  <a:srgbClr val="822727"/>
                </a:solidFill>
                <a:latin typeface="Noto Sans KR"/>
                <a:ea typeface="Noto Sans KR"/>
                <a:cs typeface="Noto Sans KR"/>
                <a:sym typeface="Noto Sans KR"/>
              </a:rPr>
              <a:t>2,500</a:t>
            </a:r>
            <a:r>
              <a:rPr b="1" i="0" lang="en-US" sz="800" u="none" cap="none" strike="noStrike">
                <a:solidFill>
                  <a:srgbClr val="822727"/>
                </a:solidFill>
                <a:latin typeface="Noto Sans KR"/>
                <a:ea typeface="Noto Sans KR"/>
                <a:cs typeface="Noto Sans KR"/>
                <a:sym typeface="Noto Sans KR"/>
              </a:rPr>
              <a:t>ms </a:t>
            </a:r>
            <a:r>
              <a:rPr b="1" lang="en-US" sz="800">
                <a:solidFill>
                  <a:srgbClr val="822727"/>
                </a:solidFill>
                <a:latin typeface="Noto Sans KR"/>
                <a:ea typeface="Noto Sans KR"/>
                <a:cs typeface="Noto Sans KR"/>
                <a:sym typeface="Noto Sans KR"/>
              </a:rPr>
              <a:t>이상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46"/>
          <p:cNvSpPr txBox="1"/>
          <p:nvPr/>
        </p:nvSpPr>
        <p:spPr>
          <a:xfrm>
            <a:off x="8388706" y="1762049"/>
            <a:ext cx="31410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높은 연산 비용: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평균 의사결정 시간이 오래 걸리며,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노드 수 또한 최상위권에 위치함.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비효율적 탐색: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방대한 양의 노드를 방문하고 연산 시간도 많이 소요되어, 실시간성이 중요한 상황에서는 부적합한 모델임.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46"/>
          <p:cNvSpPr txBox="1"/>
          <p:nvPr/>
        </p:nvSpPr>
        <p:spPr>
          <a:xfrm>
            <a:off x="10553629" y="2766214"/>
            <a:ext cx="1064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543D"/>
              </a:buClr>
              <a:buSzPts val="800"/>
              <a:buFont typeface="Noto Sans KR"/>
              <a:buNone/>
            </a:pPr>
            <a:r>
              <a:rPr b="1" lang="en-US" sz="800">
                <a:solidFill>
                  <a:srgbClr val="22543D"/>
                </a:solidFill>
                <a:latin typeface="Noto Sans KR"/>
                <a:ea typeface="Noto Sans KR"/>
                <a:cs typeface="Noto Sans KR"/>
                <a:sym typeface="Noto Sans KR"/>
              </a:rPr>
              <a:t>1,000 ~ 1,300</a:t>
            </a:r>
            <a:r>
              <a:rPr b="1" i="0" lang="en-US" sz="800" u="none" cap="none" strike="noStrike">
                <a:solidFill>
                  <a:srgbClr val="22543D"/>
                </a:solidFill>
                <a:latin typeface="Noto Sans KR"/>
                <a:ea typeface="Noto Sans KR"/>
                <a:cs typeface="Noto Sans KR"/>
                <a:sym typeface="Noto Sans KR"/>
              </a:rPr>
              <a:t>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46"/>
          <p:cNvSpPr txBox="1"/>
          <p:nvPr/>
        </p:nvSpPr>
        <p:spPr>
          <a:xfrm>
            <a:off x="8388706" y="3006547"/>
            <a:ext cx="31035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압도적인 노드 처리량: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AlphaZero보다 훨씬 많은 노드를 탐색함에도 불구하고, 소요 시간은 오히려 더 짧음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최적화된 알고리즘: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단위 노드당 연산 비용이 매우 낮아,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깊은 탐색(Deep Search)을 수행하면서 빠른 응답 속도를 유지함.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07" name="Google Shape;1407;p46"/>
          <p:cNvSpPr txBox="1"/>
          <p:nvPr/>
        </p:nvSpPr>
        <p:spPr>
          <a:xfrm>
            <a:off x="8388706" y="4250131"/>
            <a:ext cx="31701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신경망 기반 탐색: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무거운 신경망 연산으로 인해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시간은 MTD(f)보다 느리게 소요됨.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탐색의 질적 집중: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많은 수를 내다보기보다,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Policy/Value Network를 통해 유망한 경로만 선별적으로 탐색함.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46"/>
          <p:cNvSpPr txBox="1"/>
          <p:nvPr/>
        </p:nvSpPr>
        <p:spPr>
          <a:xfrm>
            <a:off x="10989271" y="5275175"/>
            <a:ext cx="7527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543D"/>
              </a:buClr>
              <a:buSzPts val="800"/>
              <a:buFont typeface="Noto Sans KR"/>
              <a:buNone/>
            </a:pPr>
            <a:r>
              <a:rPr b="1" lang="en-US" sz="800">
                <a:solidFill>
                  <a:srgbClr val="22543D"/>
                </a:solidFill>
                <a:latin typeface="Noto Sans KR"/>
                <a:ea typeface="Noto Sans KR"/>
                <a:cs typeface="Noto Sans KR"/>
                <a:sym typeface="Noto Sans KR"/>
              </a:rPr>
              <a:t>0 ~ 5ms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46"/>
          <p:cNvSpPr txBox="1"/>
          <p:nvPr/>
        </p:nvSpPr>
        <p:spPr>
          <a:xfrm>
            <a:off x="8388706" y="5693969"/>
            <a:ext cx="31317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Zero Search Cost: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노드 수와 소요 시간(~5ms)이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거의 0에 수렴하는 극단적인 반응 속도를 보임.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직관적 실행: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별도의 트리 탐색(Tree Search) 과정 없이,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학습된 신경망의 직관만으로 즉시 행동을 결정함.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46"/>
          <p:cNvSpPr/>
          <p:nvPr/>
        </p:nvSpPr>
        <p:spPr>
          <a:xfrm>
            <a:off x="571500" y="1333195"/>
            <a:ext cx="7248300" cy="5143500"/>
          </a:xfrm>
          <a:prstGeom prst="roundRect">
            <a:avLst>
              <a:gd fmla="val 52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46"/>
          <p:cNvSpPr/>
          <p:nvPr/>
        </p:nvSpPr>
        <p:spPr>
          <a:xfrm>
            <a:off x="2615184" y="480974"/>
            <a:ext cx="28200" cy="2568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46"/>
          <p:cNvSpPr txBox="1"/>
          <p:nvPr/>
        </p:nvSpPr>
        <p:spPr>
          <a:xfrm>
            <a:off x="571500" y="390449"/>
            <a:ext cx="2086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i="0" lang="en-US" sz="24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비용 비교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46"/>
          <p:cNvSpPr txBox="1"/>
          <p:nvPr/>
        </p:nvSpPr>
        <p:spPr>
          <a:xfrm>
            <a:off x="2787091" y="480974"/>
            <a:ext cx="3786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알고리즘별 의사결정 시간(ms) 및 탐색 효율성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4" name="Google Shape;1414;p4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962" y="1429376"/>
            <a:ext cx="7051890" cy="4829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46"/>
          <p:cNvSpPr txBox="1"/>
          <p:nvPr/>
        </p:nvSpPr>
        <p:spPr>
          <a:xfrm>
            <a:off x="-1064700" y="17400"/>
            <a:ext cx="1064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EF4444"/>
                </a:solidFill>
              </a:rPr>
              <a:t>현지수정</a:t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1416" name="Google Shape;1416;p46"/>
          <p:cNvSpPr txBox="1"/>
          <p:nvPr/>
        </p:nvSpPr>
        <p:spPr>
          <a:xfrm>
            <a:off x="10613456" y="4009650"/>
            <a:ext cx="8667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Noto Sans KR"/>
              <a:buNone/>
            </a:pPr>
            <a:r>
              <a:rPr b="1" lang="en-US" sz="8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1,400 ~ 1,500</a:t>
            </a:r>
            <a:r>
              <a:rPr b="1" i="0" lang="en-US" sz="8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47"/>
          <p:cNvSpPr/>
          <p:nvPr/>
        </p:nvSpPr>
        <p:spPr>
          <a:xfrm>
            <a:off x="819300" y="2857100"/>
            <a:ext cx="10040100" cy="3897300"/>
          </a:xfrm>
          <a:prstGeom prst="roundRect">
            <a:avLst>
              <a:gd fmla="val 4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47"/>
          <p:cNvSpPr/>
          <p:nvPr/>
        </p:nvSpPr>
        <p:spPr>
          <a:xfrm>
            <a:off x="0" y="0"/>
            <a:ext cx="121917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rotWithShape="0" algn="bl" dir="5400000" dist="25400">
              <a:srgbClr val="000000">
                <a:alpha val="275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47"/>
          <p:cNvSpPr/>
          <p:nvPr/>
        </p:nvSpPr>
        <p:spPr>
          <a:xfrm>
            <a:off x="914396" y="1249142"/>
            <a:ext cx="3429000" cy="1171200"/>
          </a:xfrm>
          <a:prstGeom prst="roundRect">
            <a:avLst>
              <a:gd fmla="val 761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47"/>
          <p:cNvSpPr/>
          <p:nvPr/>
        </p:nvSpPr>
        <p:spPr>
          <a:xfrm>
            <a:off x="914396" y="1439642"/>
            <a:ext cx="38400" cy="1171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47"/>
          <p:cNvSpPr/>
          <p:nvPr/>
        </p:nvSpPr>
        <p:spPr>
          <a:xfrm>
            <a:off x="1105506" y="1400932"/>
            <a:ext cx="228600" cy="228600"/>
          </a:xfrm>
          <a:prstGeom prst="ellipse">
            <a:avLst/>
          </a:prstGeom>
          <a:solidFill>
            <a:srgbClr val="EB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7" name="Google Shape;142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198" y="1458540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47"/>
          <p:cNvSpPr txBox="1"/>
          <p:nvPr/>
        </p:nvSpPr>
        <p:spPr>
          <a:xfrm>
            <a:off x="1429197" y="1398713"/>
            <a:ext cx="235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검증 방법론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47"/>
          <p:cNvSpPr/>
          <p:nvPr/>
        </p:nvSpPr>
        <p:spPr>
          <a:xfrm>
            <a:off x="6094677" y="1252981"/>
            <a:ext cx="3429000" cy="1171200"/>
          </a:xfrm>
          <a:prstGeom prst="roundRect">
            <a:avLst>
              <a:gd fmla="val 761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47"/>
          <p:cNvSpPr/>
          <p:nvPr/>
        </p:nvSpPr>
        <p:spPr>
          <a:xfrm>
            <a:off x="6132777" y="1443481"/>
            <a:ext cx="38400" cy="1171200"/>
          </a:xfrm>
          <a:prstGeom prst="rect">
            <a:avLst/>
          </a:prstGeom>
          <a:solidFill>
            <a:srgbClr val="E27D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47"/>
          <p:cNvSpPr/>
          <p:nvPr/>
        </p:nvSpPr>
        <p:spPr>
          <a:xfrm>
            <a:off x="6285787" y="1395247"/>
            <a:ext cx="228600" cy="228600"/>
          </a:xfrm>
          <a:prstGeom prst="ellipse">
            <a:avLst/>
          </a:prstGeom>
          <a:solidFill>
            <a:srgbClr val="FFF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2" name="Google Shape;143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2479" y="145285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47"/>
          <p:cNvSpPr txBox="1"/>
          <p:nvPr/>
        </p:nvSpPr>
        <p:spPr>
          <a:xfrm>
            <a:off x="6609479" y="1440669"/>
            <a:ext cx="1890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모델별 안정성 평가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47"/>
          <p:cNvSpPr txBox="1"/>
          <p:nvPr/>
        </p:nvSpPr>
        <p:spPr>
          <a:xfrm>
            <a:off x="1115025" y="1690314"/>
            <a:ext cx="48918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설계: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5개 에이전트를 대상으로 5가지 시드(0, 1, 2, 42, 999)에서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각 20회 대전을 수행하여 승률 궤적과 신뢰구간을 도출함.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t/>
            </a:r>
            <a:endParaRPr b="1"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해석: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시드별 승률 변화(좌측 그래프)와 평균 승률의 에러바(우측 그래프)를 통해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특정 난수 환경에서의 성능 급락 여부를 확인함.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5" name="Google Shape;1435;p47"/>
          <p:cNvSpPr txBox="1"/>
          <p:nvPr/>
        </p:nvSpPr>
        <p:spPr>
          <a:xfrm>
            <a:off x="6285775" y="1699839"/>
            <a:ext cx="5302200" cy="8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완벽한 안정성: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Greedy, MTD(f), AlphaZero 모델은 모든 시드에서 승률 1.0을 유지하며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평평한 궤적과 에러바 없는 완벽한 신뢰도를 입증함.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t/>
            </a:r>
            <a:endParaRPr b="1"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강화학습 모델의 특성 확인: </a:t>
            </a: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DQN은 평균 80% 후반대의 승률을 기록했으나, 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A5568"/>
                </a:solidFill>
                <a:latin typeface="Noto Sans KR"/>
                <a:ea typeface="Noto Sans KR"/>
                <a:cs typeface="Noto Sans KR"/>
                <a:sym typeface="Noto Sans KR"/>
              </a:rPr>
              <a:t>시드에 따라 신뢰구간이 넓게 나타나는 분산(Variance) 특성을 확인함.</a:t>
            </a:r>
            <a:endParaRPr sz="900">
              <a:solidFill>
                <a:srgbClr val="4A556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6" name="Google Shape;1436;p47"/>
          <p:cNvSpPr txBox="1"/>
          <p:nvPr/>
        </p:nvSpPr>
        <p:spPr>
          <a:xfrm>
            <a:off x="571505" y="332776"/>
            <a:ext cx="90744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2400"/>
              <a:buFont typeface="Noto Sans KR"/>
              <a:buNone/>
            </a:pPr>
            <a:r>
              <a:rPr b="1" lang="en-US" sz="2400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Seed Reliability 검증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47"/>
          <p:cNvSpPr txBox="1"/>
          <p:nvPr/>
        </p:nvSpPr>
        <p:spPr>
          <a:xfrm>
            <a:off x="-1064700" y="17400"/>
            <a:ext cx="1064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7C93F"/>
                </a:solidFill>
              </a:rPr>
              <a:t>현지추가</a:t>
            </a:r>
            <a:endParaRPr b="1" sz="3000">
              <a:solidFill>
                <a:srgbClr val="27C93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F4444"/>
              </a:solidFill>
            </a:endParaRPr>
          </a:p>
        </p:txBody>
      </p:sp>
      <p:sp>
        <p:nvSpPr>
          <p:cNvPr id="1438" name="Google Shape;1438;p47"/>
          <p:cNvSpPr txBox="1"/>
          <p:nvPr/>
        </p:nvSpPr>
        <p:spPr>
          <a:xfrm>
            <a:off x="5786282" y="485471"/>
            <a:ext cx="3891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안정성 및 신뢰도 분석</a:t>
            </a:r>
            <a:endParaRPr sz="13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시드별 승률 변동성 및 95% 신뢰구간(CI) 비교</a:t>
            </a:r>
            <a:endParaRPr sz="13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9" name="Google Shape;1439;p47"/>
          <p:cNvSpPr/>
          <p:nvPr/>
        </p:nvSpPr>
        <p:spPr>
          <a:xfrm>
            <a:off x="5618566" y="480974"/>
            <a:ext cx="28200" cy="2568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0" name="Google Shape;1440;p47" title="seed_reliabili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4825" y="2895800"/>
            <a:ext cx="9870874" cy="3797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241300" rotWithShape="0" algn="bl" dir="5400000" dist="101600">
              <a:srgbClr val="000000">
                <a:alpha val="4710"/>
              </a:srgbClr>
            </a:outerShdw>
          </a:effec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48"/>
          <p:cNvSpPr/>
          <p:nvPr/>
        </p:nvSpPr>
        <p:spPr>
          <a:xfrm>
            <a:off x="0" y="0"/>
            <a:ext cx="12191695" cy="6915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48"/>
          <p:cNvSpPr/>
          <p:nvPr/>
        </p:nvSpPr>
        <p:spPr>
          <a:xfrm>
            <a:off x="0" y="0"/>
            <a:ext cx="12191695" cy="69156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48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48"/>
          <p:cNvSpPr/>
          <p:nvPr/>
        </p:nvSpPr>
        <p:spPr>
          <a:xfrm>
            <a:off x="-476402" y="3575304"/>
            <a:ext cx="4762195" cy="4762195"/>
          </a:xfrm>
          <a:prstGeom prst="ellipse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48"/>
          <p:cNvSpPr/>
          <p:nvPr/>
        </p:nvSpPr>
        <p:spPr>
          <a:xfrm>
            <a:off x="9322308" y="832104"/>
            <a:ext cx="2305202" cy="314554"/>
          </a:xfrm>
          <a:prstGeom prst="roundRect">
            <a:avLst>
              <a:gd fmla="val 176180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1" name="Google Shape;145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5013" y="922630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48"/>
          <p:cNvSpPr txBox="1"/>
          <p:nvPr/>
        </p:nvSpPr>
        <p:spPr>
          <a:xfrm>
            <a:off x="9684410" y="889711"/>
            <a:ext cx="1890979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0284C7"/>
                </a:solidFill>
                <a:latin typeface="Noto Sans KR"/>
                <a:ea typeface="Noto Sans KR"/>
                <a:cs typeface="Noto Sans KR"/>
                <a:sym typeface="Noto Sans KR"/>
              </a:rPr>
              <a:t>Deep Learning Comparison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48"/>
          <p:cNvSpPr txBox="1"/>
          <p:nvPr/>
        </p:nvSpPr>
        <p:spPr>
          <a:xfrm>
            <a:off x="571500" y="276149"/>
            <a:ext cx="3758184" cy="58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DQN 변형 비교 분석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48"/>
          <p:cNvSpPr txBox="1"/>
          <p:nvPr/>
        </p:nvSpPr>
        <p:spPr>
          <a:xfrm>
            <a:off x="571500" y="889711"/>
            <a:ext cx="378653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기반 알고리즘의 아키텍처별 성능 및 특성 비교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48"/>
          <p:cNvSpPr/>
          <p:nvPr/>
        </p:nvSpPr>
        <p:spPr>
          <a:xfrm>
            <a:off x="571500" y="5975604"/>
            <a:ext cx="11048695" cy="552298"/>
          </a:xfrm>
          <a:prstGeom prst="roundRect">
            <a:avLst>
              <a:gd fmla="val 3425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6" name="Google Shape;1456;p48"/>
          <p:cNvPicPr preferRelativeResize="0"/>
          <p:nvPr/>
        </p:nvPicPr>
        <p:blipFill rotWithShape="1">
          <a:blip r:embed="rId4">
            <a:alphaModFix/>
          </a:blip>
          <a:srcRect b="0" l="-133" r="-133" t="0"/>
          <a:stretch/>
        </p:blipFill>
        <p:spPr>
          <a:xfrm>
            <a:off x="819302" y="6138367"/>
            <a:ext cx="17190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48"/>
          <p:cNvSpPr txBox="1"/>
          <p:nvPr/>
        </p:nvSpPr>
        <p:spPr>
          <a:xfrm>
            <a:off x="1181405" y="6138367"/>
            <a:ext cx="7717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종합 결론: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48"/>
          <p:cNvSpPr txBox="1"/>
          <p:nvPr/>
        </p:nvSpPr>
        <p:spPr>
          <a:xfrm>
            <a:off x="1834286" y="6138367"/>
            <a:ext cx="10387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48"/>
          <p:cNvSpPr txBox="1"/>
          <p:nvPr/>
        </p:nvSpPr>
        <p:spPr>
          <a:xfrm>
            <a:off x="2753258" y="6138367"/>
            <a:ext cx="2578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48"/>
          <p:cNvSpPr txBox="1"/>
          <p:nvPr/>
        </p:nvSpPr>
        <p:spPr>
          <a:xfrm>
            <a:off x="2894076" y="6138367"/>
            <a:ext cx="2677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Dueling DQN과의 맞대결에서 5전 전승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48"/>
          <p:cNvSpPr txBox="1"/>
          <p:nvPr/>
        </p:nvSpPr>
        <p:spPr>
          <a:xfrm>
            <a:off x="5446166" y="6138367"/>
            <a:ext cx="44769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을 거두며, 공격적인 전술 패턴 학습에서 구조적 우위를 입증</a:t>
            </a:r>
            <a:r>
              <a:rPr lang="en-US" sz="12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48"/>
          <p:cNvSpPr/>
          <p:nvPr/>
        </p:nvSpPr>
        <p:spPr>
          <a:xfrm>
            <a:off x="571500" y="1432865"/>
            <a:ext cx="3562502" cy="4257446"/>
          </a:xfrm>
          <a:prstGeom prst="roundRect">
            <a:avLst>
              <a:gd fmla="val 1098" name="adj"/>
            </a:avLst>
          </a:prstGeom>
          <a:solidFill>
            <a:srgbClr val="FFFFFF"/>
          </a:solidFill>
          <a:ln cap="flat" cmpd="sng" w="508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48"/>
          <p:cNvSpPr/>
          <p:nvPr/>
        </p:nvSpPr>
        <p:spPr>
          <a:xfrm>
            <a:off x="580644" y="3156509"/>
            <a:ext cx="354330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48"/>
          <p:cNvSpPr/>
          <p:nvPr/>
        </p:nvSpPr>
        <p:spPr>
          <a:xfrm>
            <a:off x="2063801" y="1661465"/>
            <a:ext cx="571500" cy="571500"/>
          </a:xfrm>
          <a:prstGeom prst="roundRect">
            <a:avLst>
              <a:gd fmla="val 32000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5" name="Google Shape;1465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16506" y="1813255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48"/>
          <p:cNvSpPr txBox="1"/>
          <p:nvPr/>
        </p:nvSpPr>
        <p:spPr>
          <a:xfrm>
            <a:off x="1801368" y="2375611"/>
            <a:ext cx="1262786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Basic DQN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48"/>
          <p:cNvSpPr txBox="1"/>
          <p:nvPr/>
        </p:nvSpPr>
        <p:spPr>
          <a:xfrm>
            <a:off x="2029968" y="2775204"/>
            <a:ext cx="740664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BASELINE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48"/>
          <p:cNvSpPr txBox="1"/>
          <p:nvPr/>
        </p:nvSpPr>
        <p:spPr>
          <a:xfrm>
            <a:off x="771754" y="3356762"/>
            <a:ext cx="14913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강제 승리 (Forced Win)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48"/>
          <p:cNvSpPr txBox="1"/>
          <p:nvPr/>
        </p:nvSpPr>
        <p:spPr>
          <a:xfrm>
            <a:off x="3645713" y="3356762"/>
            <a:ext cx="3858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80%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48"/>
          <p:cNvSpPr/>
          <p:nvPr/>
        </p:nvSpPr>
        <p:spPr>
          <a:xfrm>
            <a:off x="771754" y="3632911"/>
            <a:ext cx="3161995" cy="95098"/>
          </a:xfrm>
          <a:prstGeom prst="roundRect">
            <a:avLst>
              <a:gd fmla="val 4807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48"/>
          <p:cNvSpPr/>
          <p:nvPr/>
        </p:nvSpPr>
        <p:spPr>
          <a:xfrm>
            <a:off x="771754" y="3632911"/>
            <a:ext cx="2533802" cy="95098"/>
          </a:xfrm>
          <a:prstGeom prst="roundRect">
            <a:avLst>
              <a:gd fmla="val 480767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48"/>
          <p:cNvSpPr txBox="1"/>
          <p:nvPr/>
        </p:nvSpPr>
        <p:spPr>
          <a:xfrm>
            <a:off x="771754" y="3880714"/>
            <a:ext cx="16056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강제 차단 (Forced Block)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48"/>
          <p:cNvSpPr txBox="1"/>
          <p:nvPr/>
        </p:nvSpPr>
        <p:spPr>
          <a:xfrm>
            <a:off x="3526841" y="3880714"/>
            <a:ext cx="51023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62.5%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48"/>
          <p:cNvSpPr/>
          <p:nvPr/>
        </p:nvSpPr>
        <p:spPr>
          <a:xfrm>
            <a:off x="771754" y="4156862"/>
            <a:ext cx="3161995" cy="95098"/>
          </a:xfrm>
          <a:prstGeom prst="roundRect">
            <a:avLst>
              <a:gd fmla="val 4807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48"/>
          <p:cNvSpPr/>
          <p:nvPr/>
        </p:nvSpPr>
        <p:spPr>
          <a:xfrm>
            <a:off x="771754" y="4156862"/>
            <a:ext cx="1981505" cy="95098"/>
          </a:xfrm>
          <a:prstGeom prst="roundRect">
            <a:avLst>
              <a:gd fmla="val 480767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48"/>
          <p:cNvSpPr/>
          <p:nvPr/>
        </p:nvSpPr>
        <p:spPr>
          <a:xfrm>
            <a:off x="771754" y="4404665"/>
            <a:ext cx="3161995" cy="1086307"/>
          </a:xfrm>
          <a:prstGeom prst="roundRect">
            <a:avLst>
              <a:gd fmla="val 59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48"/>
          <p:cNvSpPr/>
          <p:nvPr/>
        </p:nvSpPr>
        <p:spPr>
          <a:xfrm>
            <a:off x="771754" y="4404665"/>
            <a:ext cx="38405" cy="1086307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8" name="Google Shape;1478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805" y="4582973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48"/>
          <p:cNvSpPr txBox="1"/>
          <p:nvPr/>
        </p:nvSpPr>
        <p:spPr>
          <a:xfrm>
            <a:off x="1123798" y="4547311"/>
            <a:ext cx="39593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특징: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48"/>
          <p:cNvSpPr txBox="1"/>
          <p:nvPr/>
        </p:nvSpPr>
        <p:spPr>
          <a:xfrm>
            <a:off x="952805" y="4747565"/>
            <a:ext cx="2929738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공격과 수비 밸런스는 존재하나, 과대평가(Overestimation) 편향으로 인해 전체적인 학습 안정성이 낮아 최종 승률은 가장 저조함.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48"/>
          <p:cNvSpPr/>
          <p:nvPr/>
        </p:nvSpPr>
        <p:spPr>
          <a:xfrm>
            <a:off x="4317797" y="1432865"/>
            <a:ext cx="3562502" cy="4257446"/>
          </a:xfrm>
          <a:prstGeom prst="roundRect">
            <a:avLst>
              <a:gd fmla="val 1098" name="adj"/>
            </a:avLst>
          </a:prstGeom>
          <a:solidFill>
            <a:srgbClr val="FFFFFF"/>
          </a:solidFill>
          <a:ln cap="flat" cmpd="sng" w="508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48"/>
          <p:cNvSpPr/>
          <p:nvPr/>
        </p:nvSpPr>
        <p:spPr>
          <a:xfrm>
            <a:off x="4327855" y="3156509"/>
            <a:ext cx="354330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48"/>
          <p:cNvSpPr/>
          <p:nvPr/>
        </p:nvSpPr>
        <p:spPr>
          <a:xfrm>
            <a:off x="5810098" y="1661465"/>
            <a:ext cx="571500" cy="571500"/>
          </a:xfrm>
          <a:prstGeom prst="roundRect">
            <a:avLst>
              <a:gd fmla="val 32000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4" name="Google Shape;1484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2802" y="1813255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48"/>
          <p:cNvSpPr txBox="1"/>
          <p:nvPr/>
        </p:nvSpPr>
        <p:spPr>
          <a:xfrm>
            <a:off x="5449824" y="2375611"/>
            <a:ext cx="1452982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Double DQN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48"/>
          <p:cNvSpPr txBox="1"/>
          <p:nvPr/>
        </p:nvSpPr>
        <p:spPr>
          <a:xfrm>
            <a:off x="5482742" y="2775204"/>
            <a:ext cx="132222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  <a:t>HIGH AGGRESSION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48"/>
          <p:cNvSpPr txBox="1"/>
          <p:nvPr/>
        </p:nvSpPr>
        <p:spPr>
          <a:xfrm>
            <a:off x="4518050" y="3356762"/>
            <a:ext cx="14913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강제 승리 (Forced Win)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48"/>
          <p:cNvSpPr txBox="1"/>
          <p:nvPr/>
        </p:nvSpPr>
        <p:spPr>
          <a:xfrm>
            <a:off x="7315200" y="3356762"/>
            <a:ext cx="4626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100%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48"/>
          <p:cNvSpPr/>
          <p:nvPr/>
        </p:nvSpPr>
        <p:spPr>
          <a:xfrm>
            <a:off x="4518050" y="3632911"/>
            <a:ext cx="3161995" cy="95098"/>
          </a:xfrm>
          <a:prstGeom prst="roundRect">
            <a:avLst>
              <a:gd fmla="val 4807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48"/>
          <p:cNvSpPr/>
          <p:nvPr/>
        </p:nvSpPr>
        <p:spPr>
          <a:xfrm>
            <a:off x="4518050" y="3632911"/>
            <a:ext cx="3161995" cy="95098"/>
          </a:xfrm>
          <a:prstGeom prst="roundRect">
            <a:avLst>
              <a:gd fmla="val 48076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48"/>
          <p:cNvSpPr txBox="1"/>
          <p:nvPr/>
        </p:nvSpPr>
        <p:spPr>
          <a:xfrm>
            <a:off x="4518050" y="3880714"/>
            <a:ext cx="16056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강제 차단 (Forced Block)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48"/>
          <p:cNvSpPr txBox="1"/>
          <p:nvPr/>
        </p:nvSpPr>
        <p:spPr>
          <a:xfrm>
            <a:off x="7392010" y="3880714"/>
            <a:ext cx="3858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48"/>
          <p:cNvSpPr/>
          <p:nvPr/>
        </p:nvSpPr>
        <p:spPr>
          <a:xfrm>
            <a:off x="4518050" y="4156862"/>
            <a:ext cx="3161995" cy="95098"/>
          </a:xfrm>
          <a:prstGeom prst="roundRect">
            <a:avLst>
              <a:gd fmla="val 4807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48"/>
          <p:cNvSpPr/>
          <p:nvPr/>
        </p:nvSpPr>
        <p:spPr>
          <a:xfrm>
            <a:off x="4518050" y="4156862"/>
            <a:ext cx="638251" cy="95098"/>
          </a:xfrm>
          <a:prstGeom prst="roundRect">
            <a:avLst>
              <a:gd fmla="val 48076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48"/>
          <p:cNvSpPr/>
          <p:nvPr/>
        </p:nvSpPr>
        <p:spPr>
          <a:xfrm>
            <a:off x="4518050" y="4404665"/>
            <a:ext cx="3161995" cy="1086307"/>
          </a:xfrm>
          <a:prstGeom prst="roundRect">
            <a:avLst>
              <a:gd fmla="val 5907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48"/>
          <p:cNvSpPr/>
          <p:nvPr/>
        </p:nvSpPr>
        <p:spPr>
          <a:xfrm>
            <a:off x="4518050" y="4404665"/>
            <a:ext cx="38405" cy="1086307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7" name="Google Shape;1497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9102" y="4582973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48"/>
          <p:cNvSpPr txBox="1"/>
          <p:nvPr/>
        </p:nvSpPr>
        <p:spPr>
          <a:xfrm>
            <a:off x="4870094" y="4547311"/>
            <a:ext cx="68122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강점: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48"/>
          <p:cNvSpPr txBox="1"/>
          <p:nvPr/>
        </p:nvSpPr>
        <p:spPr>
          <a:xfrm>
            <a:off x="4699102" y="4747565"/>
            <a:ext cx="131947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행동 선택 분리로 인해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48"/>
          <p:cNvSpPr txBox="1"/>
          <p:nvPr/>
        </p:nvSpPr>
        <p:spPr>
          <a:xfrm>
            <a:off x="4699102" y="4766615"/>
            <a:ext cx="2882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공격 패턴(킬각)을 100% 포착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1" name="Google Shape;1501;p48"/>
          <p:cNvSpPr txBox="1"/>
          <p:nvPr/>
        </p:nvSpPr>
        <p:spPr>
          <a:xfrm>
            <a:off x="4699102" y="4994529"/>
            <a:ext cx="2853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하는 정확성을 보임. 단, 수비보다는 공격 위주의 'Glass Cannon' 성향을 띰.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48"/>
          <p:cNvSpPr/>
          <p:nvPr/>
        </p:nvSpPr>
        <p:spPr>
          <a:xfrm>
            <a:off x="8064094" y="1432865"/>
            <a:ext cx="3562502" cy="4257446"/>
          </a:xfrm>
          <a:prstGeom prst="roundRect">
            <a:avLst>
              <a:gd fmla="val 1098" name="adj"/>
            </a:avLst>
          </a:prstGeom>
          <a:solidFill>
            <a:srgbClr val="FFFFFF"/>
          </a:solidFill>
          <a:ln cap="flat" cmpd="sng" w="508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48"/>
          <p:cNvSpPr/>
          <p:nvPr/>
        </p:nvSpPr>
        <p:spPr>
          <a:xfrm>
            <a:off x="8074152" y="3156509"/>
            <a:ext cx="3543300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48"/>
          <p:cNvSpPr/>
          <p:nvPr/>
        </p:nvSpPr>
        <p:spPr>
          <a:xfrm>
            <a:off x="9556394" y="1661465"/>
            <a:ext cx="571500" cy="571500"/>
          </a:xfrm>
          <a:prstGeom prst="roundRect">
            <a:avLst>
              <a:gd fmla="val 32000" name="adj"/>
            </a:avLst>
          </a:prstGeom>
          <a:solidFill>
            <a:srgbClr val="F5F3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5" name="Google Shape;1505;p48"/>
          <p:cNvPicPr preferRelativeResize="0"/>
          <p:nvPr/>
        </p:nvPicPr>
        <p:blipFill rotWithShape="1">
          <a:blip r:embed="rId9">
            <a:alphaModFix/>
          </a:blip>
          <a:srcRect b="0" l="-881" r="-881" t="0"/>
          <a:stretch/>
        </p:blipFill>
        <p:spPr>
          <a:xfrm>
            <a:off x="9723730" y="1813255"/>
            <a:ext cx="237744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1506" name="Google Shape;1506;p48"/>
          <p:cNvSpPr txBox="1"/>
          <p:nvPr/>
        </p:nvSpPr>
        <p:spPr>
          <a:xfrm>
            <a:off x="9165031" y="2375611"/>
            <a:ext cx="1519733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Dueling DQN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48"/>
          <p:cNvSpPr txBox="1"/>
          <p:nvPr/>
        </p:nvSpPr>
        <p:spPr>
          <a:xfrm>
            <a:off x="9464954" y="2775204"/>
            <a:ext cx="854964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Noto Sans KR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Noto Sans KR"/>
                <a:ea typeface="Noto Sans KR"/>
                <a:cs typeface="Noto Sans KR"/>
                <a:sym typeface="Noto Sans KR"/>
              </a:rPr>
              <a:t>EFFICIENCY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48"/>
          <p:cNvSpPr txBox="1"/>
          <p:nvPr/>
        </p:nvSpPr>
        <p:spPr>
          <a:xfrm>
            <a:off x="8264347" y="3356762"/>
            <a:ext cx="14913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강제 승리 (Forced Win)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48"/>
          <p:cNvSpPr txBox="1"/>
          <p:nvPr/>
        </p:nvSpPr>
        <p:spPr>
          <a:xfrm>
            <a:off x="11139221" y="3356762"/>
            <a:ext cx="3858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17%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48"/>
          <p:cNvSpPr/>
          <p:nvPr/>
        </p:nvSpPr>
        <p:spPr>
          <a:xfrm>
            <a:off x="8264347" y="3632911"/>
            <a:ext cx="3161995" cy="95098"/>
          </a:xfrm>
          <a:prstGeom prst="roundRect">
            <a:avLst>
              <a:gd fmla="val 4807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48"/>
          <p:cNvSpPr/>
          <p:nvPr/>
        </p:nvSpPr>
        <p:spPr>
          <a:xfrm>
            <a:off x="8264347" y="3632911"/>
            <a:ext cx="543154" cy="95098"/>
          </a:xfrm>
          <a:prstGeom prst="roundRect">
            <a:avLst>
              <a:gd fmla="val 480767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48"/>
          <p:cNvSpPr txBox="1"/>
          <p:nvPr/>
        </p:nvSpPr>
        <p:spPr>
          <a:xfrm>
            <a:off x="8264347" y="3880714"/>
            <a:ext cx="16056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강제 차단 (Forced Block)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48"/>
          <p:cNvSpPr txBox="1"/>
          <p:nvPr/>
        </p:nvSpPr>
        <p:spPr>
          <a:xfrm>
            <a:off x="11139221" y="3880714"/>
            <a:ext cx="3858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60%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48"/>
          <p:cNvSpPr/>
          <p:nvPr/>
        </p:nvSpPr>
        <p:spPr>
          <a:xfrm>
            <a:off x="8264347" y="4156862"/>
            <a:ext cx="3161995" cy="95098"/>
          </a:xfrm>
          <a:prstGeom prst="roundRect">
            <a:avLst>
              <a:gd fmla="val 480767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48"/>
          <p:cNvSpPr/>
          <p:nvPr/>
        </p:nvSpPr>
        <p:spPr>
          <a:xfrm>
            <a:off x="8264347" y="4156862"/>
            <a:ext cx="1895551" cy="95098"/>
          </a:xfrm>
          <a:prstGeom prst="roundRect">
            <a:avLst>
              <a:gd fmla="val 480767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48"/>
          <p:cNvSpPr/>
          <p:nvPr/>
        </p:nvSpPr>
        <p:spPr>
          <a:xfrm>
            <a:off x="8264347" y="4404665"/>
            <a:ext cx="3161995" cy="1086307"/>
          </a:xfrm>
          <a:prstGeom prst="roundRect">
            <a:avLst>
              <a:gd fmla="val 59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48"/>
          <p:cNvSpPr/>
          <p:nvPr/>
        </p:nvSpPr>
        <p:spPr>
          <a:xfrm>
            <a:off x="8264347" y="4404665"/>
            <a:ext cx="38405" cy="1086307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8" name="Google Shape;1518;p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45398" y="4582973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48"/>
          <p:cNvSpPr txBox="1"/>
          <p:nvPr/>
        </p:nvSpPr>
        <p:spPr>
          <a:xfrm>
            <a:off x="8617306" y="4547311"/>
            <a:ext cx="39593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분석: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48"/>
          <p:cNvSpPr txBox="1"/>
          <p:nvPr/>
        </p:nvSpPr>
        <p:spPr>
          <a:xfrm>
            <a:off x="8445398" y="4747565"/>
            <a:ext cx="2862986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상태 가치(V)를 분리하여 학습 효율은 높으나, 이번 실험에서는 공격적인 수읽기보다 수동적인 플레이를 보여 상대적으로 낮은 결정력을 기록함.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49"/>
          <p:cNvSpPr/>
          <p:nvPr/>
        </p:nvSpPr>
        <p:spPr>
          <a:xfrm>
            <a:off x="0" y="0"/>
            <a:ext cx="12191695" cy="687720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49"/>
          <p:cNvSpPr/>
          <p:nvPr/>
        </p:nvSpPr>
        <p:spPr>
          <a:xfrm>
            <a:off x="0" y="0"/>
            <a:ext cx="12191695" cy="687720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49"/>
          <p:cNvSpPr/>
          <p:nvPr/>
        </p:nvSpPr>
        <p:spPr>
          <a:xfrm>
            <a:off x="8382305" y="3066898"/>
            <a:ext cx="3810305" cy="3810305"/>
          </a:xfrm>
          <a:prstGeom prst="roundRect">
            <a:avLst>
              <a:gd fmla="val 23998" name="adj"/>
            </a:avLst>
          </a:prstGeom>
          <a:solidFill>
            <a:srgbClr val="3B82F6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49"/>
          <p:cNvSpPr/>
          <p:nvPr/>
        </p:nvSpPr>
        <p:spPr>
          <a:xfrm>
            <a:off x="571500" y="1399946"/>
            <a:ext cx="3562502" cy="2428646"/>
          </a:xfrm>
          <a:prstGeom prst="roundRect">
            <a:avLst>
              <a:gd fmla="val 2362" name="adj"/>
            </a:avLst>
          </a:prstGeom>
          <a:solidFill>
            <a:srgbClr val="FFFFFF"/>
          </a:solidFill>
          <a:ln cap="flat" cmpd="sng" w="762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0" name="Google Shape;1530;p49"/>
          <p:cNvPicPr preferRelativeResize="0"/>
          <p:nvPr/>
        </p:nvPicPr>
        <p:blipFill rotWithShape="1">
          <a:blip r:embed="rId3">
            <a:alphaModFix/>
          </a:blip>
          <a:srcRect b="0" l="-50" r="-49" t="0"/>
          <a:stretch/>
        </p:blipFill>
        <p:spPr>
          <a:xfrm>
            <a:off x="790956" y="1666951"/>
            <a:ext cx="342900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49"/>
          <p:cNvSpPr txBox="1"/>
          <p:nvPr/>
        </p:nvSpPr>
        <p:spPr>
          <a:xfrm>
            <a:off x="2737714" y="1719072"/>
            <a:ext cx="12719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Dominant Strategy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49"/>
          <p:cNvSpPr txBox="1"/>
          <p:nvPr/>
        </p:nvSpPr>
        <p:spPr>
          <a:xfrm>
            <a:off x="790956" y="2085746"/>
            <a:ext cx="1748333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MTD(f)의 압도적 우위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49"/>
          <p:cNvSpPr txBox="1"/>
          <p:nvPr/>
        </p:nvSpPr>
        <p:spPr>
          <a:xfrm>
            <a:off x="790956" y="2371954"/>
            <a:ext cx="1743761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97.5%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49"/>
          <p:cNvSpPr txBox="1"/>
          <p:nvPr/>
        </p:nvSpPr>
        <p:spPr>
          <a:xfrm>
            <a:off x="790956" y="3010205"/>
            <a:ext cx="3167482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후공 승률 97.5% 달성. </a:t>
            </a:r>
            <a:endParaRPr b="0" i="0" sz="10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Transposition Table과 전략적 우선순위(즉시 승리/방어) 결합으로 가장 안정적인 성능을 증명</a:t>
            </a: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49"/>
          <p:cNvSpPr/>
          <p:nvPr/>
        </p:nvSpPr>
        <p:spPr>
          <a:xfrm>
            <a:off x="4317797" y="1399946"/>
            <a:ext cx="3562502" cy="2428646"/>
          </a:xfrm>
          <a:prstGeom prst="roundRect">
            <a:avLst>
              <a:gd fmla="val 2362" name="adj"/>
            </a:avLst>
          </a:prstGeom>
          <a:solidFill>
            <a:srgbClr val="FFFFFF"/>
          </a:solidFill>
          <a:ln cap="flat" cmpd="sng" w="762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36" name="Google Shape;1536;p49"/>
          <p:cNvPicPr preferRelativeResize="0"/>
          <p:nvPr/>
        </p:nvPicPr>
        <p:blipFill rotWithShape="1">
          <a:blip r:embed="rId4">
            <a:alphaModFix/>
          </a:blip>
          <a:srcRect b="0" l="-90" r="-90" t="0"/>
          <a:stretch/>
        </p:blipFill>
        <p:spPr>
          <a:xfrm>
            <a:off x="4537253" y="1666951"/>
            <a:ext cx="3813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37" name="Google Shape;1537;p49"/>
          <p:cNvSpPr txBox="1"/>
          <p:nvPr/>
        </p:nvSpPr>
        <p:spPr>
          <a:xfrm>
            <a:off x="6879946" y="1719072"/>
            <a:ext cx="8814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8B5CF6"/>
                </a:solidFill>
                <a:latin typeface="Noto Sans KR"/>
                <a:ea typeface="Noto Sans KR"/>
                <a:cs typeface="Noto Sans KR"/>
                <a:sym typeface="Noto Sans KR"/>
              </a:rPr>
              <a:t>The Paradox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49"/>
          <p:cNvSpPr txBox="1"/>
          <p:nvPr/>
        </p:nvSpPr>
        <p:spPr>
          <a:xfrm>
            <a:off x="4537253" y="2085746"/>
            <a:ext cx="172913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N-step의 깊이와 한계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49"/>
          <p:cNvSpPr txBox="1"/>
          <p:nvPr/>
        </p:nvSpPr>
        <p:spPr>
          <a:xfrm>
            <a:off x="4537253" y="2371954"/>
            <a:ext cx="1743761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8B5CF6"/>
                </a:solidFill>
                <a:latin typeface="Noto Sans KR"/>
                <a:ea typeface="Noto Sans KR"/>
                <a:cs typeface="Noto Sans KR"/>
                <a:sym typeface="Noto Sans KR"/>
              </a:rPr>
              <a:t>81.8%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49"/>
          <p:cNvSpPr txBox="1"/>
          <p:nvPr/>
        </p:nvSpPr>
        <p:spPr>
          <a:xfrm>
            <a:off x="4537253" y="3010205"/>
            <a:ext cx="3129077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One-step 대비 승률은 높지만(60%), </a:t>
            </a:r>
            <a:endParaRPr b="0" i="0" sz="10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명시적 패턴 체크 부재로 강제 차단률(81.8%)은 </a:t>
            </a:r>
            <a:endParaRPr b="0" i="0" sz="10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오히려 떨어지는 '깊이의 역설'을 확</a:t>
            </a: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인함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49"/>
          <p:cNvSpPr/>
          <p:nvPr/>
        </p:nvSpPr>
        <p:spPr>
          <a:xfrm>
            <a:off x="8064094" y="1399946"/>
            <a:ext cx="3562502" cy="2428646"/>
          </a:xfrm>
          <a:prstGeom prst="roundRect">
            <a:avLst>
              <a:gd fmla="val 2362" name="adj"/>
            </a:avLst>
          </a:prstGeom>
          <a:solidFill>
            <a:srgbClr val="FFFFFF"/>
          </a:solidFill>
          <a:ln cap="flat" cmpd="sng" w="762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2" name="Google Shape;1542;p49"/>
          <p:cNvPicPr preferRelativeResize="0"/>
          <p:nvPr/>
        </p:nvPicPr>
        <p:blipFill rotWithShape="1">
          <a:blip r:embed="rId5">
            <a:alphaModFix/>
          </a:blip>
          <a:srcRect b="0" l="-106" r="-107" t="0"/>
          <a:stretch/>
        </p:blipFill>
        <p:spPr>
          <a:xfrm>
            <a:off x="8283550" y="1666951"/>
            <a:ext cx="26700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3" name="Google Shape;1543;p49"/>
          <p:cNvSpPr txBox="1"/>
          <p:nvPr/>
        </p:nvSpPr>
        <p:spPr>
          <a:xfrm>
            <a:off x="10802722" y="1719072"/>
            <a:ext cx="7004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  <a:t>Efficiency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49"/>
          <p:cNvSpPr txBox="1"/>
          <p:nvPr/>
        </p:nvSpPr>
        <p:spPr>
          <a:xfrm>
            <a:off x="8283550" y="2085746"/>
            <a:ext cx="1405433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비용 vs 성능 균형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49"/>
          <p:cNvSpPr txBox="1"/>
          <p:nvPr/>
        </p:nvSpPr>
        <p:spPr>
          <a:xfrm>
            <a:off x="8283550" y="2371954"/>
            <a:ext cx="12573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  <a:t>1.1s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49"/>
          <p:cNvSpPr txBox="1"/>
          <p:nvPr/>
        </p:nvSpPr>
        <p:spPr>
          <a:xfrm>
            <a:off x="8283550" y="3010205"/>
            <a:ext cx="3186684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MTD(f)는 N-step(2.6s)보다 2배 이상 빠르면서도 더 높은 승률을 기록하며, </a:t>
            </a:r>
            <a:endParaRPr b="0" i="0" sz="10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효율적인 가지치기의 중요성을 입증</a:t>
            </a: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49"/>
          <p:cNvSpPr/>
          <p:nvPr/>
        </p:nvSpPr>
        <p:spPr>
          <a:xfrm>
            <a:off x="571500" y="4019702"/>
            <a:ext cx="5429707" cy="2428646"/>
          </a:xfrm>
          <a:prstGeom prst="roundRect">
            <a:avLst>
              <a:gd fmla="val 2362" name="adj"/>
            </a:avLst>
          </a:prstGeom>
          <a:solidFill>
            <a:srgbClr val="FEF2F2"/>
          </a:solidFill>
          <a:ln cap="flat" cmpd="sng" w="762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8" name="Google Shape;1548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956" y="4286707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49"/>
          <p:cNvSpPr txBox="1"/>
          <p:nvPr/>
        </p:nvSpPr>
        <p:spPr>
          <a:xfrm>
            <a:off x="4951476" y="4338828"/>
            <a:ext cx="93908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Learning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49"/>
          <p:cNvSpPr txBox="1"/>
          <p:nvPr/>
        </p:nvSpPr>
        <p:spPr>
          <a:xfrm>
            <a:off x="790956" y="4677156"/>
            <a:ext cx="1057961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Noto Sans KR"/>
                <a:ea typeface="Noto Sans KR"/>
                <a:cs typeface="Noto Sans KR"/>
                <a:sym typeface="Noto Sans KR"/>
              </a:rPr>
              <a:t>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49"/>
          <p:cNvSpPr txBox="1"/>
          <p:nvPr/>
        </p:nvSpPr>
        <p:spPr>
          <a:xfrm>
            <a:off x="1644091" y="5009998"/>
            <a:ext cx="1890979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부재의 한계 (DQN)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49"/>
          <p:cNvSpPr txBox="1"/>
          <p:nvPr/>
        </p:nvSpPr>
        <p:spPr>
          <a:xfrm>
            <a:off x="790956" y="5410505"/>
            <a:ext cx="5053889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탐색형 에이전트 상대로 전패(0승) 및 강제 차단률 2.6% 기록. </a:t>
            </a:r>
            <a:endParaRPr b="0" i="0" sz="10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순수 학습 모델은 Lookahead 없는 상황에서 결정적인 전술 패턴(Trap)을 학습하기 어렵다는 한계가 명확</a:t>
            </a: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49"/>
          <p:cNvSpPr/>
          <p:nvPr/>
        </p:nvSpPr>
        <p:spPr>
          <a:xfrm>
            <a:off x="6191402" y="4019702"/>
            <a:ext cx="5429707" cy="2428646"/>
          </a:xfrm>
          <a:prstGeom prst="roundRect">
            <a:avLst>
              <a:gd fmla="val 2362" name="adj"/>
            </a:avLst>
          </a:prstGeom>
          <a:solidFill>
            <a:srgbClr val="F1F5F9"/>
          </a:solidFill>
          <a:ln cap="flat" cmpd="sng" w="762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4" name="Google Shape;1554;p49"/>
          <p:cNvPicPr preferRelativeResize="0"/>
          <p:nvPr/>
        </p:nvPicPr>
        <p:blipFill rotWithShape="1">
          <a:blip r:embed="rId7">
            <a:alphaModFix/>
          </a:blip>
          <a:srcRect b="0" l="-50" r="-49" t="0"/>
          <a:stretch/>
        </p:blipFill>
        <p:spPr>
          <a:xfrm>
            <a:off x="6409944" y="4286707"/>
            <a:ext cx="342900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49"/>
          <p:cNvSpPr txBox="1"/>
          <p:nvPr/>
        </p:nvSpPr>
        <p:spPr>
          <a:xfrm>
            <a:off x="10333634" y="4338828"/>
            <a:ext cx="11768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Winning Formula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49"/>
          <p:cNvSpPr txBox="1"/>
          <p:nvPr/>
        </p:nvSpPr>
        <p:spPr>
          <a:xfrm>
            <a:off x="6409944" y="4677156"/>
            <a:ext cx="29718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Rule+Depth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49"/>
          <p:cNvSpPr txBox="1"/>
          <p:nvPr/>
        </p:nvSpPr>
        <p:spPr>
          <a:xfrm>
            <a:off x="9176918" y="5009998"/>
            <a:ext cx="96743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승리의 조건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49"/>
          <p:cNvSpPr txBox="1"/>
          <p:nvPr/>
        </p:nvSpPr>
        <p:spPr>
          <a:xfrm>
            <a:off x="6409944" y="5410505"/>
            <a:ext cx="5091379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'깊은 탐색'보다는 '명시적 규칙(Rule) + 효율적 탐색(Depth)'의 결합이 승률을 결정</a:t>
            </a: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0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모델도 최소한의 전술적 룩어헤드가 결합되어야 경쟁력을 가질 수 있음을 시사</a:t>
            </a: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9" name="Google Shape;1559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15016" y="947318"/>
            <a:ext cx="133502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560" name="Google Shape;1560;p49"/>
          <p:cNvSpPr txBox="1"/>
          <p:nvPr/>
        </p:nvSpPr>
        <p:spPr>
          <a:xfrm>
            <a:off x="10624414" y="914400"/>
            <a:ext cx="1004926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5 Key Insights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49"/>
          <p:cNvSpPr txBox="1"/>
          <p:nvPr/>
        </p:nvSpPr>
        <p:spPr>
          <a:xfrm>
            <a:off x="571500" y="342900"/>
            <a:ext cx="3762756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700"/>
              <a:buFont typeface="Noto Sans KR"/>
              <a:buNone/>
            </a:pPr>
            <a:r>
              <a:rPr b="1" i="0" lang="en-US" sz="27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종합 분석: 핵심 발견사항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49"/>
          <p:cNvSpPr txBox="1"/>
          <p:nvPr/>
        </p:nvSpPr>
        <p:spPr>
          <a:xfrm>
            <a:off x="571500" y="895198"/>
            <a:ext cx="3262579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Noto Sans KR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알고리즘과 학습 모델의 성능 비교 요약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49"/>
          <p:cNvSpPr/>
          <p:nvPr/>
        </p:nvSpPr>
        <p:spPr>
          <a:xfrm>
            <a:off x="10319918" y="875995"/>
            <a:ext cx="1304849" cy="276149"/>
          </a:xfrm>
          <a:prstGeom prst="roundRect">
            <a:avLst>
              <a:gd fmla="val 228362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50"/>
          <p:cNvSpPr/>
          <p:nvPr/>
        </p:nvSpPr>
        <p:spPr>
          <a:xfrm>
            <a:off x="0" y="0"/>
            <a:ext cx="12191695" cy="69439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50"/>
          <p:cNvSpPr/>
          <p:nvPr/>
        </p:nvSpPr>
        <p:spPr>
          <a:xfrm>
            <a:off x="0" y="0"/>
            <a:ext cx="12191695" cy="69439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50"/>
          <p:cNvSpPr/>
          <p:nvPr/>
        </p:nvSpPr>
        <p:spPr>
          <a:xfrm>
            <a:off x="7925105" y="0"/>
            <a:ext cx="4267505" cy="694395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50"/>
          <p:cNvSpPr/>
          <p:nvPr/>
        </p:nvSpPr>
        <p:spPr>
          <a:xfrm>
            <a:off x="-952805" y="4085539"/>
            <a:ext cx="3810305" cy="3810305"/>
          </a:xfrm>
          <a:prstGeom prst="ellipse">
            <a:avLst/>
          </a:prstGeom>
          <a:noFill/>
          <a:ln cap="flat" cmpd="sng" w="508000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50"/>
          <p:cNvSpPr/>
          <p:nvPr/>
        </p:nvSpPr>
        <p:spPr>
          <a:xfrm>
            <a:off x="761695" y="381305"/>
            <a:ext cx="2295144" cy="314554"/>
          </a:xfrm>
          <a:prstGeom prst="roundRect">
            <a:avLst>
              <a:gd fmla="val 176180" name="adj"/>
            </a:avLst>
          </a:prstGeom>
          <a:solidFill>
            <a:srgbClr val="2C3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50"/>
          <p:cNvSpPr txBox="1"/>
          <p:nvPr/>
        </p:nvSpPr>
        <p:spPr>
          <a:xfrm>
            <a:off x="914400" y="437998"/>
            <a:ext cx="20912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CONCLUSION &amp; DISCUSSION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50"/>
          <p:cNvSpPr txBox="1"/>
          <p:nvPr/>
        </p:nvSpPr>
        <p:spPr>
          <a:xfrm>
            <a:off x="761695" y="780898"/>
            <a:ext cx="2367382" cy="581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100"/>
              <a:buFont typeface="Noto Sans KR"/>
              <a:buNone/>
            </a:pPr>
            <a:r>
              <a:rPr b="1" i="0" lang="en-US" sz="31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결론 및 고찰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50"/>
          <p:cNvSpPr txBox="1"/>
          <p:nvPr/>
        </p:nvSpPr>
        <p:spPr>
          <a:xfrm>
            <a:off x="857707" y="4585716"/>
            <a:ext cx="6120079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탐색의 중요성</a:t>
            </a: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: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깊이 있는 탐색(N-step, MTD(f))</a:t>
            </a: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 즉각적인 패턴 반응(One-step)보다 장기적 승률 확보에 필수적임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50"/>
          <p:cNvSpPr txBox="1"/>
          <p:nvPr/>
        </p:nvSpPr>
        <p:spPr>
          <a:xfrm>
            <a:off x="857707" y="5081321"/>
            <a:ext cx="6120079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하이브리드 가능성: AlphaZero-style(MCTS+Heuristic)</a:t>
            </a: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은 적은 시뮬레이션으로도 안정적인 방어력을 보여, 탐색과 학습의 결합 가능성을 시사함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50"/>
          <p:cNvSpPr txBox="1"/>
          <p:nvPr/>
        </p:nvSpPr>
        <p:spPr>
          <a:xfrm>
            <a:off x="857707" y="5576011"/>
            <a:ext cx="6120079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Noto Sans KR"/>
              <a:buNone/>
            </a:pPr>
            <a:r>
              <a:rPr b="1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DQN의 한계: </a:t>
            </a: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희소 보상 환경에서 </a:t>
            </a:r>
            <a:r>
              <a:rPr b="1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순수 RL</a:t>
            </a:r>
            <a:r>
              <a:rPr b="0" i="0" lang="en-US" sz="100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은 '강제 패배' 패턴을 피하는 규칙을 스스로 학습하는 데 오랜 시간이 걸림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50"/>
          <p:cNvSpPr/>
          <p:nvPr/>
        </p:nvSpPr>
        <p:spPr>
          <a:xfrm>
            <a:off x="7353605" y="1890065"/>
            <a:ext cx="4076395" cy="1190549"/>
          </a:xfrm>
          <a:prstGeom prst="roundRect">
            <a:avLst>
              <a:gd fmla="val 73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50"/>
          <p:cNvSpPr/>
          <p:nvPr/>
        </p:nvSpPr>
        <p:spPr>
          <a:xfrm>
            <a:off x="7572146" y="2071116"/>
            <a:ext cx="418795" cy="418795"/>
          </a:xfrm>
          <a:prstGeom prst="roundRect">
            <a:avLst>
              <a:gd fmla="val 49623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1" name="Google Shape;1581;p50"/>
          <p:cNvPicPr preferRelativeResize="0"/>
          <p:nvPr/>
        </p:nvPicPr>
        <p:blipFill rotWithShape="1">
          <a:blip r:embed="rId3">
            <a:alphaModFix/>
          </a:blip>
          <a:srcRect b="0" l="-1648" r="-1647" t="0"/>
          <a:stretch/>
        </p:blipFill>
        <p:spPr>
          <a:xfrm>
            <a:off x="7696505" y="2185416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82" name="Google Shape;1582;p50"/>
          <p:cNvSpPr/>
          <p:nvPr/>
        </p:nvSpPr>
        <p:spPr>
          <a:xfrm>
            <a:off x="7353605" y="3270809"/>
            <a:ext cx="4076395" cy="1190549"/>
          </a:xfrm>
          <a:prstGeom prst="roundRect">
            <a:avLst>
              <a:gd fmla="val 73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50"/>
          <p:cNvSpPr/>
          <p:nvPr/>
        </p:nvSpPr>
        <p:spPr>
          <a:xfrm>
            <a:off x="7572146" y="3451860"/>
            <a:ext cx="418795" cy="418795"/>
          </a:xfrm>
          <a:prstGeom prst="roundRect">
            <a:avLst>
              <a:gd fmla="val 49623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4" name="Google Shape;158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2672" y="3566160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85" name="Google Shape;1585;p50"/>
          <p:cNvSpPr/>
          <p:nvPr/>
        </p:nvSpPr>
        <p:spPr>
          <a:xfrm>
            <a:off x="7353605" y="4652467"/>
            <a:ext cx="4076395" cy="1009498"/>
          </a:xfrm>
          <a:prstGeom prst="roundRect">
            <a:avLst>
              <a:gd fmla="val 1025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274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50"/>
          <p:cNvSpPr/>
          <p:nvPr/>
        </p:nvSpPr>
        <p:spPr>
          <a:xfrm>
            <a:off x="7572146" y="4832604"/>
            <a:ext cx="418795" cy="418795"/>
          </a:xfrm>
          <a:prstGeom prst="roundRect">
            <a:avLst>
              <a:gd fmla="val 49623" name="adj"/>
            </a:avLst>
          </a:prstGeom>
          <a:solidFill>
            <a:srgbClr val="FFF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7" name="Google Shape;1587;p50"/>
          <p:cNvPicPr preferRelativeResize="0"/>
          <p:nvPr/>
        </p:nvPicPr>
        <p:blipFill rotWithShape="1">
          <a:blip r:embed="rId5">
            <a:alphaModFix/>
          </a:blip>
          <a:srcRect b="0" l="-1282" r="-1282" t="0"/>
          <a:stretch/>
        </p:blipFill>
        <p:spPr>
          <a:xfrm>
            <a:off x="7672730" y="4946904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50"/>
          <p:cNvSpPr/>
          <p:nvPr/>
        </p:nvSpPr>
        <p:spPr>
          <a:xfrm>
            <a:off x="7353605" y="5942686"/>
            <a:ext cx="4076395" cy="1920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50"/>
          <p:cNvSpPr txBox="1"/>
          <p:nvPr/>
        </p:nvSpPr>
        <p:spPr>
          <a:xfrm>
            <a:off x="857707" y="4186123"/>
            <a:ext cx="96743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Noto Sans KR"/>
              <a:buNone/>
            </a:pPr>
            <a:r>
              <a:rPr b="1" i="0" lang="en-US" sz="13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시사점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0" name="Google Shape;1590;p50"/>
          <p:cNvSpPr txBox="1"/>
          <p:nvPr/>
        </p:nvSpPr>
        <p:spPr>
          <a:xfrm>
            <a:off x="8182051" y="2071116"/>
            <a:ext cx="1755648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이론적 기여 (Theoretical)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50"/>
          <p:cNvSpPr txBox="1"/>
          <p:nvPr/>
        </p:nvSpPr>
        <p:spPr>
          <a:xfrm>
            <a:off x="8182050" y="2342700"/>
            <a:ext cx="33336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강제수 대응률(Forced Move Rate)을 </a:t>
            </a:r>
            <a:endParaRPr b="0" i="0" sz="9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성능 지표로 도입하여, </a:t>
            </a:r>
            <a:endParaRPr b="0" i="0" sz="9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승률이 설명하지 못하는 에이전트의 전술적 완성도를 정량화함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50"/>
          <p:cNvSpPr txBox="1"/>
          <p:nvPr/>
        </p:nvSpPr>
        <p:spPr>
          <a:xfrm>
            <a:off x="8182051" y="3451860"/>
            <a:ext cx="157459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실무적 기여 (Practical)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50"/>
          <p:cNvSpPr txBox="1"/>
          <p:nvPr/>
        </p:nvSpPr>
        <p:spPr>
          <a:xfrm>
            <a:off x="8182051" y="3723437"/>
            <a:ext cx="3122676" cy="553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EmbeddedPolicy 클래스를 구현하여, </a:t>
            </a:r>
            <a:endParaRPr b="0" i="0" sz="900" u="none" cap="none" strike="noStrike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PyTorch 모델의 경량화 및 의존성 없는 배포 파이프라인 구축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50"/>
          <p:cNvSpPr txBox="1"/>
          <p:nvPr/>
        </p:nvSpPr>
        <p:spPr>
          <a:xfrm>
            <a:off x="8182051" y="4832604"/>
            <a:ext cx="169804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Noto Sans KR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과제 (Future Work)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50"/>
          <p:cNvSpPr txBox="1"/>
          <p:nvPr/>
        </p:nvSpPr>
        <p:spPr>
          <a:xfrm>
            <a:off x="8182051" y="5104181"/>
            <a:ext cx="3008376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DQN 학습에 커리큘럼 러닝(강제 패턴 우선 학습) 도입 및 MCTS 시뮬레이션 횟수 확대를 통한 성능 개선 연구 필요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50"/>
          <p:cNvSpPr/>
          <p:nvPr/>
        </p:nvSpPr>
        <p:spPr>
          <a:xfrm>
            <a:off x="761695" y="2331720"/>
            <a:ext cx="6115507" cy="166695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92100" rotWithShape="0" algn="bl" dir="5400000" dist="1016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50"/>
          <p:cNvSpPr/>
          <p:nvPr/>
        </p:nvSpPr>
        <p:spPr>
          <a:xfrm>
            <a:off x="761695" y="2331720"/>
            <a:ext cx="57607" cy="166695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8" name="Google Shape;1598;p50"/>
          <p:cNvPicPr preferRelativeResize="0"/>
          <p:nvPr/>
        </p:nvPicPr>
        <p:blipFill rotWithShape="1">
          <a:blip r:embed="rId6">
            <a:alphaModFix/>
          </a:blip>
          <a:srcRect b="0" l="-17" r="-16" t="0"/>
          <a:stretch/>
        </p:blipFill>
        <p:spPr>
          <a:xfrm>
            <a:off x="6353251" y="2522830"/>
            <a:ext cx="333756" cy="381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9" name="Google Shape;1599;p50"/>
          <p:cNvPicPr preferRelativeResize="0"/>
          <p:nvPr/>
        </p:nvPicPr>
        <p:blipFill rotWithShape="1">
          <a:blip r:embed="rId7">
            <a:alphaModFix/>
          </a:blip>
          <a:srcRect b="0" l="-1282" r="-1282" t="0"/>
          <a:stretch/>
        </p:blipFill>
        <p:spPr>
          <a:xfrm>
            <a:off x="1047902" y="2608783"/>
            <a:ext cx="21945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600" name="Google Shape;1600;p50"/>
          <p:cNvSpPr txBox="1"/>
          <p:nvPr/>
        </p:nvSpPr>
        <p:spPr>
          <a:xfrm>
            <a:off x="1380744" y="2560320"/>
            <a:ext cx="2343607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Noto Sans KR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결론 (Core Finding)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50"/>
          <p:cNvSpPr txBox="1"/>
          <p:nvPr/>
        </p:nvSpPr>
        <p:spPr>
          <a:xfrm>
            <a:off x="1047902" y="2999232"/>
            <a:ext cx="5686654" cy="752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완전정보 게임 ConnectX 환경에서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MTD(f)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알고리즘이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후공 승률 97.5</a:t>
            </a:r>
            <a:r>
              <a:rPr b="0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%와 </a:t>
            </a:r>
            <a:endParaRPr b="0" i="0" sz="1200" u="none" cap="none" strike="noStrike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강제수 대응 100%를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달성하며 가장 우수한 성능을 보였</a:t>
            </a:r>
            <a:r>
              <a:rPr lang="en-US" sz="120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음</a:t>
            </a:r>
            <a:endParaRPr sz="120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Noto Sans KR"/>
              <a:buNone/>
            </a:pPr>
            <a:r>
              <a:t/>
            </a:r>
            <a:endParaRPr sz="120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Noto Sans KR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반면, 탐색이 배제된 순수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DQN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모델은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결정</a:t>
            </a:r>
            <a:r>
              <a:rPr b="1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적</a:t>
            </a:r>
            <a:r>
              <a:rPr b="1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인 전술 패턴(강제수) 학습에 한계</a:t>
            </a:r>
            <a:r>
              <a:rPr b="0" i="0" lang="en-US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를 보였</a:t>
            </a:r>
            <a:r>
              <a:rPr lang="en-US" sz="120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5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5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51"/>
          <p:cNvSpPr/>
          <p:nvPr/>
        </p:nvSpPr>
        <p:spPr>
          <a:xfrm>
            <a:off x="0" y="0"/>
            <a:ext cx="48764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51"/>
          <p:cNvSpPr/>
          <p:nvPr/>
        </p:nvSpPr>
        <p:spPr>
          <a:xfrm>
            <a:off x="4876495" y="0"/>
            <a:ext cx="75895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51"/>
          <p:cNvSpPr/>
          <p:nvPr/>
        </p:nvSpPr>
        <p:spPr>
          <a:xfrm>
            <a:off x="5639105" y="613562"/>
            <a:ext cx="5790895" cy="2695651"/>
          </a:xfrm>
          <a:prstGeom prst="roundRect">
            <a:avLst>
              <a:gd fmla="val 9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2" name="Google Shape;161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923544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1613" name="Google Shape;1613;p51"/>
          <p:cNvSpPr txBox="1"/>
          <p:nvPr/>
        </p:nvSpPr>
        <p:spPr>
          <a:xfrm>
            <a:off x="6248095" y="870509"/>
            <a:ext cx="1377086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연구의 한계점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51"/>
          <p:cNvSpPr/>
          <p:nvPr/>
        </p:nvSpPr>
        <p:spPr>
          <a:xfrm>
            <a:off x="5639105" y="3552444"/>
            <a:ext cx="5790895" cy="2695651"/>
          </a:xfrm>
          <a:prstGeom prst="roundRect">
            <a:avLst>
              <a:gd fmla="val 95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5" name="Google Shape;161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3862426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51"/>
          <p:cNvSpPr txBox="1"/>
          <p:nvPr/>
        </p:nvSpPr>
        <p:spPr>
          <a:xfrm>
            <a:off x="6248095" y="3810305"/>
            <a:ext cx="1433779" cy="314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600"/>
              <a:buFont typeface="Noto Sans KR"/>
              <a:buNone/>
            </a:pPr>
            <a:r>
              <a:rPr b="1" i="0" lang="en-US" sz="16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개선 계획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51"/>
          <p:cNvSpPr txBox="1"/>
          <p:nvPr/>
        </p:nvSpPr>
        <p:spPr>
          <a:xfrm>
            <a:off x="476402" y="1457554"/>
            <a:ext cx="3400654" cy="1657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0"/>
              <a:buFont typeface="Noto Sans KR"/>
              <a:buNone/>
            </a:pPr>
            <a:r>
              <a:rPr b="1" i="0" lang="en-US" sz="9000" u="none" cap="none" strike="noStrike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Q&amp;A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51"/>
          <p:cNvSpPr/>
          <p:nvPr/>
        </p:nvSpPr>
        <p:spPr>
          <a:xfrm>
            <a:off x="571500" y="1047902"/>
            <a:ext cx="114300" cy="114300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51"/>
          <p:cNvSpPr txBox="1"/>
          <p:nvPr/>
        </p:nvSpPr>
        <p:spPr>
          <a:xfrm>
            <a:off x="6133795" y="1327709"/>
            <a:ext cx="5029200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DQN 학습 제한: </a:t>
            </a:r>
            <a:r>
              <a:rPr b="0" i="0" lang="en-US" sz="12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제한된 에피소드 수로 인해 학습이 완전히 수렴하지 못해 강제수 학습에 실패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51"/>
          <p:cNvSpPr txBox="1"/>
          <p:nvPr/>
        </p:nvSpPr>
        <p:spPr>
          <a:xfrm>
            <a:off x="6133795" y="1901038"/>
            <a:ext cx="5000854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샘플 크기 부족: </a:t>
            </a:r>
            <a:r>
              <a:rPr b="0" i="0" lang="en-US" sz="12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알고리즘 간 비교 실험이 각 80게임(DQN 30게임)으로 통계적 유의성 확보에 제한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51"/>
          <p:cNvSpPr txBox="1"/>
          <p:nvPr/>
        </p:nvSpPr>
        <p:spPr>
          <a:xfrm>
            <a:off x="6133795" y="2474366"/>
            <a:ext cx="5067605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AlphaZero 구현 차이: </a:t>
            </a:r>
            <a:r>
              <a:rPr b="0" i="0" lang="en-US" sz="12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표준 AlphaZero 대신 휴리스틱 기반 MCTS를 사용하여 완전한 성능 비교에 한계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51"/>
          <p:cNvSpPr txBox="1"/>
          <p:nvPr/>
        </p:nvSpPr>
        <p:spPr>
          <a:xfrm>
            <a:off x="6133795" y="4424115"/>
            <a:ext cx="4648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탐색 알고리즘 고도화: </a:t>
            </a:r>
            <a:r>
              <a:rPr b="0" i="0" lang="en-US" sz="12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N-Step에 Alpha-Beta Pruning 및 Quiescence Search 적용하여 효율성 증대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51"/>
          <p:cNvSpPr txBox="1"/>
          <p:nvPr/>
        </p:nvSpPr>
        <p:spPr>
          <a:xfrm>
            <a:off x="6133795" y="5161154"/>
            <a:ext cx="5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Noto Sans KR"/>
              <a:buNone/>
            </a:pPr>
            <a:r>
              <a:rPr b="1" i="0" lang="en-US" sz="12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DQN 커리큘럼 학습: </a:t>
            </a:r>
            <a:r>
              <a:rPr b="0" i="0" lang="en-US" sz="1200" u="none" cap="none" strike="noStrike">
                <a:solidFill>
                  <a:srgbClr val="5D6D7E"/>
                </a:solidFill>
                <a:latin typeface="Noto Sans KR"/>
                <a:ea typeface="Noto Sans KR"/>
                <a:cs typeface="Noto Sans KR"/>
                <a:sym typeface="Noto Sans KR"/>
              </a:rPr>
              <a:t>강제 승리/방어 패턴을 우선 학습하는 커리큘럼 도입으로 초기 성능 개선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4" name="Google Shape;1624;p51"/>
          <p:cNvPicPr preferRelativeResize="0"/>
          <p:nvPr/>
        </p:nvPicPr>
        <p:blipFill rotWithShape="1">
          <a:blip r:embed="rId5">
            <a:alphaModFix amt="10000"/>
          </a:blip>
          <a:srcRect b="0" l="-36" r="-36" t="0"/>
          <a:stretch/>
        </p:blipFill>
        <p:spPr>
          <a:xfrm>
            <a:off x="10858500" y="5572354"/>
            <a:ext cx="952805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51"/>
          <p:cNvSpPr txBox="1"/>
          <p:nvPr/>
        </p:nvSpPr>
        <p:spPr>
          <a:xfrm>
            <a:off x="571500" y="1362456"/>
            <a:ext cx="4134002" cy="31720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4200"/>
              <a:buFont typeface="Noto Sans KR"/>
              <a:buNone/>
            </a:pPr>
            <a:r>
              <a:rPr b="1" i="0" lang="en-US" sz="4200" u="none" cap="none" strike="noStrike">
                <a:solidFill>
                  <a:srgbClr val="2C3E50"/>
                </a:solidFill>
                <a:latin typeface="Noto Sans KR"/>
                <a:ea typeface="Noto Sans KR"/>
                <a:cs typeface="Noto Sans KR"/>
                <a:sym typeface="Noto Sans KR"/>
              </a:rPr>
              <a:t>한계 및 향후 계획 Limitations &amp; Future Work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